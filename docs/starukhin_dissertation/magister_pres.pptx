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447053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25398542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904706316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089257951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87356465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7045028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3838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3589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896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425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18920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195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6039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414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586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7233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55476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32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017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9057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5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C2A48-3D77-7BE2-EE5A-0222396F1E07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57514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2206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0380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5140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7759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242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5238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8004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8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0821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094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2997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3031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1162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9224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7460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8495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905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248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81393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3642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084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3351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785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414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8323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2455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2400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7446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374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0917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0105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1896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11C26-A18A-CE56-9368-8EAD053C48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8149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5124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32615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559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6631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7547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00006-DE8E-E061-C9AE-0E64162B086A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223654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68853472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36560276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35516292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8507168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601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906378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6042132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20443343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8224976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45988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34187374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7557614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50822345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3320420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48809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62469501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6365839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448704947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4695769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609956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2151261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42301384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2195090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5615867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93258210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34035583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93750594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49317406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58332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41368458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312357175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715111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100909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1267232492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21910885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38868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47706847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427579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912504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97055026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31982839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76590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32818048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720037525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2754872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64944926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60301776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44161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26612565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1468464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1994495992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37671911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2175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45442367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0055493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45568096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0800146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638174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386943393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256911902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874816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64768472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96678076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345844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8509189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4006000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37405515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687146211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139853914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81624075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47199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7164538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4495672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14874007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324008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0928336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396009945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1873942768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4999014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74944103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42204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869497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47336258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6921683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7512021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4407419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17418917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55080735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50431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7348158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96628763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9744619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38706302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8207557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42024010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33934631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62917759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7275393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31193543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579806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6124360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7271665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0707254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8907247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479113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0637796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4846908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23628694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3145111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5855248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047125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5331853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18056541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5763818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79196013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83164638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028883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24548178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8236126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315430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142434214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36801421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0885192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0260985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39401052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2190194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5263569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105294802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676287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520640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731484283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2138846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0590332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6314955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388560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85168472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3122685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14166455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1609547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4064762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647312713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824141271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662828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68346136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4746842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93373278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8832897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63073234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4605719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24628644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743276234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648890744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0797804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3668867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8335608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050352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33584627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0309714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02112170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793643335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74313422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1984263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7205382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70587646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26151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2548025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11829482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92899862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943070463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295003461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00702290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305400705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060369209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10659683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15063036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3397063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35863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14532054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0609954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7814288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74409693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02383493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4764156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20872390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058022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2390533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217580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98725430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70585860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2500792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7087388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157593373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201802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5990442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54810208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92919341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30309795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5094060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7689114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51580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934907076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1484557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2062566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559801176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40153181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74669207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559794484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128189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75002285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4649864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52516757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93073894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70658112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9870076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44361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5830228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1182590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12989398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356506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9822142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76670777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4816476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0494157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691887511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92779191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1875168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74033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55472939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401747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10216476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9228078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media2.svg"/><Relationship Id="rId6" Type="http://schemas.openxmlformats.org/officeDocument/2006/relationships/image" Target="../media/image9.png"/><Relationship Id="rId7" Type="http://schemas.openxmlformats.org/officeDocument/2006/relationships/image" Target="../media/media3.svg"/><Relationship Id="rId8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20893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22773401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40115863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8" cy="1400288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913434310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1173006462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614951249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678758342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409678823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779063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1586297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-2118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5865763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3848609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054196351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691032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</a:t>
            </a:r>
            <a:r>
              <a:rPr>
                <a:solidFill>
                  <a:schemeClr val="tx1"/>
                </a:solidFill>
              </a:rPr>
              <a:t> требования для построения минимального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</a:t>
            </a:r>
            <a:r>
              <a:rPr lang="ru-RU">
                <a:solidFill>
                  <a:schemeClr val="tx1"/>
                </a:solidFill>
              </a:rPr>
              <a:t>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212843396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685427653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0347514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2659119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500309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37087046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87943046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26278542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51187755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47908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20620" y="1628766"/>
            <a:ext cx="2592336" cy="48641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/>
              <a:t>Работа является общим проектом по теме: разработка ядра упрощенного графического ускорителя;</a:t>
            </a:r>
            <a:endParaRPr/>
          </a:p>
          <a:p>
            <a:pPr>
              <a:defRPr/>
            </a:pPr>
            <a:r>
              <a:rPr/>
              <a:t>В данной работе выполнена конкретная часть проекта: </a:t>
            </a:r>
            <a:r>
              <a:rPr lang="en-US"/>
              <a:t>RTL-</a:t>
            </a:r>
            <a:r>
              <a:rPr lang="ru-RU"/>
              <a:t>описание ядра упрощенного графического ускорителя.</a:t>
            </a:r>
            <a:endParaRPr/>
          </a:p>
        </p:txBody>
      </p:sp>
      <p:sp>
        <p:nvSpPr>
          <p:cNvPr id="136144557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2C3BA63A-6FFD-E575-38C0-7BEA8FDEC7FB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378098118" name="Прямоугольник 5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4945904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7" y="5651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Комплексная структура проекта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46587446" name="Прямоугольник 6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178167611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3328593" y="2135569"/>
            <a:ext cx="8156721" cy="3575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281279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76699372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41080130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3781384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</a:t>
            </a:r>
            <a:r>
              <a:rPr lang="en-US" sz="2000"/>
              <a:t>INT </a:t>
            </a:r>
            <a:r>
              <a:rPr lang="ru-RU" sz="2000"/>
              <a:t>и </a:t>
            </a:r>
            <a:r>
              <a:rPr lang="en-US" sz="2000"/>
              <a:t>FP</a:t>
            </a:r>
            <a:r>
              <a:rPr lang="en-US" sz="2000"/>
              <a:t>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</a:t>
            </a:r>
            <a:r>
              <a:rPr lang="ru-RU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124774641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656802653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36506222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6043087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29859763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60072677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68034662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 lang="ru-RU"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 lang="ru-RU"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 lang="ru-RU"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</a:t>
            </a:r>
            <a:r>
              <a:rPr lang="ru-RU"/>
              <a:t>.</a:t>
            </a:r>
            <a:endParaRPr/>
          </a:p>
        </p:txBody>
      </p:sp>
      <p:sp>
        <p:nvSpPr>
          <p:cNvPr id="194938828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573154655" name="Рисунок 5"/>
          <p:cNvPicPr>
            <a:picLocks noChangeAspect="1"/>
          </p:cNvPicPr>
          <p:nvPr/>
        </p:nvPicPr>
        <p:blipFill rotWithShape="1">
          <a:blip r:embed="rId3"/>
          <a:srcRect l="0" t="0" r="33408" b="0"/>
          <a:stretch/>
        </p:blipFill>
        <p:spPr bwMode="auto">
          <a:xfrm flipH="0" flipV="0"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12662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</a:t>
            </a:r>
            <a:r>
              <a:rPr lang="ru-RU"/>
              <a:t>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 lang="ru-RU"/>
          </a:p>
        </p:txBody>
      </p:sp>
      <p:sp>
        <p:nvSpPr>
          <p:cNvPr id="152416639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785505106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56290" y="4580893"/>
            <a:ext cx="4981510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2008336051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 flipH="0" flipV="0">
            <a:off x="9204466" y="1593351"/>
            <a:ext cx="2824299" cy="20359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045719039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45975416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80665397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701558354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8265294" y="5237432"/>
            <a:ext cx="3763471" cy="1228079"/>
          </a:xfrm>
          <a:prstGeom prst="rect">
            <a:avLst/>
          </a:prstGeom>
        </p:spPr>
      </p:pic>
      <p:pic>
        <p:nvPicPr>
          <p:cNvPr id="202509737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122609" y="1415540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451818861" name=""/>
          <p:cNvCxnSpPr>
            <a:stCxn id="1785505106" idx="3"/>
            <a:endCxn id="1701558354" idx="1"/>
          </p:cNvCxnSpPr>
          <p:nvPr/>
        </p:nvCxnSpPr>
        <p:spPr bwMode="auto">
          <a:xfrm rot="0" flipH="0" flipV="0">
            <a:off x="7837801" y="5628176"/>
            <a:ext cx="427492" cy="22329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556323" name=""/>
          <p:cNvCxnSpPr>
            <a:stCxn id="1785505106" idx="3"/>
            <a:endCxn id="2008336051" idx="2"/>
          </p:cNvCxnSpPr>
          <p:nvPr/>
        </p:nvCxnSpPr>
        <p:spPr bwMode="auto">
          <a:xfrm rot="0" flipH="0" flipV="1">
            <a:off x="7837801" y="3629299"/>
            <a:ext cx="2778814" cy="199887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6949245" name=""/>
          <p:cNvCxnSpPr>
            <a:stCxn id="2025097376" idx="3"/>
            <a:endCxn id="2008336051" idx="1"/>
          </p:cNvCxnSpPr>
          <p:nvPr/>
        </p:nvCxnSpPr>
        <p:spPr bwMode="auto">
          <a:xfrm rot="0" flipH="0" flipV="1">
            <a:off x="8651715" y="2611325"/>
            <a:ext cx="552751" cy="30912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502652" name=""/>
          <p:cNvCxnSpPr>
            <a:stCxn id="2025097376" idx="3"/>
            <a:endCxn id="1701558354" idx="0"/>
          </p:cNvCxnSpPr>
          <p:nvPr/>
        </p:nvCxnSpPr>
        <p:spPr bwMode="auto">
          <a:xfrm rot="0" flipH="0" flipV="0">
            <a:off x="8651715" y="2920446"/>
            <a:ext cx="1495313" cy="231698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14546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</a:t>
            </a:r>
            <a:r>
              <a:rPr lang="ru-RU"/>
              <a:t>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</a:t>
            </a:r>
            <a:r>
              <a:rPr lang="ru-RU"/>
              <a:t>Содержат статусные и управляющие сигналы связанные с самим графическим ядром;</a:t>
            </a:r>
            <a:endParaRPr lang="ru-RU"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</a:t>
            </a:r>
            <a:r>
              <a:rPr lang="ru-RU"/>
              <a:t>.</a:t>
            </a:r>
            <a:endParaRPr lang="en-US"/>
          </a:p>
        </p:txBody>
      </p:sp>
      <p:sp>
        <p:nvSpPr>
          <p:cNvPr id="53392002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07214923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82991266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06811040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76942915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03317" y="1473409"/>
            <a:ext cx="5766954" cy="5249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65421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</a:t>
            </a:r>
            <a:r>
              <a:rPr lang="ru-RU" sz="1600"/>
              <a:t>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</a:t>
            </a:r>
            <a:r>
              <a:rPr lang="ru-RU" sz="1600"/>
              <a:t> (</a:t>
            </a:r>
            <a:r>
              <a:rPr lang="en-US" sz="1600"/>
              <a:t>Regfile</a:t>
            </a:r>
            <a:r>
              <a:rPr lang="ru-RU" sz="1600"/>
              <a:t>) и сохраняет их обратно</a:t>
            </a:r>
            <a:r>
              <a:rPr lang="ru-RU" sz="1600"/>
              <a:t>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203582689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34814939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51867970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84852237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1531096696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07840" y="1443556"/>
            <a:ext cx="5541424" cy="5157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1984234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</a:t>
            </a:r>
            <a:r>
              <a:rPr lang="ru-RU"/>
              <a:t>только при получении </a:t>
            </a:r>
            <a:r>
              <a:rPr lang="en-US"/>
              <a:t>LD/ST </a:t>
            </a:r>
            <a:r>
              <a:rPr lang="ru-RU"/>
              <a:t>инструкции</a:t>
            </a:r>
            <a:r>
              <a:rPr lang="ru-RU"/>
              <a:t>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87826443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76334560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66550093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66437462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61379404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5437" y="1481884"/>
            <a:ext cx="7175859" cy="5010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71423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Арбитр </a:t>
            </a:r>
            <a:r>
              <a:rPr lang="ru-RU"/>
              <a:t>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 lang="ru-RU"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управляет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160205717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842678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2457800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99184066" name="Заголовок 1"/>
          <p:cNvSpPr>
            <a:spLocks noGrp="1"/>
          </p:cNvSpPr>
          <p:nvPr>
            <p:ph type="title"/>
          </p:nvPr>
        </p:nvSpPr>
        <p:spPr bwMode="auto">
          <a:xfrm>
            <a:off x="842848" y="-10414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27054493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6868500" y="1437959"/>
            <a:ext cx="5268560" cy="52374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69307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77173" y="1350172"/>
            <a:ext cx="4826355" cy="550782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</a:t>
            </a:r>
            <a:r>
              <a:rPr lang="ru-RU"/>
              <a:t>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79436405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94471373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32353222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1009345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22798758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996910" y="1396865"/>
            <a:ext cx="6875366" cy="513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89097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116294652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47357668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46254602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7520483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3534635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52470" y="1438274"/>
            <a:ext cx="7184591" cy="4905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7452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20675502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991181727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45317706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6216297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98218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По результатам текущей работы получен акт о внедрении разработки в деятельность АО «ПКК Миландр» №04-3 от 04.06.2026</a:t>
            </a:r>
            <a:endParaRPr sz="10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61517071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6737BC9E-E183-A7EE-0C01-BA6DD5EB0490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50905720" name="Прямоугольник 4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70983545" name="Прямоугольник 5"/>
          <p:cNvSpPr/>
          <p:nvPr/>
        </p:nvSpPr>
        <p:spPr bwMode="auto">
          <a:xfrm>
            <a:off x="0" y="1181590"/>
            <a:ext cx="12201298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5424931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1825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Внедрение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263584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80877360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74214106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42950245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3761591" name="Заголовок 1"/>
          <p:cNvSpPr>
            <a:spLocks noGrp="1"/>
          </p:cNvSpPr>
          <p:nvPr>
            <p:ph type="title"/>
          </p:nvPr>
        </p:nvSpPr>
        <p:spPr bwMode="auto">
          <a:xfrm>
            <a:off x="916446" y="17498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833914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00333708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09579211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7" cy="140028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416488080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7"/>
            <a:ext cx="6051235" cy="124182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1895930118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296297913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709871118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82876864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38</cp:revision>
  <dcterms:created xsi:type="dcterms:W3CDTF">2026-06-01T16:03:18Z</dcterms:created>
  <dcterms:modified xsi:type="dcterms:W3CDTF">2026-06-09T10:49:39Z</dcterms:modified>
</cp:coreProperties>
</file>