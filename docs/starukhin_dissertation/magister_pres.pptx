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slideLayouts/slideLayout25.xml" ContentType="application/vnd.openxmlformats-officedocument.presentationml.slideLayout+xml"/>
  <Override PartName="/ppt/slides/slide1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Layouts/slideLayout2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ppt/slideLayouts/slideLayout1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notesSlides/notesSlide3.xml" ContentType="application/vnd.openxmlformats-officedocument.presentationml.notesSlide+xml"/>
  <Override PartName="/ppt/slideLayouts/slideLayout1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s/slide2.xml" ContentType="application/vnd.openxmlformats-officedocument.presentationml.slide+xml"/>
  <Override PartName="/ppt/slideLayouts/slideLayout23.xml" ContentType="application/vnd.openxmlformats-officedocument.presentationml.slideLayout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2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6.xml" ContentType="application/vnd.openxmlformats-officedocument.presentationml.slideLayout+xml"/>
  <Override PartName="/ppt/notesSlides/notesSlide6.xml" ContentType="application/vnd.openxmlformats-officedocument.presentationml.notesSlide+xml"/>
  <Override PartName="/ppt/slideLayouts/slideLayout28.xml" ContentType="application/vnd.openxmlformats-officedocument.presentationml.slideLayout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 showSpecialPlsOnTitleSld="0">
  <p:sldMasterIdLst>
    <p:sldMasterId id="2147483648" r:id="rId1"/>
  </p:sldMasterIdLst>
  <p:notesMasterIdLst>
    <p:notesMasterId r:id="rId2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9144000"/>
  <p:defaultTextStyle>
    <a:defPPr>
      <a:defRPr lang="ru-RU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54" d="100"/>
          <a:sy n="154" d="100"/>
        </p:scale>
        <p:origin x="534" y="108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 /><Relationship Id="rId23" Type="http://schemas.openxmlformats.org/officeDocument/2006/relationships/tableStyles" Target="tableStyles.xml" /><Relationship Id="rId2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909446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2677890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0BF8B4CA-290A-45FF-AF47-6D7BC9CA84C9}" type="datetimeFigureOut">
              <a:rPr lang="ru-RU"/>
              <a:t>02.06.2026</a:t>
            </a:fld>
            <a:endParaRPr lang="ru-RU"/>
          </a:p>
        </p:txBody>
      </p:sp>
      <p:sp>
        <p:nvSpPr>
          <p:cNvPr id="524395339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1551658170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466183126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250646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BA4505C3-1B66-4F80-910D-E8795C33F31E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40113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39380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7465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9993D39-5D40-723A-B7F6-46DBB08A9A62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199703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69427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34554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5F5C7D0-D7BE-2C63-050F-1DAFA286B6D7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3644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075565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33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55F3D9-BDFF-EDB5-6FC0-3B806BA109F3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711114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841817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8357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0EB7B1-6B7D-5CE5-D95F-5ED0A7232503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41956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30685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38057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C2A48-3D77-7BE2-EE5A-0222396F1E07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4910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0377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6820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768EC4-D344-67C3-1C24-CF724D34C290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95387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61175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4446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FCB82-4ABC-C1C4-5E79-18F3785DD755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7256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46175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6984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A0886C-666E-9836-41C4-83E600BD9668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26643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853627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84809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6902816-76A5-4AF4-1E9E-ABAE37AB74E6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55791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220022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996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9DD143-F230-8BE5-DF47-2F712C202B39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46698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825483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4542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8E094-64B7-2766-BCC3-6C48145F116B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34274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861556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0857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85B0B4-A097-EC80-6511-5CB349CFD099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96543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908244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700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FE7883-973B-878E-357F-41AA8BFE4543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46858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77106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979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3C25AB-F75B-ED55-9B43-2E895322D2B6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99042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130572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40267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E3B1206-5BC8-D1E1-57C3-7D177AE62E15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550523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768352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2281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611C26-A18A-CE56-9368-8EAD053C4851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1018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265197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1395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8C1104-84A8-CC17-258A-A96B99F9A95E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1828941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8947964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/>
          </a:p>
        </p:txBody>
      </p:sp>
      <p:sp>
        <p:nvSpPr>
          <p:cNvPr id="1038408730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64E949B-752F-4A71-A243-047E6613A32E}" type="datetime1">
              <a:rPr lang="ru-RU"/>
              <a:t>02.06.2026</a:t>
            </a:fld>
            <a:endParaRPr lang="ru-RU"/>
          </a:p>
        </p:txBody>
      </p:sp>
      <p:sp>
        <p:nvSpPr>
          <p:cNvPr id="378021907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64849934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1829291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91476946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70739389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B2D18A6-5519-416E-A160-669FC8C75E20}" type="datetime1">
              <a:rPr lang="ru-RU"/>
              <a:t>02.06.2026</a:t>
            </a:fld>
            <a:endParaRPr lang="ru-RU"/>
          </a:p>
        </p:txBody>
      </p:sp>
      <p:sp>
        <p:nvSpPr>
          <p:cNvPr id="1288938550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7470915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6399726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44569830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1785381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FDFF63E-A7E5-4C7D-A2C9-DA69D5675040}" type="datetime1">
              <a:rPr lang="ru-RU"/>
              <a:t>02.06.2026</a:t>
            </a:fld>
            <a:endParaRPr lang="ru-RU"/>
          </a:p>
        </p:txBody>
      </p:sp>
      <p:sp>
        <p:nvSpPr>
          <p:cNvPr id="1758759739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07252197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9410618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18232802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6552838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0182184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464CDE6-6F92-4C74-BFB3-7167DEA2EA4E}" type="datetime1">
              <a:rPr lang="ru-RU"/>
              <a:t>02.06.2026</a:t>
            </a:fld>
            <a:endParaRPr lang="ru-RU"/>
          </a:p>
        </p:txBody>
      </p:sp>
      <p:sp>
        <p:nvSpPr>
          <p:cNvPr id="916400218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5414631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0585574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292590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20900476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9394163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69470468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49630695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9B7B28A-94DD-44EC-83BF-F9E9490C49B9}" type="datetime1">
              <a:rPr lang="ru-RU"/>
              <a:t>02.06.2026</a:t>
            </a:fld>
            <a:endParaRPr lang="ru-RU"/>
          </a:p>
        </p:txBody>
      </p:sp>
      <p:sp>
        <p:nvSpPr>
          <p:cNvPr id="1418074972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63157166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1218214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089423099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9CBEF87-A1CE-4AD3-B312-24E4060B669E}" type="datetime1">
              <a:rPr lang="ru-RU"/>
              <a:t>02.06.2026</a:t>
            </a:fld>
            <a:endParaRPr lang="ru-RU"/>
          </a:p>
        </p:txBody>
      </p:sp>
      <p:sp>
        <p:nvSpPr>
          <p:cNvPr id="1763505212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84736666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754957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1A3597E-B3B5-450E-90FE-FB59F904A164}" type="datetime1">
              <a:rPr lang="ru-RU"/>
              <a:t>02.06.2026</a:t>
            </a:fld>
            <a:endParaRPr lang="ru-RU"/>
          </a:p>
        </p:txBody>
      </p:sp>
      <p:sp>
        <p:nvSpPr>
          <p:cNvPr id="534502877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67728609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1791193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6137546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90218498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7544908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C926F4-5876-4D6C-B300-7031A7F64CBB}" type="datetime1">
              <a:rPr lang="ru-RU"/>
              <a:t>02.06.2026</a:t>
            </a:fld>
            <a:endParaRPr lang="ru-RU"/>
          </a:p>
        </p:txBody>
      </p:sp>
      <p:sp>
        <p:nvSpPr>
          <p:cNvPr id="773505591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95840635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1463461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432884306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1705493992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95035539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C357E52-6772-44D2-9B1A-046730665B12}" type="datetime1">
              <a:rPr lang="ru-RU"/>
              <a:t>02.06.2026</a:t>
            </a:fld>
            <a:endParaRPr lang="ru-RU"/>
          </a:p>
        </p:txBody>
      </p:sp>
      <p:sp>
        <p:nvSpPr>
          <p:cNvPr id="960917054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16432235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5020405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11690523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27257238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A5CB82E-191B-43B0-A738-8B9909F88B35}" type="datetime1">
              <a:rPr lang="ru-RU"/>
              <a:t>02.06.2026</a:t>
            </a:fld>
            <a:endParaRPr lang="ru-RU"/>
          </a:p>
        </p:txBody>
      </p:sp>
      <p:sp>
        <p:nvSpPr>
          <p:cNvPr id="188747366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329911625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3154828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225803582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66735015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730D1F9-634A-465B-B25E-CF53749F388C}" type="datetime1">
              <a:rPr lang="ru-RU"/>
              <a:t>02.06.2026</a:t>
            </a:fld>
            <a:endParaRPr lang="ru-RU"/>
          </a:p>
        </p:txBody>
      </p:sp>
      <p:sp>
        <p:nvSpPr>
          <p:cNvPr id="531187906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72073402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1_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2374885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60520886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1372211083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57219531" name="Rectangle 9"/>
          <p:cNvSpPr/>
          <p:nvPr/>
        </p:nvSpPr>
        <p:spPr bwMode="auto"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49742464" name="Title 1"/>
          <p:cNvSpPr>
            <a:spLocks noGrp="1"/>
          </p:cNvSpPr>
          <p:nvPr>
            <p:ph type="ctrTitle"/>
          </p:nvPr>
        </p:nvSpPr>
        <p:spPr bwMode="auto"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436299171" name="Subtitle 2"/>
          <p:cNvSpPr>
            <a:spLocks noGrp="1"/>
          </p:cNvSpPr>
          <p:nvPr>
            <p:ph type="subTitle" idx="1"/>
          </p:nvPr>
        </p:nvSpPr>
        <p:spPr bwMode="auto"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30893387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2D43468-8071-4A79-9713-FA03F2A56FC7}" type="datetime1">
              <a:rPr lang="ru-RU"/>
              <a:t>02.06.2026</a:t>
            </a:fld>
            <a:endParaRPr lang="ru-RU"/>
          </a:p>
        </p:txBody>
      </p:sp>
      <p:sp>
        <p:nvSpPr>
          <p:cNvPr id="198355653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2837612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9255346" y="2750337"/>
            <a:ext cx="1171888" cy="1356442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1_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58560092" name="Picture 14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2040604025" name="Picture 15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64708468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38220868" name="Rectangle 17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5559514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64456057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6669974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AAA47A0-2EBA-44E2-BFE5-02832F0BA229}" type="datetime1">
              <a:rPr lang="ru-RU"/>
              <a:t>02.06.2026</a:t>
            </a:fld>
            <a:endParaRPr lang="ru-RU"/>
          </a:p>
        </p:txBody>
      </p:sp>
      <p:sp>
        <p:nvSpPr>
          <p:cNvPr id="49736340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3483792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1_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88797981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-1" y="4086906"/>
            <a:ext cx="10437812" cy="321164"/>
          </a:xfrm>
          <a:prstGeom prst="rect">
            <a:avLst/>
          </a:prstGeom>
        </p:spPr>
      </p:pic>
      <p:pic>
        <p:nvPicPr>
          <p:cNvPr id="1412756727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438850150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90088821" name="Rectangle 9"/>
          <p:cNvSpPr/>
          <p:nvPr/>
        </p:nvSpPr>
        <p:spPr bwMode="auto"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22128784" name="Title 1"/>
          <p:cNvSpPr>
            <a:spLocks noGrp="1"/>
          </p:cNvSpPr>
          <p:nvPr>
            <p:ph type="title"/>
          </p:nvPr>
        </p:nvSpPr>
        <p:spPr bwMode="auto"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43895225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3421788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E3FDA68-1834-4C1F-B2CC-B0A0766ED8A5}" type="datetime1">
              <a:rPr lang="ru-RU"/>
              <a:t>02.06.2026</a:t>
            </a:fld>
            <a:endParaRPr lang="ru-RU"/>
          </a:p>
        </p:txBody>
      </p:sp>
      <p:sp>
        <p:nvSpPr>
          <p:cNvPr id="122976550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32801857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286989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1_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69470865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6465415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7655203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01148690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292942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578543822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0319" y="2336873"/>
            <a:ext cx="4698358" cy="3599316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43544232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594123" y="2336873"/>
            <a:ext cx="4700058" cy="3599316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20274745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9303EE3-BBFB-41F4-B1FB-4E4CF27ED9D2}" type="datetime1">
              <a:rPr lang="ru-RU"/>
              <a:t>02.06.2026</a:t>
            </a:fld>
            <a:endParaRPr lang="ru-RU"/>
          </a:p>
        </p:txBody>
      </p:sp>
      <p:sp>
        <p:nvSpPr>
          <p:cNvPr id="76684973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2251638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1_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6359669" name="Picture 9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34219924" name="Picture 10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455377248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01838367" name="Rectangle 12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75056706" name="Title 1"/>
          <p:cNvSpPr>
            <a:spLocks noGrp="1"/>
          </p:cNvSpPr>
          <p:nvPr>
            <p:ph type="title"/>
          </p:nvPr>
        </p:nvSpPr>
        <p:spPr bwMode="auto">
          <a:xfrm>
            <a:off x="680319" y="753229"/>
            <a:ext cx="9613863" cy="1080937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57279818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06349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581412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0322" y="3030008"/>
            <a:ext cx="4698355" cy="2906179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41929474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6649938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594123" y="3030008"/>
            <a:ext cx="4700059" cy="2906179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859607374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96D59AE-5854-4542-9FF1-1EC4E5A530D5}" type="datetime1">
              <a:rPr lang="ru-RU"/>
              <a:t>02.06.2026</a:t>
            </a:fld>
            <a:endParaRPr lang="ru-RU"/>
          </a:p>
        </p:txBody>
      </p:sp>
      <p:sp>
        <p:nvSpPr>
          <p:cNvPr id="70374200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35354306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1_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609248" name="Picture 5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51211182" name="Picture 6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07281676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79471218" name="Rectangle 8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4087777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933373246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C785264-56B0-460E-A2C2-C886D7CC0782}" type="datetime1">
              <a:rPr lang="ru-RU"/>
              <a:t>02.06.2026</a:t>
            </a:fld>
            <a:endParaRPr lang="ru-RU"/>
          </a:p>
        </p:txBody>
      </p:sp>
      <p:sp>
        <p:nvSpPr>
          <p:cNvPr id="1898882001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5751220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1_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53243567" name="Picture 4" descr="HD-ShadowShort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815435822" name="Rectangle 5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4005693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AAA0283-F641-48C8-BAB7-8AC6BD361923}" type="datetime1">
              <a:rPr lang="ru-RU"/>
              <a:t>02.06.2026</a:t>
            </a:fld>
            <a:endParaRPr lang="ru-RU"/>
          </a:p>
        </p:txBody>
      </p:sp>
      <p:sp>
        <p:nvSpPr>
          <p:cNvPr id="1174921068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925309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1_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86160717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23127682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283666622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26396779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44497723" name="Title 1"/>
          <p:cNvSpPr>
            <a:spLocks noGrp="1"/>
          </p:cNvSpPr>
          <p:nvPr>
            <p:ph type="title"/>
          </p:nvPr>
        </p:nvSpPr>
        <p:spPr bwMode="auto"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125246673" name="Content Placeholder 2"/>
          <p:cNvSpPr>
            <a:spLocks noGrp="1"/>
          </p:cNvSpPr>
          <p:nvPr>
            <p:ph idx="1"/>
          </p:nvPr>
        </p:nvSpPr>
        <p:spPr bwMode="auto">
          <a:xfrm>
            <a:off x="4685846" y="2336873"/>
            <a:ext cx="5608336" cy="3599313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6088233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6873391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C10133D-16A4-41F1-B8F2-C1B694F00730}" type="datetime1">
              <a:rPr lang="ru-RU"/>
              <a:t>02.06.2026</a:t>
            </a:fld>
            <a:endParaRPr lang="ru-RU"/>
          </a:p>
        </p:txBody>
      </p:sp>
      <p:sp>
        <p:nvSpPr>
          <p:cNvPr id="133644700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7677937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1_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80527327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713962559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770326036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72123296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31344582" name="Title 1"/>
          <p:cNvSpPr>
            <a:spLocks noGrp="1"/>
          </p:cNvSpPr>
          <p:nvPr>
            <p:ph type="title"/>
          </p:nvPr>
        </p:nvSpPr>
        <p:spPr bwMode="auto">
          <a:xfrm>
            <a:off x="680323" y="753227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48455126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4868332" y="2336874"/>
            <a:ext cx="5425849" cy="3599312"/>
          </a:xfrm>
          <a:prstGeom prst="rect">
            <a:avLst/>
          </a:prstGeo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174990447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162619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65D9257-9E03-404F-95EE-486F8868E3F2}" type="datetime1">
              <a:rPr lang="ru-RU"/>
              <a:t>02.06.2026</a:t>
            </a:fld>
            <a:endParaRPr lang="ru-RU"/>
          </a:p>
        </p:txBody>
      </p:sp>
      <p:sp>
        <p:nvSpPr>
          <p:cNvPr id="130479423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2990029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анорамная фотография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80086266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987866869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467697009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13207234" name="Rectangle 10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27191211" name="Title 1"/>
          <p:cNvSpPr>
            <a:spLocks noGrp="1"/>
          </p:cNvSpPr>
          <p:nvPr>
            <p:ph type="title"/>
          </p:nvPr>
        </p:nvSpPr>
        <p:spPr bwMode="auto"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881115345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680322" y="609597"/>
            <a:ext cx="9613859" cy="3589574"/>
          </a:xfrm>
          <a:prstGeom prst="rect">
            <a:avLst/>
          </a:prstGeo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13592397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6499191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C6571D8-6559-4269-B7BA-EACD5F8873B8}" type="datetime1">
              <a:rPr lang="ru-RU"/>
              <a:t>02.06.2026</a:t>
            </a:fld>
            <a:endParaRPr lang="ru-RU"/>
          </a:p>
        </p:txBody>
      </p:sp>
      <p:sp>
        <p:nvSpPr>
          <p:cNvPr id="165064442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40294216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11309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подпись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689149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346774747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77291723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83799813" name="Rectangle 10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78418471" name="Title 1"/>
          <p:cNvSpPr>
            <a:spLocks noGrp="1"/>
          </p:cNvSpPr>
          <p:nvPr>
            <p:ph type="title"/>
          </p:nvPr>
        </p:nvSpPr>
        <p:spPr bwMode="auto"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0253156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5745263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52607F1-4CB0-4741-B752-77795AAFB6CE}" type="datetime1">
              <a:rPr lang="ru-RU"/>
              <a:t>02.06.2026</a:t>
            </a:fld>
            <a:endParaRPr lang="ru-RU"/>
          </a:p>
        </p:txBody>
      </p:sp>
      <p:sp>
        <p:nvSpPr>
          <p:cNvPr id="132435941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86779784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1161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Цитата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9406957" name="Picture 10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283401421" name="Picture 12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868851730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00680903" name="Rectangle 14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05962811" name="Title 1"/>
          <p:cNvSpPr>
            <a:spLocks noGrp="1"/>
          </p:cNvSpPr>
          <p:nvPr>
            <p:ph type="title"/>
          </p:nvPr>
        </p:nvSpPr>
        <p:spPr bwMode="auto"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010881291" name="Text Placeholder 3"/>
          <p:cNvSpPr>
            <a:spLocks noGrp="1"/>
          </p:cNvSpPr>
          <p:nvPr>
            <p:ph type="body" sz="half" idx="13"/>
          </p:nvPr>
        </p:nvSpPr>
        <p:spPr bwMode="auto"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526563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910800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D0F2E69-AF6B-4D0C-824F-3DADD254BF95}" type="datetime1">
              <a:rPr lang="ru-RU"/>
              <a:t>02.06.2026</a:t>
            </a:fld>
            <a:endParaRPr lang="ru-RU"/>
          </a:p>
        </p:txBody>
      </p:sp>
      <p:sp>
        <p:nvSpPr>
          <p:cNvPr id="53490984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40901773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  <p:sp>
        <p:nvSpPr>
          <p:cNvPr id="119104017" name="TextBox 15"/>
          <p:cNvSpPr txBox="1"/>
          <p:nvPr/>
        </p:nvSpPr>
        <p:spPr bwMode="auto">
          <a:xfrm>
            <a:off x="583572" y="748116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>
              <a:defRPr/>
            </a:pPr>
            <a:r>
              <a:rPr lang="en-US" sz="7200">
                <a:solidFill>
                  <a:schemeClr val="tx1"/>
                </a:solidFill>
              </a:rPr>
              <a:t>“</a:t>
            </a:r>
            <a:endParaRPr/>
          </a:p>
        </p:txBody>
      </p:sp>
      <p:sp>
        <p:nvSpPr>
          <p:cNvPr id="1397720600" name="TextBox 16"/>
          <p:cNvSpPr txBox="1"/>
          <p:nvPr/>
        </p:nvSpPr>
        <p:spPr bwMode="auto">
          <a:xfrm>
            <a:off x="9662809" y="3033524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>
              <a:defRPr/>
            </a:pPr>
            <a:r>
              <a:rPr lang="en-US" sz="7200">
                <a:solidFill>
                  <a:schemeClr val="tx1"/>
                </a:solidFill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арточка имен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23197751" name="Picture 8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228663050" name="Picture 9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798176419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48083128" name="Rectangle 11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79403723" name="Title 1"/>
          <p:cNvSpPr>
            <a:spLocks noGrp="1"/>
          </p:cNvSpPr>
          <p:nvPr>
            <p:ph type="title"/>
          </p:nvPr>
        </p:nvSpPr>
        <p:spPr bwMode="auto"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50921742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19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207878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B61B190-EA0F-465A-8B4C-40AE0FF8CD42}" type="datetime1">
              <a:rPr lang="ru-RU"/>
              <a:t>02.06.2026</a:t>
            </a:fld>
            <a:endParaRPr lang="ru-RU"/>
          </a:p>
        </p:txBody>
      </p:sp>
      <p:sp>
        <p:nvSpPr>
          <p:cNvPr id="13907550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128360170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ри колонк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5176072" name="Picture 12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21394955" name="Picture 13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11753460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02264422" name="Rectangle 16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27781410" name="Title 1"/>
          <p:cNvSpPr>
            <a:spLocks noGrp="1"/>
          </p:cNvSpPr>
          <p:nvPr>
            <p:ph type="title"/>
          </p:nvPr>
        </p:nvSpPr>
        <p:spPr bwMode="auto">
          <a:xfrm>
            <a:off x="669222" y="753227"/>
            <a:ext cx="9624960" cy="1080938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15269777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54309287" name="Text Placeholder 3"/>
          <p:cNvSpPr>
            <a:spLocks noGrp="1"/>
          </p:cNvSpPr>
          <p:nvPr>
            <p:ph type="body" sz="half" idx="15"/>
          </p:nvPr>
        </p:nvSpPr>
        <p:spPr bwMode="auto"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0850846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8585604" name="Text Placeholder 3"/>
          <p:cNvSpPr>
            <a:spLocks noGrp="1"/>
          </p:cNvSpPr>
          <p:nvPr>
            <p:ph type="body" sz="half" idx="16"/>
          </p:nvPr>
        </p:nvSpPr>
        <p:spPr bwMode="auto"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22857320" name="Text Placeholder 4"/>
          <p:cNvSpPr>
            <a:spLocks noGrp="1"/>
          </p:cNvSpPr>
          <p:nvPr>
            <p:ph type="body" sz="quarter" idx="13"/>
          </p:nvPr>
        </p:nvSpPr>
        <p:spPr bwMode="auto"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13641396" name="Text Placeholder 3"/>
          <p:cNvSpPr>
            <a:spLocks noGrp="1"/>
          </p:cNvSpPr>
          <p:nvPr>
            <p:ph type="body" sz="half" idx="17"/>
          </p:nvPr>
        </p:nvSpPr>
        <p:spPr bwMode="auto"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6900026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BFF2AA-51FD-495E-9B6C-53E0CCE8720E}" type="datetime1">
              <a:rPr lang="ru-RU"/>
              <a:t>02.06.2026</a:t>
            </a:fld>
            <a:endParaRPr lang="ru-RU"/>
          </a:p>
        </p:txBody>
      </p:sp>
      <p:sp>
        <p:nvSpPr>
          <p:cNvPr id="172443458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4330831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олбец с тремя рисункам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90040029" name="Picture 14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209499313" name="Picture 15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954718349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71143276" name="Rectangle 17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05176539" name="Title 1"/>
          <p:cNvSpPr>
            <a:spLocks noGrp="1"/>
          </p:cNvSpPr>
          <p:nvPr>
            <p:ph type="title"/>
          </p:nvPr>
        </p:nvSpPr>
        <p:spPr bwMode="auto">
          <a:xfrm>
            <a:off x="680322" y="753227"/>
            <a:ext cx="9613860" cy="1080938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87933584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55068860" name="Picture Placeholder 2"/>
          <p:cNvSpPr>
            <a:spLocks noChangeAspect="1" noGrp="1"/>
          </p:cNvSpPr>
          <p:nvPr>
            <p:ph type="pic" idx="15"/>
          </p:nvPr>
        </p:nvSpPr>
        <p:spPr bwMode="auto"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901079654" name="Text Placeholder 3"/>
          <p:cNvSpPr>
            <a:spLocks noGrp="1"/>
          </p:cNvSpPr>
          <p:nvPr>
            <p:ph type="body" sz="half" idx="18"/>
          </p:nvPr>
        </p:nvSpPr>
        <p:spPr bwMode="auto"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6338902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9672771" name="Picture Placeholder 2"/>
          <p:cNvSpPr>
            <a:spLocks noChangeAspect="1" noGrp="1"/>
          </p:cNvSpPr>
          <p:nvPr>
            <p:ph type="pic" idx="21"/>
          </p:nvPr>
        </p:nvSpPr>
        <p:spPr bwMode="auto"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893326674" name="Text Placeholder 3"/>
          <p:cNvSpPr>
            <a:spLocks noGrp="1"/>
          </p:cNvSpPr>
          <p:nvPr>
            <p:ph type="body" sz="half" idx="19"/>
          </p:nvPr>
        </p:nvSpPr>
        <p:spPr bwMode="auto"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75405141" name="Text Placeholder 4"/>
          <p:cNvSpPr>
            <a:spLocks noGrp="1"/>
          </p:cNvSpPr>
          <p:nvPr>
            <p:ph type="body" sz="quarter" idx="13"/>
          </p:nvPr>
        </p:nvSpPr>
        <p:spPr bwMode="auto"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01446938" name="Picture Placeholder 2"/>
          <p:cNvSpPr>
            <a:spLocks noChangeAspect="1" noGrp="1"/>
          </p:cNvSpPr>
          <p:nvPr>
            <p:ph type="pic" idx="22"/>
          </p:nvPr>
        </p:nvSpPr>
        <p:spPr bwMode="auto"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1005129983" name="Text Placeholder 3"/>
          <p:cNvSpPr>
            <a:spLocks noGrp="1"/>
          </p:cNvSpPr>
          <p:nvPr>
            <p:ph type="body" sz="half" idx="20"/>
          </p:nvPr>
        </p:nvSpPr>
        <p:spPr bwMode="auto"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5615609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32452-DB40-464D-817C-83D7743D6F57}" type="datetime1">
              <a:rPr lang="ru-RU"/>
              <a:t>02.06.2026</a:t>
            </a:fld>
            <a:endParaRPr lang="ru-RU"/>
          </a:p>
        </p:txBody>
      </p:sp>
      <p:sp>
        <p:nvSpPr>
          <p:cNvPr id="79711507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9483318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1_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00820123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6535896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40652263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89587005" name="Rectangle 9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9736759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57388616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02405703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7BE9EF-9137-4EC0-A2FE-700F392F3BEF}" type="datetime1">
              <a:rPr lang="ru-RU"/>
              <a:t>02.06.2026</a:t>
            </a:fld>
            <a:endParaRPr lang="ru-RU"/>
          </a:p>
        </p:txBody>
      </p:sp>
      <p:sp>
        <p:nvSpPr>
          <p:cNvPr id="89290208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6531483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1_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4663975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70888505" name="Rectangle 7"/>
          <p:cNvSpPr/>
          <p:nvPr/>
        </p:nvSpPr>
        <p:spPr bwMode="auto"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86025445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10129231" y="609597"/>
            <a:ext cx="1073802" cy="4353760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923823100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0322" y="609597"/>
            <a:ext cx="8870004" cy="5326589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855104403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6807126" y="5936187"/>
            <a:ext cx="2743200" cy="365125"/>
          </a:xfrm>
        </p:spPr>
        <p:txBody>
          <a:bodyPr/>
          <a:lstStyle/>
          <a:p>
            <a:pPr>
              <a:defRPr/>
            </a:pPr>
            <a:fld id="{2BF7793B-D180-44C4-B91E-57912C70F4D0}" type="datetime1">
              <a:rPr lang="ru-RU"/>
              <a:t>02.06.2026</a:t>
            </a:fld>
            <a:endParaRPr lang="ru-RU"/>
          </a:p>
        </p:txBody>
      </p:sp>
      <p:sp>
        <p:nvSpPr>
          <p:cNvPr id="674487083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680321" y="5936188"/>
            <a:ext cx="6126805" cy="365125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33703079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5475343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95132574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300720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01D4F3A-ABC6-43DF-ACA3-965C94B45EAB}" type="datetime1">
              <a:rPr lang="ru-RU"/>
              <a:t>02.06.2026</a:t>
            </a:fld>
            <a:endParaRPr lang="ru-RU"/>
          </a:p>
        </p:txBody>
      </p:sp>
      <p:sp>
        <p:nvSpPr>
          <p:cNvPr id="8234131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5138417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</p:sldLayoutIdLst>
  <p:hf dt="0" ftr="0" hdr="0" sldNum="1"/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media1.sv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media2.svg"/><Relationship Id="rId6" Type="http://schemas.openxmlformats.org/officeDocument/2006/relationships/image" Target="../media/image9.png"/><Relationship Id="rId7" Type="http://schemas.openxmlformats.org/officeDocument/2006/relationships/image" Target="../media/media3.svg"/><Relationship Id="rId8" Type="http://schemas.openxmlformats.org/officeDocument/2006/relationships/image" Target="../media/image10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media4.sv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media5.sv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Relationship Id="rId4" Type="http://schemas.openxmlformats.org/officeDocument/2006/relationships/image" Target="../media/media6.sv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media7.sv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Relationship Id="rId4" Type="http://schemas.openxmlformats.org/officeDocument/2006/relationships/image" Target="../media/media8.sv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8223286" name="Прямоугольник 3"/>
          <p:cNvSpPr/>
          <p:nvPr/>
        </p:nvSpPr>
        <p:spPr bwMode="auto">
          <a:xfrm>
            <a:off x="0" y="1381233"/>
            <a:ext cx="12192000" cy="1810533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296122844" name="Прямоугольник 4"/>
          <p:cNvSpPr/>
          <p:nvPr/>
        </p:nvSpPr>
        <p:spPr bwMode="auto">
          <a:xfrm>
            <a:off x="0" y="5021126"/>
            <a:ext cx="12192000" cy="1385894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845006590" name="Заголовок 1"/>
          <p:cNvSpPr>
            <a:spLocks noGrp="1"/>
          </p:cNvSpPr>
          <p:nvPr>
            <p:ph type="ctrTitle"/>
          </p:nvPr>
        </p:nvSpPr>
        <p:spPr bwMode="auto">
          <a:xfrm>
            <a:off x="422988" y="1604865"/>
            <a:ext cx="8345668" cy="1400288"/>
          </a:xfrm>
        </p:spPr>
        <p:txBody>
          <a:bodyPr>
            <a:noAutofit/>
          </a:bodyPr>
          <a:lstStyle/>
          <a:p>
            <a:pPr algn="l">
              <a:defRPr/>
            </a:pPr>
            <a:r>
              <a:rPr lang="ru-RU" sz="3200">
                <a:solidFill>
                  <a:schemeClr val="bg1"/>
                </a:solidFill>
              </a:rPr>
              <a:t>Разработка </a:t>
            </a:r>
            <a:r>
              <a:rPr lang="ru-RU" sz="3200">
                <a:solidFill>
                  <a:schemeClr val="bg1"/>
                </a:solidFill>
              </a:rPr>
              <a:t>ядра упрощенного графического ускорителя. Разработка </a:t>
            </a:r>
            <a:r>
              <a:rPr lang="en-US" sz="3200">
                <a:solidFill>
                  <a:schemeClr val="bg1"/>
                </a:solidFill>
              </a:rPr>
              <a:t>HDL </a:t>
            </a:r>
            <a:r>
              <a:rPr lang="ru-RU" sz="3200">
                <a:solidFill>
                  <a:schemeClr val="bg1"/>
                </a:solidFill>
              </a:rPr>
              <a:t>модели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377099550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5817078" y="5093158"/>
            <a:ext cx="6051236" cy="124182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55000" lnSpcReduction="9000"/>
          </a:bodyPr>
          <a:lstStyle/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Воронежский Государственный Университет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Сделал: студент 2 курса магистратуры 11 группы Старухин Данила Михайлович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Руководитель: Авсеева О.В.</a:t>
            </a:r>
            <a:endParaRPr/>
          </a:p>
          <a:p>
            <a:pPr algn="r">
              <a:defRPr/>
            </a:pPr>
            <a:r>
              <a:rPr lang="en-US">
                <a:solidFill>
                  <a:schemeClr val="bg1"/>
                </a:solidFill>
              </a:rPr>
              <a:t>e-mail: staruhind@yandex.ru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4247047" name="Прямоугольник 4"/>
          <p:cNvSpPr/>
          <p:nvPr/>
        </p:nvSpPr>
        <p:spPr bwMode="auto">
          <a:xfrm>
            <a:off x="0" y="-1"/>
            <a:ext cx="12192000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334443020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178480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Введение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720181102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Графический ускоритель </a:t>
            </a:r>
            <a:r>
              <a:rPr lang="en-US">
                <a:solidFill>
                  <a:schemeClr val="tx1"/>
                </a:solidFill>
              </a:rPr>
              <a:t>(GPU)</a:t>
            </a:r>
            <a:r>
              <a:rPr lang="ru-RU">
                <a:solidFill>
                  <a:schemeClr val="tx1"/>
                </a:solidFill>
              </a:rPr>
              <a:t> – это специализированный процессор, оптимизированный для параллельной обработки данных;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Графическое ядро – это специализированный микропроцессор, созданный для математических вычислений, обработки изображений и рендеринга;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Основные компании-разработчики дискретных графических ускорителей: </a:t>
            </a:r>
            <a:r>
              <a:rPr lang="en-US">
                <a:solidFill>
                  <a:schemeClr val="tx1"/>
                </a:solidFill>
              </a:rPr>
              <a:t>AMD,</a:t>
            </a:r>
            <a:r>
              <a:rPr lang="ru-RU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NVIDIA, Intel (c </a:t>
            </a:r>
            <a:r>
              <a:rPr lang="ru-RU">
                <a:solidFill>
                  <a:schemeClr val="tx1"/>
                </a:solidFill>
              </a:rPr>
              <a:t>недавних пор</a:t>
            </a:r>
            <a:r>
              <a:rPr lang="en-US">
                <a:solidFill>
                  <a:schemeClr val="tx1"/>
                </a:solidFill>
              </a:rPr>
              <a:t>)</a:t>
            </a:r>
            <a:r>
              <a:rPr lang="ru-RU">
                <a:solidFill>
                  <a:schemeClr val="tx1"/>
                </a:solidFill>
              </a:rPr>
              <a:t>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828357409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2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732759579" name="Прямоугольник 5"/>
          <p:cNvSpPr/>
          <p:nvPr/>
        </p:nvSpPr>
        <p:spPr bwMode="auto">
          <a:xfrm>
            <a:off x="0" y="1220090"/>
            <a:ext cx="12192000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7763893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 marL="0" indent="0">
              <a:buFont typeface="Arial"/>
              <a:buNone/>
              <a:defRPr/>
            </a:pPr>
            <a:r>
              <a:rPr lang="ru-RU">
                <a:solidFill>
                  <a:schemeClr val="tx1"/>
                </a:solidFill>
              </a:rPr>
              <a:t>Реализация модели упрощенного графического ядра </a:t>
            </a:r>
            <a:r>
              <a:rPr>
                <a:solidFill>
                  <a:schemeClr val="tx1"/>
                </a:solidFill>
              </a:rPr>
              <a:t>позволит: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Определить</a:t>
            </a:r>
            <a:r>
              <a:rPr>
                <a:solidFill>
                  <a:schemeClr val="tx1"/>
                </a:solidFill>
              </a:rPr>
              <a:t> требования для построения минимального графического ядра и минимальный набор инструкций;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Разработать модель упрощенного графического ядра, которую можно модернизировать и изучать;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На базе разработанной модели можно экспериментировать с различными техниками и способами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ru-RU">
                <a:solidFill>
                  <a:schemeClr val="tx1"/>
                </a:solidFill>
              </a:rPr>
              <a:t>построения </a:t>
            </a:r>
            <a:r>
              <a:rPr lang="ru-RU">
                <a:solidFill>
                  <a:schemeClr val="tx1"/>
                </a:solidFill>
              </a:rPr>
              <a:t>архитектур процессорных систем</a:t>
            </a:r>
            <a:r>
              <a:rPr>
                <a:solidFill>
                  <a:schemeClr val="tx1"/>
                </a:solidFill>
              </a:rPr>
              <a:t>;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Приблизиться к реализации полноценного графического ядра, а в перспективе и полноценного графического ускорителя.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709281133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4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316054823" name="Прямоугольник 4"/>
          <p:cNvSpPr/>
          <p:nvPr/>
        </p:nvSpPr>
        <p:spPr bwMode="auto">
          <a:xfrm>
            <a:off x="0" y="-72479"/>
            <a:ext cx="12192000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945025936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-72479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Актуальность работы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096262877" name="Прямоугольник 5"/>
          <p:cNvSpPr/>
          <p:nvPr/>
        </p:nvSpPr>
        <p:spPr bwMode="auto">
          <a:xfrm>
            <a:off x="0" y="1121016"/>
            <a:ext cx="12192000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3096460" name="Объект 2"/>
          <p:cNvSpPr>
            <a:spLocks noGrp="1"/>
          </p:cNvSpPr>
          <p:nvPr>
            <p:ph idx="1"/>
          </p:nvPr>
        </p:nvSpPr>
        <p:spPr bwMode="auto">
          <a:xfrm>
            <a:off x="4649" y="1635966"/>
            <a:ext cx="12201298" cy="3600467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defRPr/>
            </a:pPr>
            <a:r>
              <a:rPr lang="ru-RU" sz="2400"/>
              <a:t>Цели</a:t>
            </a:r>
            <a:endParaRPr sz="2400"/>
          </a:p>
          <a:p>
            <a:pPr lvl="1">
              <a:defRPr/>
            </a:pPr>
            <a:r>
              <a:rPr lang="ru-RU" sz="2000"/>
              <a:t>Разработать модель упрощённого графического ядра на языке описания аппаратуры </a:t>
            </a:r>
            <a:r>
              <a:rPr lang="en-US" sz="2000"/>
              <a:t>SystemVerilog</a:t>
            </a:r>
            <a:r>
              <a:rPr lang="ru-RU" sz="2000"/>
              <a:t>.</a:t>
            </a:r>
            <a:endParaRPr sz="2000"/>
          </a:p>
          <a:p>
            <a:pPr>
              <a:defRPr/>
            </a:pPr>
            <a:r>
              <a:rPr lang="ru-RU" sz="2400"/>
              <a:t>Задачи</a:t>
            </a:r>
            <a:endParaRPr sz="2400"/>
          </a:p>
          <a:p>
            <a:pPr lvl="1">
              <a:defRPr/>
            </a:pPr>
            <a:r>
              <a:rPr lang="ru-RU" sz="2000"/>
              <a:t>Провести анализ существующих архитектур графических процессоров и ядер;</a:t>
            </a:r>
            <a:endParaRPr sz="2000"/>
          </a:p>
          <a:p>
            <a:pPr lvl="1">
              <a:defRPr/>
            </a:pPr>
            <a:r>
              <a:rPr lang="ru-RU" sz="2000"/>
              <a:t>Спроектировать минимально необходимую архитектуру набора инструкций (</a:t>
            </a:r>
            <a:r>
              <a:rPr lang="en-US" sz="2000"/>
              <a:t>ISA)</a:t>
            </a:r>
            <a:r>
              <a:rPr lang="ru-RU" sz="2000"/>
              <a:t>;</a:t>
            </a:r>
            <a:endParaRPr sz="2000"/>
          </a:p>
          <a:p>
            <a:pPr lvl="1">
              <a:defRPr/>
            </a:pPr>
            <a:r>
              <a:rPr lang="ru-RU" sz="2000"/>
              <a:t>Разработать архитектуру упрощенного графического ядра;</a:t>
            </a:r>
            <a:endParaRPr sz="2000"/>
          </a:p>
          <a:p>
            <a:pPr lvl="1">
              <a:defRPr/>
            </a:pPr>
            <a:r>
              <a:rPr lang="ru-RU" sz="2000"/>
              <a:t>Разработать модель упрощенного графического ядра, используя метод поблочной декомпозиции.</a:t>
            </a:r>
            <a:endParaRPr sz="2000"/>
          </a:p>
        </p:txBody>
      </p:sp>
      <p:sp>
        <p:nvSpPr>
          <p:cNvPr id="607929515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3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180678852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566291400" name="Заголовок 1"/>
          <p:cNvSpPr>
            <a:spLocks noGrp="1"/>
          </p:cNvSpPr>
          <p:nvPr>
            <p:ph type="title"/>
          </p:nvPr>
        </p:nvSpPr>
        <p:spPr bwMode="auto">
          <a:xfrm>
            <a:off x="847498" y="56519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Постановка задачи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063207145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184230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182075" y="1628766"/>
            <a:ext cx="2592336" cy="486410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>
              <a:defRPr/>
            </a:pPr>
            <a:r>
              <a:rPr/>
              <a:t>Работа является общим проектом: разработка ядра упрощенного графического ускорителя</a:t>
            </a:r>
            <a:endParaRPr/>
          </a:p>
          <a:p>
            <a:pPr>
              <a:defRPr/>
            </a:pPr>
            <a:r>
              <a:rPr/>
              <a:t>В данной работе выполнена конкретная часть проекта: </a:t>
            </a:r>
            <a:r>
              <a:rPr lang="en-US"/>
              <a:t>RTL-</a:t>
            </a:r>
            <a:r>
              <a:rPr lang="ru-RU"/>
              <a:t>описание ядра упрощенного графического ускорителя</a:t>
            </a:r>
            <a:endParaRPr/>
          </a:p>
        </p:txBody>
      </p:sp>
      <p:sp>
        <p:nvSpPr>
          <p:cNvPr id="555354155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4"/>
            <a:ext cx="1052507" cy="365124"/>
          </a:xfrm>
        </p:spPr>
        <p:txBody>
          <a:bodyPr/>
          <a:lstStyle/>
          <a:p>
            <a:pPr>
              <a:defRPr/>
            </a:pPr>
            <a:fld id="{2C3BA63A-6FFD-E575-38C0-7BEA8FDEC7FB}" type="slidenum">
              <a:rPr lang="ru-RU" sz="1800">
                <a:solidFill>
                  <a:schemeClr val="tx1"/>
                </a:solidFill>
                <a:latin typeface="Trebuchet MS"/>
              </a:rPr>
              <a:t>4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547078223" name="Прямоугольник 5"/>
          <p:cNvSpPr/>
          <p:nvPr/>
        </p:nvSpPr>
        <p:spPr bwMode="auto">
          <a:xfrm>
            <a:off x="-9297" y="-10414"/>
            <a:ext cx="12210595" cy="11600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696182111" name="Заголовок 1"/>
          <p:cNvSpPr>
            <a:spLocks noGrp="1"/>
          </p:cNvSpPr>
          <p:nvPr>
            <p:ph type="title"/>
          </p:nvPr>
        </p:nvSpPr>
        <p:spPr bwMode="auto">
          <a:xfrm>
            <a:off x="847497" y="56518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Комплексная структура проекта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309347674" name="Прямоугольник 6"/>
          <p:cNvSpPr/>
          <p:nvPr/>
        </p:nvSpPr>
        <p:spPr bwMode="auto">
          <a:xfrm>
            <a:off x="0" y="1181590"/>
            <a:ext cx="12201297" cy="168582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pic>
        <p:nvPicPr>
          <p:cNvPr id="1747239641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2988149" y="1979705"/>
            <a:ext cx="8946183" cy="392205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6971306" name="Прямоугольник 9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546962322" name="Прямоугольник 10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840808342" name="Заголовок 1"/>
          <p:cNvSpPr>
            <a:spLocks noGrp="1"/>
          </p:cNvSpPr>
          <p:nvPr>
            <p:ph type="title"/>
          </p:nvPr>
        </p:nvSpPr>
        <p:spPr bwMode="auto">
          <a:xfrm>
            <a:off x="383823" y="-10414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Обзор существующих архитектур</a:t>
            </a:r>
            <a:r>
              <a:rPr lang="en-US">
                <a:solidFill>
                  <a:schemeClr val="bg1"/>
                </a:solidFill>
              </a:rPr>
              <a:t>: AMD</a:t>
            </a:r>
            <a:br>
              <a:rPr lang="en-US">
                <a:solidFill>
                  <a:schemeClr val="bg1"/>
                </a:solidFill>
              </a:rPr>
            </a:br>
            <a:r>
              <a:rPr lang="en-US">
                <a:solidFill>
                  <a:schemeClr val="bg1"/>
                </a:solidFill>
              </a:rPr>
              <a:t>Souther Islands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55359854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383823" y="1350173"/>
            <a:ext cx="3684326" cy="280272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5000" lnSpcReduction="3000"/>
          </a:bodyPr>
          <a:lstStyle/>
          <a:p>
            <a:pPr marL="0" indent="0">
              <a:buFont typeface="Arial"/>
              <a:buNone/>
              <a:defRPr/>
            </a:pPr>
            <a:r>
              <a:rPr lang="ru-RU" sz="2000"/>
              <a:t>Ядро (</a:t>
            </a:r>
            <a:r>
              <a:rPr lang="en-US" sz="2000"/>
              <a:t>CU</a:t>
            </a:r>
            <a:r>
              <a:rPr lang="ru-RU" sz="2000"/>
              <a:t>) содержит</a:t>
            </a:r>
            <a:r>
              <a:rPr lang="en-US" sz="2000"/>
              <a:t>: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en-US" sz="2000"/>
              <a:t>v/sGPR - </a:t>
            </a:r>
            <a:r>
              <a:rPr lang="ru-RU" sz="2000"/>
              <a:t>векторный/скалярный регистровый файл</a:t>
            </a:r>
            <a:r>
              <a:rPr lang="en-US" sz="2000"/>
              <a:t>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en-US" sz="2000"/>
              <a:t>LSU – </a:t>
            </a:r>
            <a:r>
              <a:rPr lang="ru-RU" sz="2000"/>
              <a:t>блок загузки/сохранения</a:t>
            </a:r>
            <a:r>
              <a:rPr lang="en-US" sz="2000"/>
              <a:t>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en-US" sz="2000"/>
              <a:t>vALU – </a:t>
            </a:r>
            <a:r>
              <a:rPr lang="ru-RU" sz="2000"/>
              <a:t>векторное арифметико-логическое устройство</a:t>
            </a:r>
            <a:r>
              <a:rPr lang="en-US" sz="2000"/>
              <a:t> (</a:t>
            </a:r>
            <a:r>
              <a:rPr lang="en-US" sz="2000"/>
              <a:t>INT </a:t>
            </a:r>
            <a:r>
              <a:rPr lang="ru-RU" sz="2000"/>
              <a:t>и </a:t>
            </a:r>
            <a:r>
              <a:rPr lang="en-US" sz="2000"/>
              <a:t>FP</a:t>
            </a:r>
            <a:r>
              <a:rPr lang="en-US" sz="2000"/>
              <a:t>);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ru-RU" sz="2000"/>
              <a:t>Блок получения, декодирования и планирования инструкций</a:t>
            </a:r>
            <a:r>
              <a:rPr lang="ru-RU" sz="2000"/>
              <a:t>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ru-RU" sz="2000"/>
              <a:t>Локальная общая память.</a:t>
            </a:r>
            <a:endParaRPr sz="2000"/>
          </a:p>
        </p:txBody>
      </p:sp>
      <p:sp>
        <p:nvSpPr>
          <p:cNvPr id="768875596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79493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5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1217119807" name="Рисунок 7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152516" y="2208315"/>
            <a:ext cx="7854704" cy="4271176"/>
          </a:xfrm>
          <a:prstGeom prst="rect">
            <a:avLst/>
          </a:prstGeom>
          <a:ln w="1905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151549411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83823" y="4250145"/>
            <a:ext cx="3576543" cy="2229347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5250823" name="Прямоугольник 9"/>
          <p:cNvSpPr/>
          <p:nvPr/>
        </p:nvSpPr>
        <p:spPr bwMode="auto">
          <a:xfrm>
            <a:off x="-9297" y="-10414"/>
            <a:ext cx="12210595" cy="11600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947151901" name="Прямоугольник 10"/>
          <p:cNvSpPr/>
          <p:nvPr/>
        </p:nvSpPr>
        <p:spPr bwMode="auto">
          <a:xfrm>
            <a:off x="0" y="1181590"/>
            <a:ext cx="12201297" cy="168582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800754129" name="Заголовок 1"/>
          <p:cNvSpPr>
            <a:spLocks noGrp="1"/>
          </p:cNvSpPr>
          <p:nvPr>
            <p:ph type="title"/>
          </p:nvPr>
        </p:nvSpPr>
        <p:spPr bwMode="auto">
          <a:xfrm>
            <a:off x="461982" y="-1041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Обзор существующих архитектур</a:t>
            </a:r>
            <a:r>
              <a:rPr lang="en-US">
                <a:solidFill>
                  <a:schemeClr val="bg1"/>
                </a:solidFill>
              </a:rPr>
              <a:t>: NVIDIA</a:t>
            </a:r>
            <a:br>
              <a:rPr>
                <a:solidFill>
                  <a:schemeClr val="bg1"/>
                </a:solidFill>
              </a:rPr>
            </a:br>
            <a:r>
              <a:rPr lang="en-US">
                <a:solidFill>
                  <a:schemeClr val="bg1"/>
                </a:solidFill>
              </a:rPr>
              <a:t>Fermi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566269292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285750" y="1444489"/>
            <a:ext cx="6925649" cy="503500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/>
              <a:t>Общий регистровый файл большого размера для множества ядер;</a:t>
            </a:r>
            <a:endParaRPr lang="ru-RU"/>
          </a:p>
          <a:p>
            <a:pPr>
              <a:defRPr/>
            </a:pPr>
            <a:r>
              <a:rPr lang="ru-RU"/>
              <a:t>Каждому ядру в регистровом файле выделена своя область;</a:t>
            </a:r>
            <a:endParaRPr lang="ru-RU"/>
          </a:p>
          <a:p>
            <a:pPr>
              <a:defRPr/>
            </a:pPr>
            <a:r>
              <a:rPr lang="ru-RU"/>
              <a:t>Каждое ядро </a:t>
            </a:r>
            <a:r>
              <a:rPr lang="en-US"/>
              <a:t>CUDA </a:t>
            </a:r>
            <a:r>
              <a:rPr lang="ru-RU"/>
              <a:t>является однопоточным;</a:t>
            </a:r>
            <a:endParaRPr lang="ru-RU"/>
          </a:p>
          <a:p>
            <a:pPr>
              <a:defRPr/>
            </a:pPr>
            <a:r>
              <a:rPr lang="ru-RU"/>
              <a:t>Каждое ядро содержит вычислительные блоки для </a:t>
            </a:r>
            <a:r>
              <a:rPr lang="en-US"/>
              <a:t>INT </a:t>
            </a:r>
            <a:r>
              <a:rPr lang="ru-RU"/>
              <a:t>и </a:t>
            </a:r>
            <a:r>
              <a:rPr lang="en-US"/>
              <a:t>FP</a:t>
            </a:r>
            <a:r>
              <a:rPr lang="ru-RU"/>
              <a:t>;</a:t>
            </a:r>
            <a:endParaRPr lang="en-US"/>
          </a:p>
          <a:p>
            <a:pPr>
              <a:defRPr/>
            </a:pPr>
            <a:r>
              <a:rPr lang="en-US"/>
              <a:t>SFU – </a:t>
            </a:r>
            <a:r>
              <a:rPr lang="ru-RU"/>
              <a:t>специализированный ускоритель, в частности для тригонометрических функций</a:t>
            </a:r>
            <a:r>
              <a:rPr lang="ru-RU"/>
              <a:t>.</a:t>
            </a:r>
            <a:endParaRPr/>
          </a:p>
        </p:txBody>
      </p:sp>
      <p:sp>
        <p:nvSpPr>
          <p:cNvPr id="473318622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79492"/>
            <a:ext cx="1052507" cy="365124"/>
          </a:xfrm>
        </p:spPr>
        <p:txBody>
          <a:bodyPr/>
          <a:lstStyle/>
          <a:p>
            <a:pPr>
              <a:defRPr/>
            </a:pPr>
            <a:fld id="{4E8A3A8F-0B9D-0C84-2979-0C48658383B8}" type="slidenum">
              <a:rPr lang="ru-RU" sz="1800">
                <a:solidFill>
                  <a:schemeClr val="tx1"/>
                </a:solidFill>
                <a:latin typeface="Trebuchet MS"/>
              </a:rPr>
              <a:t>5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1266386167" name="Рисунок 5"/>
          <p:cNvPicPr>
            <a:picLocks noChangeAspect="1"/>
          </p:cNvPicPr>
          <p:nvPr/>
        </p:nvPicPr>
        <p:blipFill rotWithShape="1">
          <a:blip r:embed="rId3"/>
          <a:srcRect l="0" t="0" r="33408" b="0"/>
          <a:stretch/>
        </p:blipFill>
        <p:spPr bwMode="auto">
          <a:xfrm flipH="0" flipV="0">
            <a:off x="7284603" y="1568869"/>
            <a:ext cx="4326204" cy="4910622"/>
          </a:xfrm>
          <a:prstGeom prst="rect">
            <a:avLst/>
          </a:prstGeom>
          <a:ln w="1905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1574250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-9297" y="1350173"/>
            <a:ext cx="3310846" cy="35993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ru-RU"/>
              <a:t>Набор инструкций взят с дампа промежуточного представления</a:t>
            </a:r>
            <a:r>
              <a:rPr lang="en-US"/>
              <a:t> </a:t>
            </a:r>
            <a:r>
              <a:rPr lang="ru-RU"/>
              <a:t>шейдера </a:t>
            </a:r>
            <a:r>
              <a:rPr lang="ru-RU"/>
              <a:t>из </a:t>
            </a:r>
            <a:r>
              <a:rPr lang="en-US"/>
              <a:t>VKCUBE</a:t>
            </a:r>
            <a:r>
              <a:rPr/>
              <a:t>;</a:t>
            </a:r>
            <a:endParaRPr/>
          </a:p>
          <a:p>
            <a:pPr>
              <a:defRPr/>
            </a:pPr>
            <a:r>
              <a:rPr lang="ru-RU"/>
              <a:t>В качестве основы взята архитектура набора инструкций </a:t>
            </a:r>
            <a:r>
              <a:rPr lang="en-US"/>
              <a:t>RISC-V</a:t>
            </a:r>
            <a:r>
              <a:rPr lang="ru-RU"/>
              <a:t>.</a:t>
            </a:r>
            <a:endParaRPr lang="ru-RU"/>
          </a:p>
        </p:txBody>
      </p:sp>
      <p:sp>
        <p:nvSpPr>
          <p:cNvPr id="1286389898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65512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6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405019113" name="Рисунок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856290" y="4580893"/>
            <a:ext cx="4981510" cy="2094567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  <p:pic>
        <p:nvPicPr>
          <p:cNvPr id="1223278306" name="Рисунок 1421075015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</p:blipFill>
        <p:spPr bwMode="auto">
          <a:xfrm flipH="0" flipV="0">
            <a:off x="9204466" y="1593351"/>
            <a:ext cx="2824299" cy="2035947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579381362" name="Прямоугольник 10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842502536" name="Прямоугольник 11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722072276" name="Заголовок 1"/>
          <p:cNvSpPr>
            <a:spLocks noGrp="1"/>
          </p:cNvSpPr>
          <p:nvPr>
            <p:ph type="title"/>
          </p:nvPr>
        </p:nvSpPr>
        <p:spPr bwMode="auto">
          <a:xfrm>
            <a:off x="387637" y="-116036"/>
            <a:ext cx="11223171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Разработка модели графического ядра: разработка архитектуры набора инструкций </a:t>
            </a:r>
            <a:r>
              <a:rPr lang="en-US">
                <a:solidFill>
                  <a:schemeClr val="bg1"/>
                </a:solidFill>
              </a:rPr>
              <a:t>(ISA)</a:t>
            </a:r>
            <a:endParaRPr lang="ru-RU">
              <a:solidFill>
                <a:schemeClr val="bg1"/>
              </a:solidFill>
            </a:endParaRPr>
          </a:p>
        </p:txBody>
      </p:sp>
      <p:pic>
        <p:nvPicPr>
          <p:cNvPr id="1263729467" name="Рисунок 2"/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 bwMode="auto">
          <a:xfrm flipH="0" flipV="0">
            <a:off x="8265294" y="5237432"/>
            <a:ext cx="3763471" cy="1228079"/>
          </a:xfrm>
          <a:prstGeom prst="rect">
            <a:avLst/>
          </a:prstGeom>
        </p:spPr>
      </p:pic>
      <p:pic>
        <p:nvPicPr>
          <p:cNvPr id="1018873478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3122609" y="1415540"/>
            <a:ext cx="5529106" cy="3009811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  <p:cxnSp>
        <p:nvCxnSpPr>
          <p:cNvPr id="1150155137" name=""/>
          <p:cNvCxnSpPr>
            <a:stCxn id="405019113" idx="3"/>
            <a:endCxn id="1263729467" idx="1"/>
          </p:cNvCxnSpPr>
          <p:nvPr/>
        </p:nvCxnSpPr>
        <p:spPr bwMode="auto">
          <a:xfrm rot="0" flipH="0" flipV="0">
            <a:off x="7837801" y="5628176"/>
            <a:ext cx="427492" cy="223295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3161365" name=""/>
          <p:cNvCxnSpPr>
            <a:stCxn id="405019113" idx="3"/>
            <a:endCxn id="1223278306" idx="2"/>
          </p:cNvCxnSpPr>
          <p:nvPr/>
        </p:nvCxnSpPr>
        <p:spPr bwMode="auto">
          <a:xfrm rot="0" flipH="0" flipV="1">
            <a:off x="7837801" y="3629299"/>
            <a:ext cx="2778814" cy="1998876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0365914" name=""/>
          <p:cNvCxnSpPr>
            <a:stCxn id="1018873478" idx="3"/>
            <a:endCxn id="1223278306" idx="1"/>
          </p:cNvCxnSpPr>
          <p:nvPr/>
        </p:nvCxnSpPr>
        <p:spPr bwMode="auto">
          <a:xfrm rot="0" flipH="0" flipV="1">
            <a:off x="8651715" y="2611325"/>
            <a:ext cx="552751" cy="309120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9810659" name=""/>
          <p:cNvCxnSpPr>
            <a:stCxn id="1018873478" idx="3"/>
            <a:endCxn id="1263729467" idx="0"/>
          </p:cNvCxnSpPr>
          <p:nvPr/>
        </p:nvCxnSpPr>
        <p:spPr bwMode="auto">
          <a:xfrm rot="0" flipH="0" flipV="0">
            <a:off x="8651715" y="2920446"/>
            <a:ext cx="1495314" cy="2316986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7148718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153374" y="1523999"/>
            <a:ext cx="5067299" cy="476249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/>
              <a:t>Fetcher</a:t>
            </a:r>
            <a:r>
              <a:rPr lang="ru-RU"/>
              <a:t> - захватывает инструкцию из памяти;</a:t>
            </a:r>
            <a:endParaRPr/>
          </a:p>
          <a:p>
            <a:pPr>
              <a:defRPr/>
            </a:pPr>
            <a:r>
              <a:rPr lang="en-US"/>
              <a:t>Decoder</a:t>
            </a:r>
            <a:r>
              <a:rPr lang="ru-RU"/>
              <a:t> - декодирует инструкцию, управляет </a:t>
            </a:r>
            <a:r>
              <a:rPr lang="en-US"/>
              <a:t>LSU</a:t>
            </a:r>
            <a:r>
              <a:rPr lang="ru-RU"/>
              <a:t> и </a:t>
            </a:r>
            <a:r>
              <a:rPr lang="en-US"/>
              <a:t>TU</a:t>
            </a:r>
            <a:r>
              <a:rPr lang="ru-RU"/>
              <a:t>;</a:t>
            </a:r>
            <a:endParaRPr/>
          </a:p>
          <a:p>
            <a:pPr>
              <a:defRPr/>
            </a:pPr>
            <a:r>
              <a:rPr lang="en-US"/>
              <a:t>TU</a:t>
            </a:r>
            <a:r>
              <a:rPr lang="ru-RU"/>
              <a:t> </a:t>
            </a:r>
            <a:r>
              <a:rPr lang="ru-RU"/>
              <a:t>– вычислительный блок;</a:t>
            </a:r>
            <a:endParaRPr/>
          </a:p>
          <a:p>
            <a:pPr>
              <a:defRPr/>
            </a:pPr>
            <a:r>
              <a:rPr lang="en-US"/>
              <a:t>LSU -  </a:t>
            </a:r>
            <a:r>
              <a:rPr lang="ru-RU"/>
              <a:t>блок загрузки/сохранения данных</a:t>
            </a:r>
            <a:r>
              <a:rPr lang="ru-RU"/>
              <a:t>;</a:t>
            </a:r>
            <a:endParaRPr/>
          </a:p>
          <a:p>
            <a:pPr>
              <a:defRPr/>
            </a:pPr>
            <a:r>
              <a:rPr lang="en-US"/>
              <a:t>CSR </a:t>
            </a:r>
            <a:r>
              <a:rPr lang="ru-RU"/>
              <a:t>- контрольно-статусные регистры. </a:t>
            </a:r>
            <a:r>
              <a:rPr lang="ru-RU"/>
              <a:t>Содержат статусные и управляющие сигналы связанные с самим графическим ядром;</a:t>
            </a:r>
            <a:endParaRPr lang="ru-RU"/>
          </a:p>
          <a:p>
            <a:pPr>
              <a:defRPr/>
            </a:pPr>
            <a:r>
              <a:rPr lang="en-US"/>
              <a:t>PC – </a:t>
            </a:r>
            <a:r>
              <a:rPr lang="ru-RU"/>
              <a:t>счётчик инструкций</a:t>
            </a:r>
            <a:r>
              <a:rPr lang="ru-RU"/>
              <a:t>.</a:t>
            </a:r>
            <a:endParaRPr lang="en-US"/>
          </a:p>
        </p:txBody>
      </p:sp>
      <p:sp>
        <p:nvSpPr>
          <p:cNvPr id="417506553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78335"/>
            <a:ext cx="1052508" cy="365125"/>
          </a:xfrm>
        </p:spPr>
        <p:txBody>
          <a:bodyPr/>
          <a:lstStyle/>
          <a:p>
            <a:pPr>
              <a:defRPr/>
            </a:pPr>
            <a:fld id="{ED02CFB1-EEA1-CD3C-8AAA-9D8034B9CDE8}" type="slidenum">
              <a:rPr lang="ru-RU" sz="1800">
                <a:solidFill>
                  <a:schemeClr val="tx1"/>
                </a:solidFill>
                <a:latin typeface="Trebuchet MS"/>
              </a:rPr>
              <a:t>7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965651225" name="Прямоугольник 5"/>
          <p:cNvSpPr/>
          <p:nvPr/>
        </p:nvSpPr>
        <p:spPr bwMode="auto">
          <a:xfrm>
            <a:off x="0" y="0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046053022" name="Прямоугольник 6"/>
          <p:cNvSpPr/>
          <p:nvPr/>
        </p:nvSpPr>
        <p:spPr bwMode="auto">
          <a:xfrm>
            <a:off x="9298" y="1192006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080473041" name="Заголовок 1"/>
          <p:cNvSpPr>
            <a:spLocks noGrp="1"/>
          </p:cNvSpPr>
          <p:nvPr>
            <p:ph type="title"/>
          </p:nvPr>
        </p:nvSpPr>
        <p:spPr bwMode="auto">
          <a:xfrm>
            <a:off x="568954" y="0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36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Разработка модели упрощенного графического ядра</a:t>
            </a:r>
            <a:r>
              <a:rPr lang="ru-RU" sz="3600">
                <a:solidFill>
                  <a:schemeClr val="bg1"/>
                </a:solidFill>
              </a:rPr>
              <a:t>: Общая структура ядра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1986150859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695574" y="1406524"/>
            <a:ext cx="5915233" cy="537573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437824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66674" y="1350173"/>
            <a:ext cx="4134825" cy="514270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 sz="1600"/>
              <a:t>Вычислительный </a:t>
            </a:r>
            <a:r>
              <a:rPr lang="ru-RU" sz="1600"/>
              <a:t>блок </a:t>
            </a:r>
            <a:r>
              <a:rPr lang="en-US" sz="1600"/>
              <a:t>(Tread Unit) </a:t>
            </a:r>
            <a:r>
              <a:rPr lang="ru-RU" sz="1600"/>
              <a:t>обрабатывает вещественные и целочисленные данные из регистрового файла</a:t>
            </a:r>
            <a:r>
              <a:rPr lang="ru-RU" sz="1600"/>
              <a:t> (</a:t>
            </a:r>
            <a:r>
              <a:rPr lang="en-US" sz="1600"/>
              <a:t>Regfile</a:t>
            </a:r>
            <a:r>
              <a:rPr lang="ru-RU" sz="1600"/>
              <a:t>) и сохраняет их обратно</a:t>
            </a:r>
            <a:r>
              <a:rPr lang="ru-RU" sz="1600"/>
              <a:t>;</a:t>
            </a:r>
            <a:endParaRPr sz="1600"/>
          </a:p>
          <a:p>
            <a:pPr>
              <a:defRPr/>
            </a:pPr>
            <a:r>
              <a:rPr lang="ru-RU" sz="1600"/>
              <a:t>Основные компоненты: </a:t>
            </a:r>
            <a:endParaRPr sz="1600"/>
          </a:p>
          <a:p>
            <a:pPr lvl="1">
              <a:defRPr/>
            </a:pPr>
            <a:r>
              <a:rPr lang="en-US" sz="1600"/>
              <a:t>FPU – </a:t>
            </a:r>
            <a:r>
              <a:rPr lang="ru-RU" sz="1600"/>
              <a:t>блок операций с плавающей запятой</a:t>
            </a:r>
            <a:r>
              <a:rPr lang="en-US" sz="1600"/>
              <a:t>;</a:t>
            </a:r>
            <a:endParaRPr sz="1600"/>
          </a:p>
          <a:p>
            <a:pPr lvl="1">
              <a:defRPr/>
            </a:pPr>
            <a:r>
              <a:rPr lang="en-US" sz="1600"/>
              <a:t>ALU – </a:t>
            </a:r>
            <a:r>
              <a:rPr lang="ru-RU" sz="1600"/>
              <a:t>целочисленное арифметико-логическое устройство (в основном используется для расчёта адресов и смещений)</a:t>
            </a:r>
            <a:r>
              <a:rPr lang="en-US" sz="1600"/>
              <a:t>;</a:t>
            </a:r>
            <a:endParaRPr sz="1600"/>
          </a:p>
          <a:p>
            <a:pPr lvl="1">
              <a:defRPr/>
            </a:pPr>
            <a:r>
              <a:rPr lang="en-US" sz="1600"/>
              <a:t>Regfile – </a:t>
            </a:r>
            <a:r>
              <a:rPr lang="ru-RU" sz="1600"/>
              <a:t>регистровый файл, хранит операнды и результаты операций. 30 регистров общего назначения, 2 специализированных регистра (индекс вычислительного блока и константный нуль).</a:t>
            </a:r>
            <a:endParaRPr sz="1600"/>
          </a:p>
        </p:txBody>
      </p:sp>
      <p:sp>
        <p:nvSpPr>
          <p:cNvPr id="2080346837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8C44681A-2184-8FE6-7CA2-B2F449D07AD3}" type="slidenum">
              <a:rPr lang="ru-RU" sz="1800">
                <a:solidFill>
                  <a:schemeClr val="tx1"/>
                </a:solidFill>
                <a:latin typeface="Trebuchet MS"/>
              </a:rPr>
              <a:t>8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502716427" name="Прямоугольник 6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364058926" name="Прямоугольник 7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830808074" name="Заголовок 1"/>
          <p:cNvSpPr>
            <a:spLocks noGrp="1"/>
          </p:cNvSpPr>
          <p:nvPr>
            <p:ph type="title"/>
          </p:nvPr>
        </p:nvSpPr>
        <p:spPr bwMode="auto">
          <a:xfrm>
            <a:off x="680319" y="-37878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Разработка вычислительного блока:</a:t>
            </a:r>
            <a:br>
              <a:rPr lang="ru-RU" sz="3600">
                <a:solidFill>
                  <a:schemeClr val="bg1"/>
                </a:solidFill>
              </a:rPr>
            </a:br>
            <a:r>
              <a:rPr lang="ru-RU" sz="3600">
                <a:solidFill>
                  <a:schemeClr val="bg1"/>
                </a:solidFill>
              </a:rPr>
              <a:t>общая структура</a:t>
            </a:r>
            <a:endParaRPr/>
          </a:p>
        </p:txBody>
      </p:sp>
      <p:pic>
        <p:nvPicPr>
          <p:cNvPr id="837484347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207840" y="1443556"/>
            <a:ext cx="5541424" cy="51576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5164572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208734" y="1552574"/>
            <a:ext cx="4736810" cy="494029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/>
              <a:t>Предназначен для передачи данных между внешней памятью и вычислительными блоками;</a:t>
            </a:r>
            <a:endParaRPr/>
          </a:p>
          <a:p>
            <a:pPr>
              <a:defRPr/>
            </a:pPr>
            <a:r>
              <a:rPr lang="ru-RU"/>
              <a:t>Может только загружать</a:t>
            </a:r>
            <a:r>
              <a:rPr lang="en-US"/>
              <a:t> (LOAD)</a:t>
            </a:r>
            <a:r>
              <a:rPr lang="ru-RU"/>
              <a:t> или сохранять</a:t>
            </a:r>
            <a:r>
              <a:rPr lang="en-US"/>
              <a:t> (STORE)</a:t>
            </a:r>
            <a:r>
              <a:rPr lang="ru-RU"/>
              <a:t> данные</a:t>
            </a:r>
            <a:r>
              <a:rPr lang="ru-RU"/>
              <a:t>;</a:t>
            </a:r>
            <a:endParaRPr/>
          </a:p>
          <a:p>
            <a:pPr>
              <a:defRPr/>
            </a:pPr>
            <a:r>
              <a:rPr lang="ru-RU"/>
              <a:t>Работает </a:t>
            </a:r>
            <a:r>
              <a:rPr lang="ru-RU"/>
              <a:t>только при получении </a:t>
            </a:r>
            <a:r>
              <a:rPr lang="en-US"/>
              <a:t>LD/ST </a:t>
            </a:r>
            <a:r>
              <a:rPr lang="ru-RU"/>
              <a:t>инструкции</a:t>
            </a:r>
            <a:r>
              <a:rPr lang="ru-RU"/>
              <a:t>.</a:t>
            </a:r>
            <a:endParaRPr/>
          </a:p>
          <a:p>
            <a:pPr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196414311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3268CEBC-6C76-D4A5-843E-7A9602BB4FE0}" type="slidenum">
              <a:rPr lang="ru-RU" sz="1800">
                <a:solidFill>
                  <a:schemeClr val="tx1"/>
                </a:solidFill>
                <a:latin typeface="Trebuchet MS"/>
              </a:rPr>
              <a:t>9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233898055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1396128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950562802" name="Заголовок 1"/>
          <p:cNvSpPr>
            <a:spLocks noGrp="1"/>
          </p:cNvSpPr>
          <p:nvPr>
            <p:ph type="title"/>
          </p:nvPr>
        </p:nvSpPr>
        <p:spPr bwMode="auto">
          <a:xfrm>
            <a:off x="680319" y="-45985"/>
            <a:ext cx="10515600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Блок загрузки и сохранения</a:t>
            </a:r>
            <a:endParaRPr/>
          </a:p>
        </p:txBody>
      </p:sp>
      <p:pic>
        <p:nvPicPr>
          <p:cNvPr id="1321009105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025438" y="1481884"/>
            <a:ext cx="7175859" cy="50109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074253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0" y="1350173"/>
            <a:ext cx="5668349" cy="550782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/>
              <a:t>Арбитр </a:t>
            </a:r>
            <a:r>
              <a:rPr lang="ru-RU"/>
              <a:t>отслеживает запросы к памяти данных от вычислительных блоков;</a:t>
            </a:r>
            <a:endParaRPr/>
          </a:p>
          <a:p>
            <a:pPr>
              <a:defRPr/>
            </a:pPr>
            <a:r>
              <a:rPr lang="en-US"/>
              <a:t>LSU</a:t>
            </a:r>
            <a:r>
              <a:rPr lang="ru-RU"/>
              <a:t> выполняет запросы в порядке очереди (</a:t>
            </a:r>
            <a:r>
              <a:rPr lang="en-US"/>
              <a:t>round-robin</a:t>
            </a:r>
            <a:r>
              <a:rPr lang="ru-RU"/>
              <a:t>);</a:t>
            </a:r>
            <a:endParaRPr lang="ru-RU"/>
          </a:p>
          <a:p>
            <a:pPr>
              <a:defRPr/>
            </a:pPr>
            <a:r>
              <a:rPr lang="ru-RU" sz="2800" b="0" i="0" u="none" strike="noStrike" cap="none" spc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Арбитр </a:t>
            </a:r>
            <a:r>
              <a:rPr lang="ru-RU" sz="2800" b="0" i="0" u="none" strike="noStrike" cap="none" spc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управляет </a:t>
            </a:r>
            <a:r>
              <a:rPr lang="ru-RU" sz="2800" b="0" i="0" u="none" strike="noStrike" cap="none" spc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демультиплексором считанных данных и мультиплексором записываемых данных.</a:t>
            </a:r>
            <a:endParaRPr/>
          </a:p>
        </p:txBody>
      </p:sp>
      <p:sp>
        <p:nvSpPr>
          <p:cNvPr id="636799432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9687AD8-1A48-903E-417E-81FF292386D7}" type="slidenum">
              <a:rPr lang="ru-RU" sz="1800">
                <a:solidFill>
                  <a:schemeClr val="tx1"/>
                </a:solidFill>
                <a:latin typeface="Trebuchet MS"/>
              </a:rPr>
              <a:t>10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755558817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572303450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173033675" name="Заголовок 1"/>
          <p:cNvSpPr>
            <a:spLocks noGrp="1"/>
          </p:cNvSpPr>
          <p:nvPr>
            <p:ph type="title"/>
          </p:nvPr>
        </p:nvSpPr>
        <p:spPr bwMode="auto">
          <a:xfrm>
            <a:off x="842848" y="-10414"/>
            <a:ext cx="10515600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Интерконнект</a:t>
            </a:r>
            <a:r>
              <a:rPr lang="ru-RU" sz="3600">
                <a:solidFill>
                  <a:schemeClr val="bg1"/>
                </a:solidFill>
              </a:rPr>
              <a:t> между </a:t>
            </a:r>
            <a:r>
              <a:rPr lang="en-US" sz="3600">
                <a:solidFill>
                  <a:schemeClr val="bg1"/>
                </a:solidFill>
              </a:rPr>
              <a:t>LSU </a:t>
            </a:r>
            <a:r>
              <a:rPr lang="ru-RU" sz="3600">
                <a:solidFill>
                  <a:schemeClr val="bg1"/>
                </a:solidFill>
              </a:rPr>
              <a:t>и потоками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827371434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6868500" y="1437959"/>
            <a:ext cx="5268560" cy="523747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690805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77173" y="1350172"/>
            <a:ext cx="4826355" cy="550782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/>
              <a:t>Fetcher – </a:t>
            </a:r>
            <a:r>
              <a:rPr lang="ru-RU"/>
              <a:t>блок загрузки инструкций из памяти программ. Вычитывает инструкцию на которую указывает счётчик инструкций (</a:t>
            </a:r>
            <a:r>
              <a:rPr lang="en-US"/>
              <a:t>PC – program counter</a:t>
            </a:r>
            <a:r>
              <a:rPr lang="ru-RU"/>
              <a:t>);</a:t>
            </a:r>
            <a:endParaRPr/>
          </a:p>
          <a:p>
            <a:pPr>
              <a:defRPr/>
            </a:pPr>
            <a:r>
              <a:rPr lang="en-US"/>
              <a:t>Decoder</a:t>
            </a:r>
            <a:r>
              <a:rPr lang="ru-RU"/>
              <a:t> – преобразование инструкций в </a:t>
            </a:r>
            <a:r>
              <a:rPr lang="ru-RU"/>
              <a:t>управляющие сигналы для исполнительных блоков (</a:t>
            </a:r>
            <a:r>
              <a:rPr lang="en-US"/>
              <a:t>TU, LSU</a:t>
            </a:r>
            <a:r>
              <a:rPr lang="ru-RU"/>
              <a:t>)</a:t>
            </a:r>
            <a:r>
              <a:rPr lang="en-US"/>
              <a:t>.</a:t>
            </a:r>
            <a:endParaRPr/>
          </a:p>
        </p:txBody>
      </p:sp>
      <p:sp>
        <p:nvSpPr>
          <p:cNvPr id="403883129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6E0C4E4E-F03C-EE6B-08CF-E8796A069A1F}" type="slidenum">
              <a:rPr lang="ru-RU" sz="1800">
                <a:solidFill>
                  <a:schemeClr val="tx1"/>
                </a:solidFill>
                <a:latin typeface="Trebuchet MS"/>
              </a:rPr>
              <a:t>11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045862264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978395966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1594046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-10415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3600">
                <a:solidFill>
                  <a:schemeClr val="bg1"/>
                </a:solidFill>
              </a:rPr>
              <a:t>Fetcher &amp; Decoder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1094439899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4996911" y="1396865"/>
            <a:ext cx="6875366" cy="51334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390741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156445" y="1959773"/>
            <a:ext cx="4816578" cy="35993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 sz="1600"/>
              <a:t>В результате работы:</a:t>
            </a:r>
            <a:endParaRPr sz="1600"/>
          </a:p>
          <a:p>
            <a:pPr lvl="1">
              <a:defRPr/>
            </a:pPr>
            <a:r>
              <a:rPr lang="ru-RU" sz="1600"/>
              <a:t>Проведен анализ существующих архитектур графических процессоров и ядер</a:t>
            </a:r>
            <a:r>
              <a:rPr lang="en-US" sz="1600"/>
              <a:t>;</a:t>
            </a:r>
            <a:endParaRPr sz="1600"/>
          </a:p>
          <a:p>
            <a:pPr lvl="1">
              <a:defRPr/>
            </a:pPr>
            <a:r>
              <a:rPr lang="ru-RU" sz="1600"/>
              <a:t>Спроектирована минимально необходимая архитектура набора инструкций </a:t>
            </a:r>
            <a:r>
              <a:rPr lang="en-US" sz="1600"/>
              <a:t>(ISA);</a:t>
            </a:r>
            <a:endParaRPr sz="1600"/>
          </a:p>
          <a:p>
            <a:pPr lvl="1">
              <a:defRPr/>
            </a:pPr>
            <a:r>
              <a:rPr lang="ru-RU" sz="1600"/>
              <a:t>Разработана архитектура упрощенного графического ядра с использованием метода поблочной декомпозиции;</a:t>
            </a:r>
            <a:endParaRPr sz="1600"/>
          </a:p>
          <a:p>
            <a:pPr lvl="1">
              <a:defRPr/>
            </a:pPr>
            <a:r>
              <a:rPr lang="ru-RU" sz="1600"/>
              <a:t>Разработана упрощенная модель графического ядра</a:t>
            </a:r>
            <a:r>
              <a:rPr lang="en-US" sz="1600"/>
              <a:t> </a:t>
            </a:r>
            <a:r>
              <a:rPr lang="ru-RU" sz="1600"/>
              <a:t>на языке описания аппаратуры </a:t>
            </a:r>
            <a:r>
              <a:rPr lang="en-US" sz="1600"/>
              <a:t>SystemVerilog</a:t>
            </a:r>
            <a:r>
              <a:rPr lang="ru-RU" sz="1600"/>
              <a:t>.</a:t>
            </a:r>
            <a:endParaRPr sz="1600"/>
          </a:p>
        </p:txBody>
      </p:sp>
      <p:sp>
        <p:nvSpPr>
          <p:cNvPr id="1461562504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13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2069221344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121685863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957087503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0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Заключение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212939204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952470" y="1438274"/>
            <a:ext cx="7184591" cy="49053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494551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>
              <a:defRPr/>
            </a:pP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Старухин Д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М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 Обзор аналогов 2D графических ускорителей во встроенных системах / И.А. Дудкин, Д.М. Старухин, В.В. Черкасов \/\/ Математика, информационные технологии, приложения : сборник материалов Межвузовской научной конференции «Математика, информационные технологии, приложения» (Воронеж, 24-25 апреля 2025 г.). -- Воронеж : Издательско-полиграфический центр «Научная книга», 2025. -- С.209-216</a:t>
            </a:r>
            <a:endParaRPr sz="4800">
              <a:solidFill>
                <a:schemeClr val="bg1"/>
              </a:solidFill>
              <a:latin typeface="Trebuchet MS"/>
              <a:cs typeface="Trebuchet MS"/>
            </a:endParaRPr>
          </a:p>
          <a:p>
            <a:pPr>
              <a:defRPr/>
            </a:pP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Старухин Д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М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 </a:t>
            </a:r>
            <a:r>
              <a:rPr sz="22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Разработка архитектуры аппаратной реализации 2D графического ускорителя / И.А. Дудкин, Д.М. Старухин, В.В. Черкасов \/\/ Актуальные проблемы прикладной математики, информатики и механики : сборник материалов Международной научной конференции «Актуальные проблемы прикладной математики, информатики и механики» (Воронеж, 1-3 декабря 2025 г.). -- Воронеж : ООО «Издательство Прометей», 2026. -- С.1584-1588.</a:t>
            </a:r>
            <a:br>
              <a:rPr sz="22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</a:br>
            <a:endParaRPr lang="ru-RU">
              <a:solidFill>
                <a:schemeClr val="bg1"/>
              </a:solidFill>
            </a:endParaRPr>
          </a:p>
        </p:txBody>
      </p:sp>
      <p:sp>
        <p:nvSpPr>
          <p:cNvPr id="1688554905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14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596128868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258224964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880460539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1825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Публикация статьи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8860012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>
              <a:defRPr/>
            </a:pPr>
            <a:r>
              <a:rPr sz="24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По результатам текущей работы получен акт о внедрении разработки в деятельность АО «ПКК Миландр» №04-3 от 04.06.2026</a:t>
            </a:r>
            <a:endParaRPr sz="10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sp>
        <p:nvSpPr>
          <p:cNvPr id="591398118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4"/>
            <a:ext cx="1052507" cy="365124"/>
          </a:xfrm>
        </p:spPr>
        <p:txBody>
          <a:bodyPr/>
          <a:lstStyle/>
          <a:p>
            <a:pPr>
              <a:defRPr/>
            </a:pPr>
            <a:fld id="{6737BC9E-E183-A7EE-0C01-BA6DD5EB0490}" type="slidenum">
              <a:rPr lang="ru-RU" sz="1800">
                <a:solidFill>
                  <a:schemeClr val="tx1"/>
                </a:solidFill>
                <a:latin typeface="Trebuchet MS"/>
              </a:rPr>
              <a:t>15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960061280" name="Прямоугольник 4"/>
          <p:cNvSpPr/>
          <p:nvPr/>
        </p:nvSpPr>
        <p:spPr bwMode="auto">
          <a:xfrm>
            <a:off x="-9297" y="-10414"/>
            <a:ext cx="12210595" cy="11600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82881855" name="Прямоугольник 5"/>
          <p:cNvSpPr/>
          <p:nvPr/>
        </p:nvSpPr>
        <p:spPr bwMode="auto">
          <a:xfrm>
            <a:off x="0" y="1181590"/>
            <a:ext cx="12201298" cy="168582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298019095" name="Заголовок 1"/>
          <p:cNvSpPr>
            <a:spLocks noGrp="1"/>
          </p:cNvSpPr>
          <p:nvPr>
            <p:ph type="title"/>
          </p:nvPr>
        </p:nvSpPr>
        <p:spPr bwMode="auto">
          <a:xfrm>
            <a:off x="838199" y="1825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Внедрение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323964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556531881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15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220916765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584964398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476382534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78986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Спасибо за внимание!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ONLYOFFICE/9.4.0.129</Application>
  <PresentationFormat>On-screen Show (4:3)</PresentationFormat>
  <Paragraphs>0</Paragraphs>
  <Slides>17</Slides>
  <Notes>17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упрощенного графического ускорителя. Разработка модели упрощенного графического ядра.</dc:title>
  <dc:creator>Ewencen Sicl</dc:creator>
  <cp:lastModifiedBy/>
  <cp:revision>37</cp:revision>
  <dcterms:created xsi:type="dcterms:W3CDTF">2026-06-01T16:03:18Z</dcterms:created>
  <dcterms:modified xsi:type="dcterms:W3CDTF">2026-06-04T12:53:43Z</dcterms:modified>
</cp:coreProperties>
</file>