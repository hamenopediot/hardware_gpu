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41" r:id="rId1"/>
  </p:sldMasterIdLst>
  <p:notesMasterIdLst>
    <p:notesMasterId r:id="rId20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  <p:sldId id="264" r:id="rId10"/>
    <p:sldId id="271" r:id="rId11"/>
    <p:sldId id="270" r:id="rId12"/>
    <p:sldId id="269" r:id="rId13"/>
    <p:sldId id="268" r:id="rId14"/>
    <p:sldId id="267" r:id="rId15"/>
    <p:sldId id="266" r:id="rId16"/>
    <p:sldId id="273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без заголовка" id="{32170EC4-51B9-485C-8D73-F9F6EDB6E293}">
          <p14:sldIdLst>
            <p14:sldId id="256"/>
            <p14:sldId id="257"/>
            <p14:sldId id="258"/>
            <p14:sldId id="263"/>
            <p14:sldId id="259"/>
            <p14:sldId id="260"/>
            <p14:sldId id="261"/>
            <p14:sldId id="262"/>
            <p14:sldId id="264"/>
            <p14:sldId id="271"/>
            <p14:sldId id="270"/>
            <p14:sldId id="269"/>
            <p14:sldId id="268"/>
            <p14:sldId id="267"/>
            <p14:sldId id="266"/>
            <p14:sldId id="273"/>
            <p14:sldId id="272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863EA"/>
    <a:srgbClr val="0D3B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F8B4CA-290A-45FF-AF47-6D7BC9CA84C9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4505C3-1B66-4F80-910D-E8795C33F3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31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87845-B621-4B17-903D-93BF1A821425}" type="datetime1">
              <a:rPr lang="ru-RU" smtClean="0"/>
              <a:t>01.06.2026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389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1A837A-CDC3-4DC4-B265-8ABB10AE13E8}" type="datetime1">
              <a:rPr lang="ru-RU" smtClean="0"/>
              <a:t>01.06.2026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7446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EA492-B2C1-4654-A294-884459A9115A}" type="datetime1">
              <a:rPr lang="ru-RU" smtClean="0"/>
              <a:t>01.06.2026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4231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C8AC-D59C-4FBB-8E84-366B4D8176D0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672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85BA6-F490-4E1F-A117-2CC302D5F467}" type="datetime1">
              <a:rPr lang="ru-RU" smtClean="0"/>
              <a:t>01.06.2026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9448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ED90D-AFD6-42C1-85C6-CF99FBC4C833}" type="datetime1">
              <a:rPr lang="ru-RU" smtClean="0"/>
              <a:t>01.06.2026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301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0C28E-1AAB-4940-A618-82A4AEEBD04E}" type="datetime1">
              <a:rPr lang="ru-RU" smtClean="0"/>
              <a:t>01.06.2026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448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3F6C0-CC67-46E7-A4C1-44185FCC4C9F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7549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135C7-FEC2-4E72-B7AE-897AE27E5904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403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A2AB-F839-4A44-950B-95EA003533DF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7278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A0CC5-B245-472E-AF57-AEB0B807CF20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0387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B361-7216-413F-80CA-9CAE525DAE41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7414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319CB-0B23-4CFE-96CE-45AA0E5B0BBA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7434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390-CEDD-4FD5-B155-435C15905F75}" type="datetime1">
              <a:rPr lang="ru-RU" smtClean="0"/>
              <a:t>01.06.2026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45434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FF197-965B-4EEB-95A1-0243C61984BC}" type="datetime1">
              <a:rPr lang="ru-RU" smtClean="0"/>
              <a:t>01.06.2026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8511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2CE28-736B-48E2-99ED-0BD52E05726A}" type="datetime1">
              <a:rPr lang="ru-RU" smtClean="0"/>
              <a:t>01.06.2026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65076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D4606681-2AC3-4131-96D3-70EDB21AFA15}" type="datetime1">
              <a:rPr lang="ru-RU" smtClean="0"/>
              <a:t>01.06.2026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412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04B51F-D699-4AE5-A8B3-5473B1D05C3C}" type="datetime1">
              <a:rPr lang="ru-RU" smtClean="0"/>
              <a:t>01.06.2026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4993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2" r:id="rId1"/>
    <p:sldLayoutId id="2147483843" r:id="rId2"/>
    <p:sldLayoutId id="2147483844" r:id="rId3"/>
    <p:sldLayoutId id="2147483845" r:id="rId4"/>
    <p:sldLayoutId id="2147483846" r:id="rId5"/>
    <p:sldLayoutId id="2147483847" r:id="rId6"/>
    <p:sldLayoutId id="2147483848" r:id="rId7"/>
    <p:sldLayoutId id="2147483849" r:id="rId8"/>
    <p:sldLayoutId id="2147483850" r:id="rId9"/>
    <p:sldLayoutId id="2147483851" r:id="rId10"/>
    <p:sldLayoutId id="2147483852" r:id="rId11"/>
    <p:sldLayoutId id="2147483853" r:id="rId12"/>
    <p:sldLayoutId id="2147483854" r:id="rId13"/>
    <p:sldLayoutId id="2147483855" r:id="rId14"/>
    <p:sldLayoutId id="2147483856" r:id="rId15"/>
    <p:sldLayoutId id="2147483857" r:id="rId16"/>
    <p:sldLayoutId id="214748385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790C4-DD15-4D63-B2D8-5D1ED0D102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183" y="2660072"/>
            <a:ext cx="8645236" cy="1427431"/>
          </a:xfrm>
        </p:spPr>
        <p:txBody>
          <a:bodyPr>
            <a:noAutofit/>
          </a:bodyPr>
          <a:lstStyle/>
          <a:p>
            <a:pPr algn="r"/>
            <a:r>
              <a:rPr lang="ru-RU" sz="3200" dirty="0">
                <a:solidFill>
                  <a:srgbClr val="FFFFFF"/>
                </a:solidFill>
              </a:rPr>
              <a:t>Разработка упрощенного графического ускорителя. Разработка модели упрощенного графического ядра.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DC960E5-6F55-44EF-A8F3-08051BBC3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06607" y="5400571"/>
            <a:ext cx="6051236" cy="1241828"/>
          </a:xfrm>
        </p:spPr>
        <p:txBody>
          <a:bodyPr>
            <a:normAutofit fontScale="92500" lnSpcReduction="20000"/>
          </a:bodyPr>
          <a:lstStyle/>
          <a:p>
            <a:pPr algn="r"/>
            <a:r>
              <a:rPr lang="ru-RU" dirty="0">
                <a:solidFill>
                  <a:schemeClr val="bg1"/>
                </a:solidFill>
              </a:rPr>
              <a:t>Воронежский Государственный Университет</a:t>
            </a:r>
          </a:p>
          <a:p>
            <a:pPr algn="r"/>
            <a:r>
              <a:rPr lang="ru-RU" dirty="0">
                <a:solidFill>
                  <a:schemeClr val="bg1"/>
                </a:solidFill>
              </a:rPr>
              <a:t>Сделал: студент 2 курса магистратуры 11 группа Старухин Данила Михайлович</a:t>
            </a:r>
          </a:p>
          <a:p>
            <a:pPr algn="r"/>
            <a:r>
              <a:rPr lang="ru-RU" dirty="0">
                <a:solidFill>
                  <a:schemeClr val="bg1"/>
                </a:solidFill>
              </a:rPr>
              <a:t>Руководитель Авсеева О.В.</a:t>
            </a:r>
          </a:p>
        </p:txBody>
      </p:sp>
    </p:spTree>
    <p:extLst>
      <p:ext uri="{BB962C8B-B14F-4D97-AF65-F5344CB8AC3E}">
        <p14:creationId xmlns:p14="http://schemas.microsoft.com/office/powerpoint/2010/main" val="1374240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171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1284069" cy="3599316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Разработать упрощенную модель графического ядра.</a:t>
            </a:r>
          </a:p>
          <a:p>
            <a:r>
              <a:rPr lang="ru-RU" dirty="0">
                <a:solidFill>
                  <a:schemeClr val="bg1"/>
                </a:solidFill>
              </a:rPr>
              <a:t>Задачи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Провести анализ существующих архитектур графических процессоров и ядер;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Спроектировать минимальную необходимую архитектуру набора инструкций (</a:t>
            </a:r>
            <a:r>
              <a:rPr lang="en-US" dirty="0">
                <a:solidFill>
                  <a:schemeClr val="bg1"/>
                </a:solidFill>
              </a:rPr>
              <a:t>ISA)</a:t>
            </a:r>
            <a:r>
              <a:rPr lang="ru-RU" dirty="0">
                <a:solidFill>
                  <a:schemeClr val="bg1"/>
                </a:solidFill>
              </a:rPr>
              <a:t>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Разработать архитектуру упрощенного графического ядра;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Разработать модель упрощенного графического ядра, используя метод поблочной декомпозиции.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981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14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NVIDIA</a:t>
            </a:r>
            <a:r>
              <a:rPr lang="ru-RU" dirty="0"/>
              <a:t>: </a:t>
            </a:r>
            <a:r>
              <a:rPr lang="en-US" dirty="0"/>
              <a:t>NV30 </a:t>
            </a:r>
            <a:r>
              <a:rPr lang="ru-RU" dirty="0"/>
              <a:t>архитектуры «</a:t>
            </a:r>
            <a:r>
              <a:rPr lang="en-US" dirty="0"/>
              <a:t>Rankine</a:t>
            </a:r>
            <a:r>
              <a:rPr lang="ru-RU" dirty="0"/>
              <a:t>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4414193" cy="3599316"/>
          </a:xfrm>
        </p:spPr>
        <p:txBody>
          <a:bodyPr/>
          <a:lstStyle/>
          <a:p>
            <a:pPr>
              <a:buFontTx/>
              <a:buChar char="-"/>
            </a:pPr>
            <a:r>
              <a:rPr lang="ru-RU" dirty="0">
                <a:solidFill>
                  <a:schemeClr val="bg1"/>
                </a:solidFill>
              </a:rPr>
              <a:t>Нет унифицированных ядер;</a:t>
            </a:r>
          </a:p>
          <a:p>
            <a:pPr>
              <a:buFontTx/>
              <a:buChar char="-"/>
            </a:pPr>
            <a:r>
              <a:rPr lang="ru-RU" dirty="0">
                <a:solidFill>
                  <a:schemeClr val="bg1"/>
                </a:solidFill>
              </a:rPr>
              <a:t>Все основные операции выполняли либо пиксельные шейдеры либо вершинные шейдеры;</a:t>
            </a:r>
          </a:p>
          <a:p>
            <a:pPr>
              <a:buFontTx/>
              <a:buChar char="-"/>
            </a:pPr>
            <a:r>
              <a:rPr lang="ru-RU" dirty="0">
                <a:solidFill>
                  <a:schemeClr val="bg1"/>
                </a:solidFill>
              </a:rPr>
              <a:t>Подобные архитектуры выпускались в чипах до 2006 года.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5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CE5D28-F075-4101-B4E2-DD39C3022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830" y="2336873"/>
            <a:ext cx="3857625" cy="432435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994325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NVIDIA</a:t>
            </a:r>
            <a:r>
              <a:rPr lang="ru-RU" dirty="0"/>
              <a:t>: «</a:t>
            </a:r>
            <a:r>
              <a:rPr lang="en-US" dirty="0"/>
              <a:t>Tesla</a:t>
            </a:r>
            <a:r>
              <a:rPr lang="ru-RU" dirty="0"/>
              <a:t>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4877331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Первая архитектура с унифицированными ядрами</a:t>
            </a:r>
          </a:p>
          <a:p>
            <a:r>
              <a:rPr lang="ru-RU" dirty="0">
                <a:solidFill>
                  <a:schemeClr val="bg1"/>
                </a:solidFill>
              </a:rPr>
              <a:t>Появилась в 2006 году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6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67E11D-973B-4FE9-AE7B-C7DA769153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91" t="-173" r="1241" b="173"/>
          <a:stretch/>
        </p:blipFill>
        <p:spPr>
          <a:xfrm>
            <a:off x="5992925" y="1796520"/>
            <a:ext cx="2131622" cy="478992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5CB1660-1281-4294-938D-CC8EFBAA0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530" y="3736415"/>
            <a:ext cx="4057002" cy="2831398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175806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NVIDIA</a:t>
            </a:r>
            <a:r>
              <a:rPr lang="ru-RU" dirty="0"/>
              <a:t>: «</a:t>
            </a:r>
            <a:r>
              <a:rPr lang="en-US" dirty="0"/>
              <a:t>Fermi</a:t>
            </a:r>
            <a:r>
              <a:rPr lang="ru-RU" dirty="0"/>
              <a:t>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4810434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Первая архитектура с ядрами </a:t>
            </a:r>
            <a:r>
              <a:rPr lang="en-US" dirty="0">
                <a:solidFill>
                  <a:schemeClr val="bg1"/>
                </a:solidFill>
              </a:rPr>
              <a:t>CUDA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(CUDA core)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Ядро состоит из вычислительных элементов для целочисленных и вещественных данных, а также из портов, буферов и минимальной управляющей логикой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7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B753960-648A-4B5B-BE03-27C9847FF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256" y="2300189"/>
            <a:ext cx="4810434" cy="363600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692059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NVIDIA</a:t>
            </a:r>
            <a:r>
              <a:rPr lang="ru-RU" dirty="0"/>
              <a:t>: «</a:t>
            </a:r>
            <a:r>
              <a:rPr lang="en-US" dirty="0"/>
              <a:t>Turing</a:t>
            </a:r>
            <a:r>
              <a:rPr lang="ru-RU" dirty="0"/>
              <a:t>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3671985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Архитектура, на которой основываются последние вышедшие</a:t>
            </a:r>
          </a:p>
          <a:p>
            <a:r>
              <a:rPr lang="ru-RU" dirty="0">
                <a:solidFill>
                  <a:schemeClr val="bg1"/>
                </a:solidFill>
              </a:rPr>
              <a:t>Появилась в 2018 году</a:t>
            </a:r>
          </a:p>
          <a:p>
            <a:r>
              <a:rPr lang="ru-RU" dirty="0">
                <a:solidFill>
                  <a:schemeClr val="bg1"/>
                </a:solidFill>
              </a:rPr>
              <a:t>Первая архитектура с ядрами для вычисления трассировки лучей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8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068E5A-8D83-43C1-B293-439DA33E2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060" y="2202686"/>
            <a:ext cx="4638242" cy="3923347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33F7DBA-BA6A-4AE6-8CB0-DFF3FC894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9087" y="2124681"/>
            <a:ext cx="2356857" cy="402369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9897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ATI/AMD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3440417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Имеющиеся разработки принадлежащие </a:t>
            </a:r>
            <a:r>
              <a:rPr lang="en-US" dirty="0">
                <a:solidFill>
                  <a:schemeClr val="bg1"/>
                </a:solidFill>
              </a:rPr>
              <a:t>AMD</a:t>
            </a:r>
            <a:r>
              <a:rPr lang="ru-RU" dirty="0">
                <a:solidFill>
                  <a:schemeClr val="bg1"/>
                </a:solidFill>
              </a:rPr>
              <a:t> начинаются с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9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ACB5592-2215-44F2-BD26-D84309A3B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225" y="2345831"/>
            <a:ext cx="7724775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03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ATI/AMD</a:t>
            </a:r>
            <a:r>
              <a:rPr lang="ru-RU" dirty="0"/>
              <a:t>: </a:t>
            </a:r>
            <a:r>
              <a:rPr lang="en-US" dirty="0" err="1"/>
              <a:t>TeraScale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5245466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Первая архитектура применившая унифицированную </a:t>
            </a:r>
            <a:r>
              <a:rPr lang="ru-RU" dirty="0" err="1">
                <a:solidFill>
                  <a:schemeClr val="bg1"/>
                </a:solidFill>
              </a:rPr>
              <a:t>шейдерную</a:t>
            </a:r>
            <a:r>
              <a:rPr lang="ru-RU" dirty="0">
                <a:solidFill>
                  <a:schemeClr val="bg1"/>
                </a:solidFill>
              </a:rPr>
              <a:t> архитектуру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18C07D4-0BB3-4EC7-B0F6-59E1135A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844" y="3625193"/>
            <a:ext cx="4283471" cy="3000015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933DBE-C3DA-41B6-855C-BE8283426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85" y="3625193"/>
            <a:ext cx="5410138" cy="300859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100695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ATI/AMD</a:t>
            </a:r>
            <a:r>
              <a:rPr lang="ru-RU" dirty="0"/>
              <a:t>: </a:t>
            </a:r>
            <a:r>
              <a:rPr lang="en-US" dirty="0"/>
              <a:t>GCN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4990147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Первая архитектура, в которой было принят о понятие</a:t>
            </a:r>
            <a:r>
              <a:rPr lang="en-US" dirty="0">
                <a:solidFill>
                  <a:schemeClr val="bg1"/>
                </a:solidFill>
              </a:rPr>
              <a:t> Compute Unit (</a:t>
            </a:r>
            <a:r>
              <a:rPr lang="ru-RU" dirty="0">
                <a:solidFill>
                  <a:schemeClr val="bg1"/>
                </a:solidFill>
              </a:rPr>
              <a:t>Вычислительная единица</a:t>
            </a:r>
          </a:p>
          <a:p>
            <a:r>
              <a:rPr lang="ru-RU" dirty="0">
                <a:solidFill>
                  <a:schemeClr val="bg1"/>
                </a:solidFill>
              </a:rPr>
              <a:t>В каждой вычислительной единице есть по 4 </a:t>
            </a:r>
            <a:r>
              <a:rPr lang="en-US" dirty="0">
                <a:solidFill>
                  <a:schemeClr val="bg1"/>
                </a:solidFill>
              </a:rPr>
              <a:t>SIMD-</a:t>
            </a:r>
            <a:r>
              <a:rPr lang="ru-RU" dirty="0">
                <a:solidFill>
                  <a:schemeClr val="bg1"/>
                </a:solidFill>
              </a:rPr>
              <a:t>конвейера для вычислений</a:t>
            </a:r>
          </a:p>
          <a:p>
            <a:r>
              <a:rPr lang="ru-RU" dirty="0">
                <a:solidFill>
                  <a:schemeClr val="bg1"/>
                </a:solidFill>
              </a:rPr>
              <a:t>Появились понятия </a:t>
            </a:r>
            <a:r>
              <a:rPr lang="en-US" dirty="0">
                <a:solidFill>
                  <a:schemeClr val="bg1"/>
                </a:solidFill>
              </a:rPr>
              <a:t>work-item, work group, </a:t>
            </a:r>
            <a:r>
              <a:rPr lang="en-US" dirty="0" err="1">
                <a:solidFill>
                  <a:schemeClr val="bg1"/>
                </a:solidFill>
              </a:rPr>
              <a:t>wavefront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11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3995D79-2E05-4F3A-8291-EF4FE586F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182" y="2540985"/>
            <a:ext cx="5868424" cy="3191091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831405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 графических процессоров </a:t>
            </a:r>
            <a:r>
              <a:rPr lang="en-US" dirty="0"/>
              <a:t>ATI/AMD</a:t>
            </a:r>
            <a:r>
              <a:rPr lang="ru-RU" dirty="0"/>
              <a:t>: </a:t>
            </a:r>
            <a:r>
              <a:rPr lang="en-US" dirty="0"/>
              <a:t>RDNA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4188562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Модернизация и ускорение архитектуры </a:t>
            </a:r>
            <a:r>
              <a:rPr lang="en-US" dirty="0">
                <a:solidFill>
                  <a:schemeClr val="bg1"/>
                </a:solidFill>
              </a:rPr>
              <a:t>GCN</a:t>
            </a:r>
          </a:p>
          <a:p>
            <a:r>
              <a:rPr lang="ru-RU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 CU = 1 </a:t>
            </a:r>
            <a:r>
              <a:rPr lang="en-US" dirty="0" err="1">
                <a:solidFill>
                  <a:schemeClr val="bg1"/>
                </a:solidFill>
              </a:rPr>
              <a:t>Wavefront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12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69C9E6-2A8C-4A74-88D6-A3D436B01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227" y="2287238"/>
            <a:ext cx="7724775" cy="407670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755208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Разработка модели графического ядра: разработка архитектуры набора инструкций </a:t>
            </a:r>
            <a:r>
              <a:rPr lang="en-US" dirty="0"/>
              <a:t>(ISA)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759" y="2336873"/>
            <a:ext cx="3996046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Минимально необходимый набор инструкций взят с дампа промежуточного представления</a:t>
            </a:r>
            <a:r>
              <a:rPr lang="en-US" dirty="0">
                <a:solidFill>
                  <a:schemeClr val="bg1"/>
                </a:solidFill>
              </a:rPr>
              <a:t> VKCUBE</a:t>
            </a:r>
          </a:p>
          <a:p>
            <a:r>
              <a:rPr lang="ru-RU" dirty="0">
                <a:solidFill>
                  <a:schemeClr val="bg1"/>
                </a:solidFill>
              </a:rPr>
              <a:t>В качестве референса взят архитектура набора инструкций </a:t>
            </a:r>
            <a:r>
              <a:rPr lang="en-US" dirty="0">
                <a:solidFill>
                  <a:schemeClr val="bg1"/>
                </a:solidFill>
              </a:rPr>
              <a:t>RISC-V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13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994352C-7565-42CF-B773-C2E72D25B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955" y="2144384"/>
            <a:ext cx="5612017" cy="235967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9638E03-BDC4-4EB2-A990-27DD6A471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955" y="4645655"/>
            <a:ext cx="5612017" cy="205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663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Темплейт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28775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Темплейт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9448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1753144" cy="3599316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В результате работы: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Проведен анализ существующих архитектур графических процессоров и ядер</a:t>
            </a:r>
            <a:r>
              <a:rPr lang="en-US" dirty="0">
                <a:solidFill>
                  <a:schemeClr val="bg1"/>
                </a:solidFill>
              </a:rPr>
              <a:t>;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Спроектирована минимально необходимая архитектура набора инструкций </a:t>
            </a:r>
            <a:r>
              <a:rPr lang="en-US" dirty="0">
                <a:solidFill>
                  <a:schemeClr val="bg1"/>
                </a:solidFill>
              </a:rPr>
              <a:t>(ISA);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Разработана архитектура упрощенного графического ядра;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Разработана архитектура упрощенного графического ядра с использованием метода поблочной декомпозиции;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Разработана упрощенная модель графического ядра.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2578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Публикация статьи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7262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77E59-FBD9-4D6E-A374-69012153E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DDF41-F17B-4059-9B82-487F3DF60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B0A502-49B1-4569-83DE-376801C89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8DEEF-AAF2-493E-906B-C0B6A8D6E6A2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7737842"/>
      </p:ext>
    </p:extLst>
  </p:cSld>
  <p:clrMapOvr>
    <a:masterClrMapping/>
  </p:clrMapOvr>
</p:sld>
</file>

<file path=ppt/theme/theme1.xml><?xml version="1.0" encoding="utf-8"?>
<a:theme xmlns:a="http://schemas.openxmlformats.org/drawingml/2006/main" name="Берлин">
  <a:themeElements>
    <a:clrScheme name="Синий и зеленый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Берлин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Берлин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109</TotalTime>
  <Words>382</Words>
  <Application>Microsoft Office PowerPoint</Application>
  <PresentationFormat>Широкоэкранный</PresentationFormat>
  <Paragraphs>70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Trebuchet MS</vt:lpstr>
      <vt:lpstr>Берлин</vt:lpstr>
      <vt:lpstr>Разработка упрощенного графического ускорителя. Разработка модели упрощенного графического ядра.</vt:lpstr>
      <vt:lpstr>Введение</vt:lpstr>
      <vt:lpstr>Постановка задачи</vt:lpstr>
      <vt:lpstr>Актуальность работы</vt:lpstr>
      <vt:lpstr>Архитектура  графических процессоров NVIDIA: NV30 архитектуры «Rankine»</vt:lpstr>
      <vt:lpstr>Архитектура  графических процессоров NVIDIA: «Tesla»</vt:lpstr>
      <vt:lpstr>Архитектура  графических процессоров NVIDIA: «Fermi»</vt:lpstr>
      <vt:lpstr>Архитектура  графических процессоров NVIDIA: «Turing»</vt:lpstr>
      <vt:lpstr>Архитектура  графических процессоров ATI/AMD</vt:lpstr>
      <vt:lpstr>Архитектура  графических процессоров ATI/AMD: TeraScale</vt:lpstr>
      <vt:lpstr>Архитектура  графических процессоров ATI/AMD: GCN</vt:lpstr>
      <vt:lpstr>Архитектура  графических процессоров ATI/AMD: RDNA</vt:lpstr>
      <vt:lpstr>Разработка модели графического ядра: разработка архитектуры набора инструкций (ISA)</vt:lpstr>
      <vt:lpstr>Темплейт</vt:lpstr>
      <vt:lpstr>Темплейт</vt:lpstr>
      <vt:lpstr>Заключение</vt:lpstr>
      <vt:lpstr>Публикация статьи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>Ewencen Sicl</cp:lastModifiedBy>
  <cp:revision>15</cp:revision>
  <dcterms:created xsi:type="dcterms:W3CDTF">2026-06-01T16:03:18Z</dcterms:created>
  <dcterms:modified xsi:type="dcterms:W3CDTF">2026-06-01T18:32:49Z</dcterms:modified>
</cp:coreProperties>
</file>