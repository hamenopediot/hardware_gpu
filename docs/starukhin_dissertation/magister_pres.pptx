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2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4" d="100"/>
          <a:sy n="154" d="100"/>
        </p:scale>
        <p:origin x="534" y="108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8152317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12979661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BF8B4CA-290A-45FF-AF47-6D7BC9CA84C9}" type="datetimeFigureOut">
              <a:rPr lang="ru-RU"/>
              <a:t>02.06.2026</a:t>
            </a:fld>
            <a:endParaRPr lang="ru-RU"/>
          </a:p>
        </p:txBody>
      </p:sp>
      <p:sp>
        <p:nvSpPr>
          <p:cNvPr id="57264332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41142498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35327804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77181526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A4505C3-1B66-4F80-910D-E8795C33F31E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85120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73065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4626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993D39-5D40-723A-B7F6-46DBB08A9A62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5213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8792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447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F5C7D0-D7BE-2C63-050F-1DAFA286B6D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36559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66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685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0EB7B1-6B7D-5CE5-D95F-5ED0A723250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4833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59025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51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55F3D9-BDFF-EDB5-6FC0-3B806BA109F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8390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84516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020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68EC4-D344-67C3-1C24-CF724D34C290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27927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98076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99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FCB82-4ABC-C1C4-5E79-18F3785DD755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930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3962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9714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A0886C-666E-9836-41C4-83E600BD9668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71028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4629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789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902816-76A5-4AF4-1E9E-ABAE37AB74E6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612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7030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497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DD143-F230-8BE5-DF47-2F712C202B39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56824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3031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3981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8E094-64B7-2766-BCC3-6C48145F116B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616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23958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219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B0B4-A097-EC80-6511-5CB349CFD099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62925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06729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0271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E7883-973B-878E-357F-41AA8BFE454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4707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4097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385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9BC998-3455-E361-253C-3B87DD69CA9D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77228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7924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4802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3C25AB-F75B-ED55-9B43-2E895322D2B6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02944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2437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5924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3B1206-5BC8-D1E1-57C3-7D177AE62E15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00770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7119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4093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8C1104-84A8-CC17-258A-A96B99F9A95E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3904706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09674366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54459049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64E949B-752F-4A71-A243-047E6613A32E}" type="datetime1">
              <a:rPr lang="ru-RU"/>
              <a:t>02.06.2026</a:t>
            </a:fld>
            <a:endParaRPr lang="ru-RU"/>
          </a:p>
        </p:txBody>
      </p:sp>
      <p:sp>
        <p:nvSpPr>
          <p:cNvPr id="1521061760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80985378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392833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8231810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7750036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B2D18A6-5519-416E-A160-669FC8C75E20}" type="datetime1">
              <a:rPr lang="ru-RU"/>
              <a:t>02.06.2026</a:t>
            </a:fld>
            <a:endParaRPr lang="ru-RU"/>
          </a:p>
        </p:txBody>
      </p:sp>
      <p:sp>
        <p:nvSpPr>
          <p:cNvPr id="980377293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21216910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7106336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494520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27008943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FDFF63E-A7E5-4C7D-A2C9-DA69D5675040}" type="datetime1">
              <a:rPr lang="ru-RU"/>
              <a:t>02.06.2026</a:t>
            </a:fld>
            <a:endParaRPr lang="ru-RU"/>
          </a:p>
        </p:txBody>
      </p:sp>
      <p:sp>
        <p:nvSpPr>
          <p:cNvPr id="522681240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71079241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704724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5415618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742414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8932297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4CDE6-6F92-4C74-BFB3-7167DEA2EA4E}" type="datetime1">
              <a:rPr lang="ru-RU"/>
              <a:t>02.06.2026</a:t>
            </a:fld>
            <a:endParaRPr lang="ru-RU"/>
          </a:p>
        </p:txBody>
      </p:sp>
      <p:sp>
        <p:nvSpPr>
          <p:cNvPr id="411817434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51211392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806280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6408585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03151593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68117293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0257259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70180719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9B7B28A-94DD-44EC-83BF-F9E9490C49B9}" type="datetime1">
              <a:rPr lang="ru-RU"/>
              <a:t>02.06.2026</a:t>
            </a:fld>
            <a:endParaRPr lang="ru-RU"/>
          </a:p>
        </p:txBody>
      </p:sp>
      <p:sp>
        <p:nvSpPr>
          <p:cNvPr id="58802942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70260028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11141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44901511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9CBEF87-A1CE-4AD3-B312-24E4060B669E}" type="datetime1">
              <a:rPr lang="ru-RU"/>
              <a:t>02.06.2026</a:t>
            </a:fld>
            <a:endParaRPr lang="ru-RU"/>
          </a:p>
        </p:txBody>
      </p:sp>
      <p:sp>
        <p:nvSpPr>
          <p:cNvPr id="1294565240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66437444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2438151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1A3597E-B3B5-450E-90FE-FB59F904A164}" type="datetime1">
              <a:rPr lang="ru-RU"/>
              <a:t>02.06.2026</a:t>
            </a:fld>
            <a:endParaRPr lang="ru-RU"/>
          </a:p>
        </p:txBody>
      </p:sp>
      <p:sp>
        <p:nvSpPr>
          <p:cNvPr id="1786187567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79664793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453477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9162668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81632213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5443216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C926F4-5876-4D6C-B300-7031A7F64CBB}" type="datetime1">
              <a:rPr lang="ru-RU"/>
              <a:t>02.06.2026</a:t>
            </a:fld>
            <a:endParaRPr lang="ru-RU"/>
          </a:p>
        </p:txBody>
      </p:sp>
      <p:sp>
        <p:nvSpPr>
          <p:cNvPr id="1245247655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07926881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78435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0316039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32825717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739011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C357E52-6772-44D2-9B1A-046730665B12}" type="datetime1">
              <a:rPr lang="ru-RU"/>
              <a:t>02.06.2026</a:t>
            </a:fld>
            <a:endParaRPr lang="ru-RU"/>
          </a:p>
        </p:txBody>
      </p:sp>
      <p:sp>
        <p:nvSpPr>
          <p:cNvPr id="1064684142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9588077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405689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12398309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79144038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5CB82E-191B-43B0-A738-8B9909F88B35}" type="datetime1">
              <a:rPr lang="ru-RU"/>
              <a:t>02.06.2026</a:t>
            </a:fld>
            <a:endParaRPr lang="ru-RU"/>
          </a:p>
        </p:txBody>
      </p:sp>
      <p:sp>
        <p:nvSpPr>
          <p:cNvPr id="452512991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42403309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768297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01067690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0875360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730D1F9-634A-465B-B25E-CF53749F388C}" type="datetime1">
              <a:rPr lang="ru-RU"/>
              <a:t>02.06.2026</a:t>
            </a:fld>
            <a:endParaRPr lang="ru-RU"/>
          </a:p>
        </p:txBody>
      </p:sp>
      <p:sp>
        <p:nvSpPr>
          <p:cNvPr id="1485421111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26836088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1_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3881619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2096148953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1753135736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28288481" name="Rectangle 9"/>
          <p:cNvSpPr/>
          <p:nvPr/>
        </p:nvSpPr>
        <p:spPr bwMode="auto"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62622277" name="Title 1"/>
          <p:cNvSpPr>
            <a:spLocks noGrp="1"/>
          </p:cNvSpPr>
          <p:nvPr>
            <p:ph type="ctrTitle"/>
          </p:nvPr>
        </p:nvSpPr>
        <p:spPr bwMode="auto"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95641195" name="Subtitle 2"/>
          <p:cNvSpPr>
            <a:spLocks noGrp="1"/>
          </p:cNvSpPr>
          <p:nvPr>
            <p:ph type="subTitle" idx="1"/>
          </p:nvPr>
        </p:nvSpPr>
        <p:spPr bwMode="auto"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13558324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2D43468-8071-4A79-9713-FA03F2A56FC7}" type="datetime1">
              <a:rPr lang="ru-RU"/>
              <a:t>02.06.2026</a:t>
            </a:fld>
            <a:endParaRPr lang="ru-RU"/>
          </a:p>
        </p:txBody>
      </p:sp>
      <p:sp>
        <p:nvSpPr>
          <p:cNvPr id="1947650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89313679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1_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05243473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117509437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476421852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25487788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730597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764121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48900460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AAA47A0-2EBA-44E2-BFE5-02832F0BA229}" type="datetime1">
              <a:rPr lang="ru-RU"/>
              <a:t>02.06.2026</a:t>
            </a:fld>
            <a:endParaRPr lang="ru-RU"/>
          </a:p>
        </p:txBody>
      </p:sp>
      <p:sp>
        <p:nvSpPr>
          <p:cNvPr id="151825938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0075193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1_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90036656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1" y="4086906"/>
            <a:ext cx="10437812" cy="321164"/>
          </a:xfrm>
          <a:prstGeom prst="rect">
            <a:avLst/>
          </a:prstGeom>
        </p:spPr>
      </p:pic>
      <p:pic>
        <p:nvPicPr>
          <p:cNvPr id="414040480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1894440177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50471797" name="Rectangle 9"/>
          <p:cNvSpPr/>
          <p:nvPr/>
        </p:nvSpPr>
        <p:spPr bwMode="auto"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75870215" name="Title 1"/>
          <p:cNvSpPr>
            <a:spLocks noGrp="1"/>
          </p:cNvSpPr>
          <p:nvPr>
            <p:ph type="title"/>
          </p:nvPr>
        </p:nvSpPr>
        <p:spPr bwMode="auto"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90693165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93073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E3FDA68-1834-4C1F-B2CC-B0A0766ED8A5}" type="datetime1">
              <a:rPr lang="ru-RU"/>
              <a:t>02.06.2026</a:t>
            </a:fld>
            <a:endParaRPr lang="ru-RU"/>
          </a:p>
        </p:txBody>
      </p:sp>
      <p:sp>
        <p:nvSpPr>
          <p:cNvPr id="21032695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99869823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1_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36653382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336124619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85293963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34793917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0255872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11595414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0319" y="2336873"/>
            <a:ext cx="46983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7627984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594123" y="2336873"/>
            <a:ext cx="47000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48367605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303EE3-BBFB-41F4-B1FB-4E4CF27ED9D2}" type="datetime1">
              <a:rPr lang="ru-RU"/>
              <a:t>02.06.2026</a:t>
            </a:fld>
            <a:endParaRPr lang="ru-RU"/>
          </a:p>
        </p:txBody>
      </p:sp>
      <p:sp>
        <p:nvSpPr>
          <p:cNvPr id="205701904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2149656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1_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3982463" name="Picture 9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132784423" name="Picture 10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364870304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42537531" name="Rectangle 12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93629978" name="Title 1"/>
          <p:cNvSpPr>
            <a:spLocks noGrp="1"/>
          </p:cNvSpPr>
          <p:nvPr>
            <p:ph type="title"/>
          </p:nvPr>
        </p:nvSpPr>
        <p:spPr bwMode="auto">
          <a:xfrm>
            <a:off x="680319" y="753229"/>
            <a:ext cx="9613863" cy="1080937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10565071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06349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19098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0322" y="3030008"/>
            <a:ext cx="4698355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57252147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4014668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594123" y="3030008"/>
            <a:ext cx="4700059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7253984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96D59AE-5854-4542-9FF1-1EC4E5A530D5}" type="datetime1">
              <a:rPr lang="ru-RU"/>
              <a:t>02.06.2026</a:t>
            </a:fld>
            <a:endParaRPr lang="ru-RU"/>
          </a:p>
        </p:txBody>
      </p:sp>
      <p:sp>
        <p:nvSpPr>
          <p:cNvPr id="117456109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6946178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1_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1131006" name="Picture 5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7008073" name="Picture 6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63575175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87585037" name="Rectangle 8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603654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8489585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C785264-56B0-460E-A2C2-C886D7CC0782}" type="datetime1">
              <a:rPr lang="ru-RU"/>
              <a:t>02.06.2026</a:t>
            </a:fld>
            <a:endParaRPr lang="ru-RU"/>
          </a:p>
        </p:txBody>
      </p:sp>
      <p:sp>
        <p:nvSpPr>
          <p:cNvPr id="201513812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5607365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1_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32825376" name="Picture 4" descr="HD-ShadowShort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34569681" name="Rectangle 5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6818246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AAA0283-F641-48C8-BAB7-8AC6BD361923}" type="datetime1">
              <a:rPr lang="ru-RU"/>
              <a:t>02.06.2026</a:t>
            </a:fld>
            <a:endParaRPr lang="ru-RU"/>
          </a:p>
        </p:txBody>
      </p:sp>
      <p:sp>
        <p:nvSpPr>
          <p:cNvPr id="683034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1093483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1_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81114685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305940265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62860586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56307066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76910892" name="Title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7148380" name="Content Placeholder 2"/>
          <p:cNvSpPr>
            <a:spLocks noGrp="1"/>
          </p:cNvSpPr>
          <p:nvPr>
            <p:ph idx="1"/>
          </p:nvPr>
        </p:nvSpPr>
        <p:spPr bwMode="auto">
          <a:xfrm>
            <a:off x="4685846" y="2336873"/>
            <a:ext cx="5608336" cy="3599313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27581182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261545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10133D-16A4-41F1-B8F2-C1B694F00730}" type="datetime1">
              <a:rPr lang="ru-RU"/>
              <a:t>02.06.2026</a:t>
            </a:fld>
            <a:endParaRPr lang="ru-RU"/>
          </a:p>
        </p:txBody>
      </p:sp>
      <p:sp>
        <p:nvSpPr>
          <p:cNvPr id="45748042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13930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1_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20974376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65015418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44822259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21772991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21355218" name="Title 1"/>
          <p:cNvSpPr>
            <a:spLocks noGrp="1"/>
          </p:cNvSpPr>
          <p:nvPr>
            <p:ph type="title"/>
          </p:nvPr>
        </p:nvSpPr>
        <p:spPr bwMode="auto">
          <a:xfrm>
            <a:off x="680323" y="753227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6978662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4868332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92745787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166817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65D9257-9E03-404F-95EE-486F8868E3F2}" type="datetime1">
              <a:rPr lang="ru-RU"/>
              <a:t>02.06.2026</a:t>
            </a:fld>
            <a:endParaRPr lang="ru-RU"/>
          </a:p>
        </p:txBody>
      </p:sp>
      <p:sp>
        <p:nvSpPr>
          <p:cNvPr id="123820557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091199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анорамная фотография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93462766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209567020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664785485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97152369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66735379" name="Title 1"/>
          <p:cNvSpPr>
            <a:spLocks noGrp="1"/>
          </p:cNvSpPr>
          <p:nvPr>
            <p:ph type="title"/>
          </p:nvPr>
        </p:nvSpPr>
        <p:spPr bwMode="auto"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17445502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680322" y="609597"/>
            <a:ext cx="9613859" cy="3589574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30183720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2959842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6571D8-6559-4269-B7BA-EACD5F8873B8}" type="datetime1">
              <a:rPr lang="ru-RU"/>
              <a:t>02.06.2026</a:t>
            </a:fld>
            <a:endParaRPr lang="ru-RU"/>
          </a:p>
        </p:txBody>
      </p:sp>
      <p:sp>
        <p:nvSpPr>
          <p:cNvPr id="35625162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95778713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подпис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88989531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483064988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783222804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80693280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23822411" name="Title 1"/>
          <p:cNvSpPr>
            <a:spLocks noGrp="1"/>
          </p:cNvSpPr>
          <p:nvPr>
            <p:ph type="title"/>
          </p:nvPr>
        </p:nvSpPr>
        <p:spPr bwMode="auto"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68374558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262645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52607F1-4CB0-4741-B752-77795AAFB6CE}" type="datetime1">
              <a:rPr lang="ru-RU"/>
              <a:t>02.06.2026</a:t>
            </a:fld>
            <a:endParaRPr lang="ru-RU"/>
          </a:p>
        </p:txBody>
      </p:sp>
      <p:sp>
        <p:nvSpPr>
          <p:cNvPr id="200523767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39142324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Цитата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0351157" name="Picture 10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16622883" name="Picture 12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926575259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11358285" name="Rectangle 14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03654178" name="Title 1"/>
          <p:cNvSpPr>
            <a:spLocks noGrp="1"/>
          </p:cNvSpPr>
          <p:nvPr>
            <p:ph type="title"/>
          </p:nvPr>
        </p:nvSpPr>
        <p:spPr bwMode="auto"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49657302" name="Text Placeholder 3"/>
          <p:cNvSpPr>
            <a:spLocks noGrp="1"/>
          </p:cNvSpPr>
          <p:nvPr>
            <p:ph type="body" sz="half" idx="13"/>
          </p:nvPr>
        </p:nvSpPr>
        <p:spPr bwMode="auto"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4788782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201700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D0F2E69-AF6B-4D0C-824F-3DADD254BF95}" type="datetime1">
              <a:rPr lang="ru-RU"/>
              <a:t>02.06.2026</a:t>
            </a:fld>
            <a:endParaRPr lang="ru-RU"/>
          </a:p>
        </p:txBody>
      </p:sp>
      <p:sp>
        <p:nvSpPr>
          <p:cNvPr id="131764828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02095456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  <p:sp>
        <p:nvSpPr>
          <p:cNvPr id="1842168149" name="TextBox 15"/>
          <p:cNvSpPr txBox="1"/>
          <p:nvPr/>
        </p:nvSpPr>
        <p:spPr bwMode="auto">
          <a:xfrm>
            <a:off x="583572" y="748116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72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1818684327" name="TextBox 16"/>
          <p:cNvSpPr txBox="1"/>
          <p:nvPr/>
        </p:nvSpPr>
        <p:spPr bwMode="auto">
          <a:xfrm>
            <a:off x="9662809" y="3033524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7200">
                <a:solidFill>
                  <a:schemeClr val="tx1"/>
                </a:solidFill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арточка имен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1661447" name="Picture 8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2107729278" name="Picture 9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3759118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01274993" name="Rectangle 11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33842903" name="Title 1"/>
          <p:cNvSpPr>
            <a:spLocks noGrp="1"/>
          </p:cNvSpPr>
          <p:nvPr>
            <p:ph type="title"/>
          </p:nvPr>
        </p:nvSpPr>
        <p:spPr bwMode="auto"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9373679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4491524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B61B190-EA0F-465A-8B4C-40AE0FF8CD42}" type="datetime1">
              <a:rPr lang="ru-RU"/>
              <a:t>02.06.2026</a:t>
            </a:fld>
            <a:endParaRPr lang="ru-RU"/>
          </a:p>
        </p:txBody>
      </p:sp>
      <p:sp>
        <p:nvSpPr>
          <p:cNvPr id="83069675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68949684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ри колонк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54865384" name="Picture 12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06463127" name="Picture 13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74890538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52365648" name="Rectangle 16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2696837" name="Title 1"/>
          <p:cNvSpPr>
            <a:spLocks noGrp="1"/>
          </p:cNvSpPr>
          <p:nvPr>
            <p:ph type="title"/>
          </p:nvPr>
        </p:nvSpPr>
        <p:spPr bwMode="auto">
          <a:xfrm>
            <a:off x="669222" y="753227"/>
            <a:ext cx="96249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3575355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8445988" name="Text Placeholder 3"/>
          <p:cNvSpPr>
            <a:spLocks noGrp="1"/>
          </p:cNvSpPr>
          <p:nvPr>
            <p:ph type="body" sz="half" idx="15"/>
          </p:nvPr>
        </p:nvSpPr>
        <p:spPr bwMode="auto"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991051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3152476" name="Text Placeholder 3"/>
          <p:cNvSpPr>
            <a:spLocks noGrp="1"/>
          </p:cNvSpPr>
          <p:nvPr>
            <p:ph type="body" sz="half" idx="16"/>
          </p:nvPr>
        </p:nvSpPr>
        <p:spPr bwMode="auto"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99513800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93788033" name="Text Placeholder 3"/>
          <p:cNvSpPr>
            <a:spLocks noGrp="1"/>
          </p:cNvSpPr>
          <p:nvPr>
            <p:ph type="body" sz="half" idx="17"/>
          </p:nvPr>
        </p:nvSpPr>
        <p:spPr bwMode="auto"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595433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BFF2AA-51FD-495E-9B6C-53E0CCE8720E}" type="datetime1">
              <a:rPr lang="ru-RU"/>
              <a:t>02.06.2026</a:t>
            </a:fld>
            <a:endParaRPr lang="ru-RU"/>
          </a:p>
        </p:txBody>
      </p:sp>
      <p:sp>
        <p:nvSpPr>
          <p:cNvPr id="163366889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0904805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олбец с тремя рисункам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3118003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67657262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560749345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8436754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44365783" name="Title 1"/>
          <p:cNvSpPr>
            <a:spLocks noGrp="1"/>
          </p:cNvSpPr>
          <p:nvPr>
            <p:ph type="title"/>
          </p:nvPr>
        </p:nvSpPr>
        <p:spPr bwMode="auto">
          <a:xfrm>
            <a:off x="680322" y="753227"/>
            <a:ext cx="96138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1249122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31590052" name="Picture Placeholder 2"/>
          <p:cNvSpPr>
            <a:spLocks noChangeAspect="1" noGrp="1"/>
          </p:cNvSpPr>
          <p:nvPr>
            <p:ph type="pic" idx="15"/>
          </p:nvPr>
        </p:nvSpPr>
        <p:spPr bwMode="auto"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404889681" name="Text Placeholder 3"/>
          <p:cNvSpPr>
            <a:spLocks noGrp="1"/>
          </p:cNvSpPr>
          <p:nvPr>
            <p:ph type="body" sz="half" idx="18"/>
          </p:nvPr>
        </p:nvSpPr>
        <p:spPr bwMode="auto"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33657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90712538" name="Picture Placeholder 2"/>
          <p:cNvSpPr>
            <a:spLocks noChangeAspect="1" noGrp="1"/>
          </p:cNvSpPr>
          <p:nvPr>
            <p:ph type="pic" idx="21"/>
          </p:nvPr>
        </p:nvSpPr>
        <p:spPr bwMode="auto"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85841332" name="Text Placeholder 3"/>
          <p:cNvSpPr>
            <a:spLocks noGrp="1"/>
          </p:cNvSpPr>
          <p:nvPr>
            <p:ph type="body" sz="half" idx="19"/>
          </p:nvPr>
        </p:nvSpPr>
        <p:spPr bwMode="auto"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21206876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3945264" name="Picture Placeholder 2"/>
          <p:cNvSpPr>
            <a:spLocks noChangeAspect="1" noGrp="1"/>
          </p:cNvSpPr>
          <p:nvPr>
            <p:ph type="pic" idx="22"/>
          </p:nvPr>
        </p:nvSpPr>
        <p:spPr bwMode="auto"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873521340" name="Text Placeholder 3"/>
          <p:cNvSpPr>
            <a:spLocks noGrp="1"/>
          </p:cNvSpPr>
          <p:nvPr>
            <p:ph type="body" sz="half" idx="20"/>
          </p:nvPr>
        </p:nvSpPr>
        <p:spPr bwMode="auto"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0369310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32452-DB40-464D-817C-83D7743D6F57}" type="datetime1">
              <a:rPr lang="ru-RU"/>
              <a:t>02.06.2026</a:t>
            </a:fld>
            <a:endParaRPr lang="ru-RU"/>
          </a:p>
        </p:txBody>
      </p:sp>
      <p:sp>
        <p:nvSpPr>
          <p:cNvPr id="180186457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2493007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1_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5313669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964977553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373603433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95398300" name="Rectangle 9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6326737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7941466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59332937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7BE9EF-9137-4EC0-A2FE-700F392F3BEF}" type="datetime1">
              <a:rPr lang="ru-RU"/>
              <a:t>02.06.2026</a:t>
            </a:fld>
            <a:endParaRPr lang="ru-RU"/>
          </a:p>
        </p:txBody>
      </p:sp>
      <p:sp>
        <p:nvSpPr>
          <p:cNvPr id="10965774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276158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1_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16766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53215013" name="Rectangle 7"/>
          <p:cNvSpPr/>
          <p:nvPr/>
        </p:nvSpPr>
        <p:spPr bwMode="auto"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6196723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10129231" y="609597"/>
            <a:ext cx="1073802" cy="4353760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60684493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0322" y="609597"/>
            <a:ext cx="8870004" cy="5326589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319999356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2BF7793B-D180-44C4-B91E-57912C70F4D0}" type="datetime1">
              <a:rPr lang="ru-RU"/>
              <a:t>02.06.2026</a:t>
            </a:fld>
            <a:endParaRPr lang="ru-RU"/>
          </a:p>
        </p:txBody>
      </p:sp>
      <p:sp>
        <p:nvSpPr>
          <p:cNvPr id="1993283807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66262420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938429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8838772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8041161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01D4F3A-ABC6-43DF-ACA3-965C94B45EAB}" type="datetime1">
              <a:rPr lang="ru-RU"/>
              <a:t>02.06.2026</a:t>
            </a:fld>
            <a:endParaRPr lang="ru-RU"/>
          </a:p>
        </p:txBody>
      </p:sp>
      <p:sp>
        <p:nvSpPr>
          <p:cNvPr id="31668697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1857160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media1.svg"/><Relationship Id="rId6" Type="http://schemas.openxmlformats.org/officeDocument/2006/relationships/image" Target="../media/image8.png"/><Relationship Id="rId7" Type="http://schemas.openxmlformats.org/officeDocument/2006/relationships/image" Target="../media/media2.svg"/><Relationship Id="rId8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media3.sv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media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media5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media6.sv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media7.sv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media8.sv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498964" name="Прямоугольник 3"/>
          <p:cNvSpPr/>
          <p:nvPr/>
        </p:nvSpPr>
        <p:spPr bwMode="auto">
          <a:xfrm>
            <a:off x="0" y="1381233"/>
            <a:ext cx="12192000" cy="1810533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65705191" name="Прямоугольник 4"/>
          <p:cNvSpPr/>
          <p:nvPr/>
        </p:nvSpPr>
        <p:spPr bwMode="auto">
          <a:xfrm>
            <a:off x="0" y="5021126"/>
            <a:ext cx="12192000" cy="1385894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48214580" name="Заголовок 1"/>
          <p:cNvSpPr>
            <a:spLocks noGrp="1"/>
          </p:cNvSpPr>
          <p:nvPr>
            <p:ph type="ctrTitle"/>
          </p:nvPr>
        </p:nvSpPr>
        <p:spPr bwMode="auto">
          <a:xfrm>
            <a:off x="422988" y="1604865"/>
            <a:ext cx="8345668" cy="1400288"/>
          </a:xfrm>
        </p:spPr>
        <p:txBody>
          <a:bodyPr>
            <a:noAutofit/>
          </a:bodyPr>
          <a:lstStyle/>
          <a:p>
            <a:pPr algn="l">
              <a:defRPr/>
            </a:pPr>
            <a:r>
              <a:rPr lang="ru-RU" sz="3200">
                <a:solidFill>
                  <a:schemeClr val="bg1"/>
                </a:solidFill>
              </a:rPr>
              <a:t>Разработка упрощенного графического ускорителя. Разработка модели упрощенного графического ядра.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905258746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8"/>
            <a:ext cx="6051236" cy="124182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688655" name="Прямоугольник 4"/>
          <p:cNvSpPr/>
          <p:nvPr/>
        </p:nvSpPr>
        <p:spPr bwMode="auto">
          <a:xfrm>
            <a:off x="0" y="-1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69604524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7848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Введение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390165828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Графический ускоритель </a:t>
            </a:r>
            <a:r>
              <a:rPr lang="en-US">
                <a:solidFill>
                  <a:schemeClr val="tx1"/>
                </a:solidFill>
              </a:rPr>
              <a:t>(GPU)</a:t>
            </a:r>
            <a:r>
              <a:rPr lang="ru-RU">
                <a:solidFill>
                  <a:schemeClr val="tx1"/>
                </a:solidFill>
              </a:rPr>
              <a:t> – это специализированный процессор, оптимизированный для параллельной обработки вычислительных данных;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Графическое ядро – это специализированный микропроцессор, созданный для математических вычислений, обработки изображений и рендеринга;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Основные компании-разработчики графических ускорителей: </a:t>
            </a:r>
            <a:r>
              <a:rPr lang="en-US">
                <a:solidFill>
                  <a:schemeClr val="tx1"/>
                </a:solidFill>
              </a:rPr>
              <a:t>AMD </a:t>
            </a:r>
            <a:r>
              <a:rPr lang="ru-RU">
                <a:solidFill>
                  <a:schemeClr val="tx1"/>
                </a:solidFill>
              </a:rPr>
              <a:t>и </a:t>
            </a:r>
            <a:r>
              <a:rPr lang="en-US">
                <a:solidFill>
                  <a:schemeClr val="tx1"/>
                </a:solidFill>
              </a:rPr>
              <a:t>NVIDIA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54165007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2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643542223" name="Прямоугольник 5"/>
          <p:cNvSpPr/>
          <p:nvPr/>
        </p:nvSpPr>
        <p:spPr bwMode="auto">
          <a:xfrm>
            <a:off x="0" y="1220090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6397687" name="Объект 2"/>
          <p:cNvSpPr>
            <a:spLocks noGrp="1"/>
          </p:cNvSpPr>
          <p:nvPr>
            <p:ph idx="1"/>
          </p:nvPr>
        </p:nvSpPr>
        <p:spPr bwMode="auto">
          <a:xfrm>
            <a:off x="4649" y="1635966"/>
            <a:ext cx="12201298" cy="3600467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defRPr/>
            </a:pPr>
            <a:r>
              <a:rPr lang="ru-RU" sz="2400"/>
              <a:t>Цели</a:t>
            </a:r>
            <a:endParaRPr sz="2400"/>
          </a:p>
          <a:p>
            <a:pPr lvl="1">
              <a:defRPr/>
            </a:pPr>
            <a:r>
              <a:rPr lang="ru-RU" sz="2000"/>
              <a:t>Разработать упрощенную модель графического ядра на языке описания аппаратуры </a:t>
            </a:r>
            <a:r>
              <a:rPr lang="en-US" sz="2000"/>
              <a:t>SystemVerilog</a:t>
            </a:r>
            <a:r>
              <a:rPr lang="ru-RU" sz="2000"/>
              <a:t>.</a:t>
            </a:r>
            <a:endParaRPr sz="2000"/>
          </a:p>
          <a:p>
            <a:pPr>
              <a:defRPr/>
            </a:pPr>
            <a:r>
              <a:rPr lang="ru-RU" sz="2400"/>
              <a:t>Задачи</a:t>
            </a:r>
            <a:endParaRPr sz="2400"/>
          </a:p>
          <a:p>
            <a:pPr lvl="1">
              <a:defRPr/>
            </a:pPr>
            <a:r>
              <a:rPr lang="ru-RU" sz="2000"/>
              <a:t>Провести анализ существующих архитектур графических процессоров и ядер;</a:t>
            </a:r>
            <a:endParaRPr sz="2000"/>
          </a:p>
          <a:p>
            <a:pPr lvl="1">
              <a:defRPr/>
            </a:pPr>
            <a:r>
              <a:rPr lang="ru-RU" sz="2000"/>
              <a:t>Спроектировать минимальную необходимую архитектуру набора инструкций (</a:t>
            </a:r>
            <a:r>
              <a:rPr lang="en-US" sz="2000"/>
              <a:t>ISA)</a:t>
            </a:r>
            <a:r>
              <a:rPr lang="ru-RU" sz="2000"/>
              <a:t>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архитектуру упрощенного графического ядра;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модель упрощенного графического ядра, используя метод поблочной декомпозиции.</a:t>
            </a:r>
            <a:endParaRPr sz="2000"/>
          </a:p>
        </p:txBody>
      </p:sp>
      <p:sp>
        <p:nvSpPr>
          <p:cNvPr id="201639532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3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726802362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17735568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8" y="5651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Постановка задачи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44443748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789626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Font typeface="Arial"/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Реализация модели упрощенного графического ядра </a:t>
            </a:r>
            <a:r>
              <a:rPr>
                <a:solidFill>
                  <a:schemeClr val="tx1"/>
                </a:solidFill>
              </a:rPr>
              <a:t>позволит: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Образовать минимально необходимые требования для графического ядра и минимальный набор инструкций;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Разработать упрощенную модель графического ядра, которую можно модернизировать и изучать;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На разработанной базе модели можно экспериментировать с различными техниками и способами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ru-RU">
                <a:solidFill>
                  <a:schemeClr val="tx1"/>
                </a:solidFill>
              </a:rPr>
              <a:t>в архитектуре процессорных систем</a:t>
            </a:r>
            <a:r>
              <a:rPr>
                <a:solidFill>
                  <a:schemeClr val="tx1"/>
                </a:solidFill>
              </a:rPr>
              <a:t>, для получения их эмпирической эффективности в данной архитектуре;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Приблизит к реализации полноценного графического ядра, а дальше – графического ускорителя.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60577136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121215079" name="Прямоугольник 4"/>
          <p:cNvSpPr/>
          <p:nvPr/>
        </p:nvSpPr>
        <p:spPr bwMode="auto">
          <a:xfrm>
            <a:off x="0" y="-72479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2965762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7247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Актуальность работы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388606064" name="Прямоугольник 5"/>
          <p:cNvSpPr/>
          <p:nvPr/>
        </p:nvSpPr>
        <p:spPr bwMode="auto">
          <a:xfrm>
            <a:off x="0" y="1121016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519678" name="Прямоугольник 9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67345400" name="Прямоугольник 10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85780863" name="Заголовок 1"/>
          <p:cNvSpPr>
            <a:spLocks noGrp="1"/>
          </p:cNvSpPr>
          <p:nvPr>
            <p:ph type="title"/>
          </p:nvPr>
        </p:nvSpPr>
        <p:spPr bwMode="auto">
          <a:xfrm>
            <a:off x="461983" y="44221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AMD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671965891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42375" y="1835767"/>
            <a:ext cx="3271301" cy="165038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>
              <a:buFont typeface="Arial"/>
              <a:buChar char="–"/>
              <a:defRPr/>
            </a:pPr>
            <a:r>
              <a:rPr lang="ru-RU"/>
              <a:t>Ядро содержит промежуточные регистры для хранения данных:</a:t>
            </a:r>
            <a:r>
              <a:rPr lang="en-US"/>
              <a:t> GPR</a:t>
            </a:r>
            <a:r>
              <a:rPr lang="ru-RU"/>
              <a:t>;</a:t>
            </a:r>
            <a:endParaRPr lang="en-US"/>
          </a:p>
          <a:p>
            <a:pPr>
              <a:buFont typeface="Arial"/>
              <a:buChar char="–"/>
              <a:defRPr/>
            </a:pPr>
            <a:r>
              <a:rPr lang="ru-RU"/>
              <a:t>Ядро содержит несколько наборов из арифметико-логических элементов для вещественных и целочисленных данных.</a:t>
            </a:r>
            <a:endParaRPr lang="ru-RU"/>
          </a:p>
        </p:txBody>
      </p:sp>
      <p:sp>
        <p:nvSpPr>
          <p:cNvPr id="407468574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9493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177467375" name="Рисунок 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52516" y="1611910"/>
            <a:ext cx="7854704" cy="4271176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203570584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83823" y="3653740"/>
            <a:ext cx="3576543" cy="22293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9499262" name="Прямоугольник 9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03613120" name="Прямоугольник 10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81994364" name="Заголовок 1"/>
          <p:cNvSpPr>
            <a:spLocks noGrp="1"/>
          </p:cNvSpPr>
          <p:nvPr>
            <p:ph type="title"/>
          </p:nvPr>
        </p:nvSpPr>
        <p:spPr bwMode="auto">
          <a:xfrm>
            <a:off x="461982" y="44220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NVIDIA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052301060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85750" y="1444489"/>
            <a:ext cx="3620475" cy="368141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/>
              <a:t>Ядра лишь содержат арифметико-логические блоки для </a:t>
            </a:r>
            <a:r>
              <a:rPr lang="en-US"/>
              <a:t>FP </a:t>
            </a:r>
            <a:r>
              <a:rPr lang="ru-RU"/>
              <a:t>и </a:t>
            </a:r>
            <a:r>
              <a:rPr lang="en-US"/>
              <a:t>INT </a:t>
            </a:r>
            <a:r>
              <a:rPr lang="ru-RU"/>
              <a:t>данных, буферы, порты и простую логику;</a:t>
            </a:r>
            <a:endParaRPr lang="ru-RU"/>
          </a:p>
          <a:p>
            <a:pPr>
              <a:defRPr/>
            </a:pPr>
            <a:r>
              <a:rPr lang="ru-RU"/>
              <a:t>Ядра являются однопоточными, за счёт их количества;</a:t>
            </a:r>
            <a:endParaRPr lang="ru-RU"/>
          </a:p>
        </p:txBody>
      </p:sp>
      <p:sp>
        <p:nvSpPr>
          <p:cNvPr id="126709756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79492"/>
            <a:ext cx="1052507" cy="365124"/>
          </a:xfrm>
        </p:spPr>
        <p:txBody>
          <a:bodyPr/>
          <a:lstStyle/>
          <a:p>
            <a:pPr>
              <a:defRPr/>
            </a:pPr>
            <a:fld id="{4E8A3A8F-0B9D-0C84-2979-0C48658383B8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953303344" name="Рисунок 5"/>
          <p:cNvPicPr>
            <a:picLocks noChangeAspect="1"/>
          </p:cNvPicPr>
          <p:nvPr/>
        </p:nvPicPr>
        <p:blipFill rotWithShape="1">
          <a:blip r:embed="rId3"/>
          <a:srcRect l="0" t="0" r="33409" b="0"/>
          <a:stretch/>
        </p:blipFill>
        <p:spPr bwMode="auto">
          <a:xfrm flipH="0" flipV="0">
            <a:off x="5114045" y="1444489"/>
            <a:ext cx="4326204" cy="4910622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480208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33402" y="1847460"/>
            <a:ext cx="331084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lang="ru-RU"/>
              <a:t>Минимально необходимый набор инструкций взят с дампа промежуточного представления</a:t>
            </a:r>
            <a:r>
              <a:rPr lang="en-US"/>
              <a:t> VKCUBE</a:t>
            </a:r>
            <a:endParaRPr/>
          </a:p>
          <a:p>
            <a:pPr>
              <a:defRPr/>
            </a:pPr>
            <a:r>
              <a:rPr lang="ru-RU"/>
              <a:t>В качестве основы взята архитектура набора инструкций </a:t>
            </a:r>
            <a:r>
              <a:rPr lang="en-US"/>
              <a:t>RISC-V</a:t>
            </a:r>
            <a:endParaRPr lang="ru-RU"/>
          </a:p>
        </p:txBody>
      </p:sp>
      <p:sp>
        <p:nvSpPr>
          <p:cNvPr id="68974105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65512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6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732777502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234392" y="1543092"/>
            <a:ext cx="4522692" cy="1901649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059245539" name="Рисунок 1421075015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</p:blipFill>
        <p:spPr bwMode="auto">
          <a:xfrm>
            <a:off x="3083953" y="4363986"/>
            <a:ext cx="2915269" cy="2101525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50001607" name="Прямоугольник 10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70930413" name="Прямоугольник 11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27979841" name="Заголовок 1"/>
          <p:cNvSpPr>
            <a:spLocks noGrp="1"/>
          </p:cNvSpPr>
          <p:nvPr>
            <p:ph type="title"/>
          </p:nvPr>
        </p:nvSpPr>
        <p:spPr bwMode="auto">
          <a:xfrm>
            <a:off x="387637" y="-116036"/>
            <a:ext cx="11223171" cy="1325563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Разработка модели графического ядра: разработка архитектуры набора инструкций </a:t>
            </a:r>
            <a:r>
              <a:rPr lang="en-US">
                <a:solidFill>
                  <a:schemeClr val="bg1"/>
                </a:solidFill>
              </a:rPr>
              <a:t>(ISA)</a:t>
            </a:r>
            <a:endParaRPr lang="ru-RU">
              <a:solidFill>
                <a:schemeClr val="bg1"/>
              </a:solidFill>
            </a:endParaRPr>
          </a:p>
        </p:txBody>
      </p:sp>
      <p:pic>
        <p:nvPicPr>
          <p:cNvPr id="1555268725" name="Рисунок 2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3344249" y="1847460"/>
            <a:ext cx="3574672" cy="1166471"/>
          </a:xfrm>
          <a:prstGeom prst="rect">
            <a:avLst/>
          </a:prstGeom>
        </p:spPr>
      </p:pic>
      <p:pic>
        <p:nvPicPr>
          <p:cNvPr id="1032567309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6227977" y="3573342"/>
            <a:ext cx="5529106" cy="3009811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9174877" name="Объект 2"/>
          <p:cNvSpPr>
            <a:spLocks noGrp="1"/>
          </p:cNvSpPr>
          <p:nvPr>
            <p:ph idx="1"/>
          </p:nvPr>
        </p:nvSpPr>
        <p:spPr bwMode="auto">
          <a:xfrm>
            <a:off x="568954" y="2054142"/>
            <a:ext cx="417651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65000" lnSpcReduction="7000"/>
          </a:bodyPr>
          <a:lstStyle/>
          <a:p>
            <a:pPr>
              <a:defRPr/>
            </a:pPr>
            <a:r>
              <a:rPr lang="en-US"/>
              <a:t>Fetcher</a:t>
            </a:r>
            <a:r>
              <a:rPr lang="ru-RU"/>
              <a:t> захватывает инструкцию из памяти;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декодирует инструкцию для передачи </a:t>
            </a:r>
            <a:r>
              <a:rPr lang="en-US"/>
              <a:t>LSU</a:t>
            </a:r>
            <a:r>
              <a:rPr lang="ru-RU"/>
              <a:t> и </a:t>
            </a:r>
            <a:r>
              <a:rPr lang="en-US"/>
              <a:t>TU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TU</a:t>
            </a:r>
            <a:r>
              <a:rPr lang="ru-RU"/>
              <a:t> и</a:t>
            </a:r>
            <a:r>
              <a:rPr lang="en-US"/>
              <a:t>/</a:t>
            </a:r>
            <a:r>
              <a:rPr lang="ru-RU"/>
              <a:t>или </a:t>
            </a:r>
            <a:r>
              <a:rPr lang="en-US"/>
              <a:t>LSU</a:t>
            </a:r>
            <a:r>
              <a:rPr lang="ru-RU"/>
              <a:t> выполняют инструкцию;</a:t>
            </a:r>
            <a:endParaRPr/>
          </a:p>
          <a:p>
            <a:pPr>
              <a:defRPr/>
            </a:pPr>
            <a:r>
              <a:rPr lang="ru-RU"/>
              <a:t>Результаты работы сохраняются во внешней памяти или памяти ядра;</a:t>
            </a:r>
            <a:endParaRPr/>
          </a:p>
          <a:p>
            <a:pPr>
              <a:defRPr/>
            </a:pPr>
            <a:r>
              <a:rPr lang="en-US"/>
              <a:t>CSR </a:t>
            </a:r>
            <a:r>
              <a:rPr lang="ru-RU"/>
              <a:t>(контрольно-статусные регистры) </a:t>
            </a:r>
            <a:r>
              <a:rPr lang="ru-RU"/>
              <a:t>содержат статусные и управляющие сигналы связанные с самим графическим ядром.</a:t>
            </a:r>
            <a:endParaRPr lang="en-US"/>
          </a:p>
        </p:txBody>
      </p:sp>
      <p:sp>
        <p:nvSpPr>
          <p:cNvPr id="163674734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8335"/>
            <a:ext cx="1052508" cy="365125"/>
          </a:xfrm>
        </p:spPr>
        <p:txBody>
          <a:bodyPr/>
          <a:lstStyle/>
          <a:p>
            <a:pPr>
              <a:defRPr/>
            </a:pPr>
            <a:fld id="{ED02CFB1-EEA1-CD3C-8AAA-9D8034B9CDE8}" type="slidenum">
              <a:rPr lang="ru-RU" sz="1800">
                <a:solidFill>
                  <a:schemeClr val="tx1"/>
                </a:solidFill>
                <a:latin typeface="Trebuchet MS"/>
              </a:rPr>
              <a:t>7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534537205" name="Прямоугольник 5"/>
          <p:cNvSpPr/>
          <p:nvPr/>
        </p:nvSpPr>
        <p:spPr bwMode="auto">
          <a:xfrm>
            <a:off x="0" y="0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30040083" name="Прямоугольник 6"/>
          <p:cNvSpPr/>
          <p:nvPr/>
        </p:nvSpPr>
        <p:spPr bwMode="auto">
          <a:xfrm>
            <a:off x="9298" y="1192006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09080447" name="Заголовок 1"/>
          <p:cNvSpPr>
            <a:spLocks noGrp="1"/>
          </p:cNvSpPr>
          <p:nvPr>
            <p:ph type="title"/>
          </p:nvPr>
        </p:nvSpPr>
        <p:spPr bwMode="auto">
          <a:xfrm>
            <a:off x="568954" y="0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Общая структура ядра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829737820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849200" y="1876424"/>
            <a:ext cx="6576037" cy="41952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4604707" name="Объект 2"/>
          <p:cNvSpPr>
            <a:spLocks noGrp="1"/>
          </p:cNvSpPr>
          <p:nvPr>
            <p:ph idx="1"/>
          </p:nvPr>
        </p:nvSpPr>
        <p:spPr bwMode="auto">
          <a:xfrm>
            <a:off x="615398" y="1944098"/>
            <a:ext cx="350003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lang="ru-RU"/>
              <a:t>Вычислительный элемент </a:t>
            </a:r>
            <a:r>
              <a:rPr lang="en-US"/>
              <a:t>(Tread Unit) </a:t>
            </a:r>
            <a:r>
              <a:rPr lang="ru-RU"/>
              <a:t>обрабатывает вещественные и целочисленные данные и хранит в промежуточной памяти </a:t>
            </a:r>
            <a:r>
              <a:rPr lang="en-US"/>
              <a:t>– </a:t>
            </a:r>
            <a:r>
              <a:rPr lang="ru-RU"/>
              <a:t>регистровой карте - </a:t>
            </a:r>
            <a:r>
              <a:rPr lang="en-US"/>
              <a:t>Regfile</a:t>
            </a:r>
            <a:r>
              <a:rPr lang="ru-RU"/>
              <a:t>.</a:t>
            </a:r>
            <a:endParaRPr/>
          </a:p>
          <a:p>
            <a:pPr>
              <a:defRPr/>
            </a:pPr>
            <a:r>
              <a:rPr lang="ru-RU"/>
              <a:t>Основные компоненты: </a:t>
            </a:r>
            <a:r>
              <a:rPr lang="en-US"/>
              <a:t>FPU, ALU, </a:t>
            </a:r>
            <a:r>
              <a:rPr lang="en-US"/>
              <a:t>Regfile</a:t>
            </a:r>
            <a:endParaRPr lang="ru-RU"/>
          </a:p>
        </p:txBody>
      </p:sp>
      <p:sp>
        <p:nvSpPr>
          <p:cNvPr id="53943923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8C44681A-2184-8FE6-7CA2-B2F449D07AD3}" type="slidenum">
              <a:rPr lang="ru-RU" sz="1800">
                <a:solidFill>
                  <a:schemeClr val="tx1"/>
                </a:solidFill>
                <a:latin typeface="Trebuchet MS"/>
              </a:rPr>
              <a:t>8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522519587" name="Прямоугольник 6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088590454" name="Прямоугольник 7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84440433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3787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Разработка вычислительного блока модели упрощенного графического ядра: общая структура</a:t>
            </a:r>
            <a:endParaRPr/>
          </a:p>
        </p:txBody>
      </p:sp>
      <p:pic>
        <p:nvPicPr>
          <p:cNvPr id="792293840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370128" y="2224087"/>
            <a:ext cx="6825791" cy="34528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8011248" name="Объект 2"/>
          <p:cNvSpPr>
            <a:spLocks noGrp="1"/>
          </p:cNvSpPr>
          <p:nvPr>
            <p:ph idx="1"/>
          </p:nvPr>
        </p:nvSpPr>
        <p:spPr bwMode="auto">
          <a:xfrm>
            <a:off x="456385" y="2059377"/>
            <a:ext cx="4736811" cy="3599316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ru-RU"/>
              <a:t>Предназначен для передачи данных между внешней памятью и потоками;</a:t>
            </a:r>
            <a:endParaRPr/>
          </a:p>
          <a:p>
            <a:pPr>
              <a:defRPr/>
            </a:pPr>
            <a:r>
              <a:rPr lang="ru-RU"/>
              <a:t>Может только загружать</a:t>
            </a:r>
            <a:r>
              <a:rPr lang="en-US"/>
              <a:t> (LOAD)</a:t>
            </a:r>
            <a:r>
              <a:rPr lang="ru-RU"/>
              <a:t> или сохранять</a:t>
            </a:r>
            <a:r>
              <a:rPr lang="en-US"/>
              <a:t> (STORE)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ru-RU"/>
              <a:t>Работает по приходящей инструкции.</a:t>
            </a:r>
            <a:endParaRPr/>
          </a:p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08521599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3268CEBC-6C76-D4A5-843E-7A9602BB4FE0}" type="slidenum">
              <a:rPr lang="ru-RU" sz="1800">
                <a:solidFill>
                  <a:schemeClr val="tx1"/>
                </a:solidFill>
                <a:latin typeface="Trebuchet MS"/>
              </a:rPr>
              <a:t>9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553844427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4605452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451586730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4598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Разработка модели упрощенного графического ядра: Блок загрузки и сохранения</a:t>
            </a:r>
            <a:endParaRPr/>
          </a:p>
        </p:txBody>
      </p:sp>
      <p:pic>
        <p:nvPicPr>
          <p:cNvPr id="60031363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862512" y="2376487"/>
            <a:ext cx="6550581" cy="23383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4735051" name="Объект 2"/>
          <p:cNvSpPr>
            <a:spLocks noGrp="1"/>
          </p:cNvSpPr>
          <p:nvPr>
            <p:ph idx="1"/>
          </p:nvPr>
        </p:nvSpPr>
        <p:spPr bwMode="auto">
          <a:xfrm>
            <a:off x="680319" y="2336872"/>
            <a:ext cx="4409973" cy="3599316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ru-RU"/>
              <a:t>Арбитр собирает с потоков данные и</a:t>
            </a:r>
            <a:r>
              <a:rPr lang="en-US"/>
              <a:t>/</a:t>
            </a:r>
            <a:r>
              <a:rPr lang="ru-RU"/>
              <a:t>или адреса;</a:t>
            </a:r>
            <a:endParaRPr/>
          </a:p>
          <a:p>
            <a:pPr>
              <a:defRPr/>
            </a:pPr>
            <a:r>
              <a:rPr lang="en-US"/>
              <a:t>LSU</a:t>
            </a:r>
            <a:r>
              <a:rPr lang="ru-RU"/>
              <a:t> выполняет запросы  с данными и адресами поочередно;</a:t>
            </a:r>
            <a:endParaRPr/>
          </a:p>
          <a:p>
            <a:pPr>
              <a:defRPr/>
            </a:pPr>
            <a:r>
              <a:rPr lang="ru-RU"/>
              <a:t>Арбитр выдаёт результаты потокам и</a:t>
            </a:r>
            <a:r>
              <a:rPr lang="en-US"/>
              <a:t>/</a:t>
            </a:r>
            <a:r>
              <a:rPr lang="ru-RU"/>
              <a:t>или статус готовности.</a:t>
            </a:r>
            <a:endParaRPr/>
          </a:p>
        </p:txBody>
      </p:sp>
      <p:sp>
        <p:nvSpPr>
          <p:cNvPr id="119386295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9687AD8-1A48-903E-417E-81FF292386D7}" type="slidenum">
              <a:rPr lang="ru-RU" sz="1800">
                <a:solidFill>
                  <a:schemeClr val="tx1"/>
                </a:solidFill>
                <a:latin typeface="Trebuchet MS"/>
              </a:rPr>
              <a:t>10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306721379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210217771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57287165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</a:t>
            </a:r>
            <a:r>
              <a:rPr lang="ru-RU" sz="3600">
                <a:solidFill>
                  <a:schemeClr val="bg1"/>
                </a:solidFill>
              </a:rPr>
              <a:t>Интерконнект</a:t>
            </a:r>
            <a:r>
              <a:rPr lang="ru-RU" sz="3600">
                <a:solidFill>
                  <a:schemeClr val="bg1"/>
                </a:solidFill>
              </a:rPr>
              <a:t> между </a:t>
            </a:r>
            <a:r>
              <a:rPr lang="en-US" sz="3600">
                <a:solidFill>
                  <a:schemeClr val="bg1"/>
                </a:solidFill>
              </a:rPr>
              <a:t>LSU </a:t>
            </a:r>
            <a:r>
              <a:rPr lang="ru-RU" sz="3600">
                <a:solidFill>
                  <a:schemeClr val="bg1"/>
                </a:solidFill>
              </a:rPr>
              <a:t>и потоками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035594074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534024" y="1452562"/>
            <a:ext cx="5706450" cy="4769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041649" name="Объект 2"/>
          <p:cNvSpPr>
            <a:spLocks noGrp="1"/>
          </p:cNvSpPr>
          <p:nvPr>
            <p:ph idx="1"/>
          </p:nvPr>
        </p:nvSpPr>
        <p:spPr bwMode="auto">
          <a:xfrm>
            <a:off x="604119" y="2041596"/>
            <a:ext cx="5044972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/>
              <a:t>Fetcher – </a:t>
            </a:r>
            <a:r>
              <a:rPr lang="ru-RU"/>
              <a:t>блок захвата инструкций из памяти;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– преобразование инструкций в структуры для передачи исполняемым блокам.</a:t>
            </a:r>
            <a:endParaRPr/>
          </a:p>
        </p:txBody>
      </p:sp>
      <p:sp>
        <p:nvSpPr>
          <p:cNvPr id="183086183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6E0C4E4E-F03C-EE6B-08CF-E8796A069A1F}" type="slidenum">
              <a:rPr lang="ru-RU" sz="1800">
                <a:solidFill>
                  <a:schemeClr val="tx1"/>
                </a:solidFill>
                <a:latin typeface="Trebuchet MS"/>
              </a:rPr>
              <a:t>11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132542029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30258748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62595235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</a:t>
            </a:r>
            <a:r>
              <a:rPr lang="en-US" sz="3600">
                <a:solidFill>
                  <a:schemeClr val="bg1"/>
                </a:solidFill>
              </a:rPr>
              <a:t>Fetcher &amp; Decoder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711475362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7068524" y="1646902"/>
            <a:ext cx="3747112" cy="48459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0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590722" name="Объект 2"/>
          <p:cNvSpPr>
            <a:spLocks noGrp="1"/>
          </p:cNvSpPr>
          <p:nvPr>
            <p:ph idx="1"/>
          </p:nvPr>
        </p:nvSpPr>
        <p:spPr bwMode="auto">
          <a:xfrm>
            <a:off x="680319" y="2336872"/>
            <a:ext cx="5269090" cy="3599316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ru-RU"/>
              <a:t>Необходимы высокоскоростные интерфейсы;</a:t>
            </a:r>
            <a:endParaRPr/>
          </a:p>
          <a:p>
            <a:pPr>
              <a:defRPr/>
            </a:pPr>
            <a:r>
              <a:rPr lang="ru-RU"/>
              <a:t>В качестве интерфейсов взяты</a:t>
            </a:r>
            <a:r>
              <a:rPr lang="en-US"/>
              <a:t>: AMBA APB,  AMBA AHB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ru-RU"/>
              <a:t>Для </a:t>
            </a:r>
            <a:r>
              <a:rPr lang="en-US"/>
              <a:t>Regmap</a:t>
            </a:r>
            <a:r>
              <a:rPr lang="ru-RU"/>
              <a:t> интерфейс </a:t>
            </a:r>
            <a:r>
              <a:rPr lang="en-US"/>
              <a:t>APB</a:t>
            </a:r>
            <a:r>
              <a:rPr lang="ru-RU"/>
              <a:t>, где </a:t>
            </a:r>
            <a:r>
              <a:rPr lang="en-US"/>
              <a:t>Regmap</a:t>
            </a:r>
            <a:r>
              <a:rPr lang="en-US"/>
              <a:t> - </a:t>
            </a:r>
            <a:r>
              <a:rPr lang="ru-RU"/>
              <a:t>ведомый;</a:t>
            </a:r>
            <a:endParaRPr/>
          </a:p>
          <a:p>
            <a:pPr>
              <a:defRPr/>
            </a:pPr>
            <a:r>
              <a:rPr lang="ru-RU"/>
              <a:t>Для </a:t>
            </a:r>
            <a:r>
              <a:rPr lang="en-US"/>
              <a:t>Fetcher </a:t>
            </a:r>
            <a:r>
              <a:rPr lang="ru-RU"/>
              <a:t>и </a:t>
            </a:r>
            <a:r>
              <a:rPr lang="en-US"/>
              <a:t>LSU</a:t>
            </a:r>
            <a:r>
              <a:rPr lang="ru-RU"/>
              <a:t> интерфейс </a:t>
            </a:r>
            <a:r>
              <a:rPr lang="en-US"/>
              <a:t>AHB</a:t>
            </a:r>
            <a:r>
              <a:rPr lang="ru-RU"/>
              <a:t>, где они - ведущие.</a:t>
            </a:r>
            <a:endParaRPr lang="en-US"/>
          </a:p>
        </p:txBody>
      </p:sp>
      <p:sp>
        <p:nvSpPr>
          <p:cNvPr id="1941335714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BE2ADD01-EDAB-891B-508A-6962AD7A2457}" type="slidenum">
              <a:rPr lang="ru-RU" sz="1800">
                <a:solidFill>
                  <a:schemeClr val="tx1"/>
                </a:solidFill>
                <a:latin typeface="Trebuchet MS"/>
              </a:rPr>
              <a:t>12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684204292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47670875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7212953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59681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Интерфейсы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71039134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485251" y="1755279"/>
            <a:ext cx="5599302" cy="42856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6775309" name="Объект 2"/>
          <p:cNvSpPr>
            <a:spLocks noGrp="1"/>
          </p:cNvSpPr>
          <p:nvPr>
            <p:ph idx="1"/>
          </p:nvPr>
        </p:nvSpPr>
        <p:spPr bwMode="auto">
          <a:xfrm>
            <a:off x="680321" y="2336873"/>
            <a:ext cx="11753144" cy="3599316"/>
          </a:xfrm>
        </p:spPr>
        <p:txBody>
          <a:bodyPr/>
          <a:lstStyle/>
          <a:p>
            <a:pPr>
              <a:defRPr/>
            </a:pPr>
            <a:r>
              <a:rPr lang="ru-RU"/>
              <a:t>В результате работы:</a:t>
            </a:r>
            <a:endParaRPr/>
          </a:p>
          <a:p>
            <a:pPr lvl="1">
              <a:defRPr/>
            </a:pPr>
            <a:r>
              <a:rPr lang="ru-RU"/>
              <a:t>Проведен анализ существующих архитектур графических процессоров и ядер</a:t>
            </a:r>
            <a:r>
              <a:rPr lang="en-US"/>
              <a:t>;</a:t>
            </a:r>
            <a:endParaRPr lang="ru-RU"/>
          </a:p>
          <a:p>
            <a:pPr lvl="1">
              <a:defRPr/>
            </a:pPr>
            <a:r>
              <a:rPr lang="ru-RU"/>
              <a:t>Спроектирована минимально необходимая архитектура набора инструкций </a:t>
            </a:r>
            <a:r>
              <a:rPr lang="en-US"/>
              <a:t>(ISA);</a:t>
            </a:r>
            <a:endParaRPr/>
          </a:p>
          <a:p>
            <a:pPr lvl="1">
              <a:defRPr/>
            </a:pPr>
            <a:r>
              <a:rPr lang="ru-RU"/>
              <a:t>Разработана архитектура упрощенного графического ядра с использованием метода поблочной декомпозиции;</a:t>
            </a:r>
            <a:endParaRPr/>
          </a:p>
          <a:p>
            <a:pPr lvl="1">
              <a:defRPr/>
            </a:pPr>
            <a:r>
              <a:rPr lang="ru-RU"/>
              <a:t>Разработана упрощенная модель графического ядра</a:t>
            </a:r>
            <a:r>
              <a:rPr lang="en-US"/>
              <a:t> </a:t>
            </a:r>
            <a:r>
              <a:rPr lang="ru-RU"/>
              <a:t>на языке описания аппаратуры </a:t>
            </a:r>
            <a:r>
              <a:rPr lang="en-US"/>
              <a:t>SystemVerilog</a:t>
            </a:r>
            <a:r>
              <a:rPr lang="ru-RU"/>
              <a:t>.</a:t>
            </a:r>
            <a:endParaRPr/>
          </a:p>
        </p:txBody>
      </p:sp>
      <p:sp>
        <p:nvSpPr>
          <p:cNvPr id="47877972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13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772204101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87986942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19752888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Заключение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781125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Обзор аналогов 2D графических ускорителей во встроенных системах / И.А. Дудкин, Д.М. Старухин, В.В. Черкасов \/\/ Математика, информационные технологии, приложения : сборник материалов Межвузовской научной конференции «Математика, информационные технологии, приложения» (Воронеж, 24-25 апреля 2025 г.). -- Воронеж : Издательско-полиграфический центр «Научная книга», 2025. -- С.209-216</a:t>
            </a:r>
            <a:endParaRPr sz="4800">
              <a:solidFill>
                <a:schemeClr val="bg1"/>
              </a:solidFill>
              <a:latin typeface="Trebuchet MS"/>
              <a:cs typeface="Trebuchet MS"/>
            </a:endParaRPr>
          </a:p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</a:t>
            </a:r>
            <a: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Разработка архитектуры аппаратной реализации 2D графического ускорителя / И.А. Дудкин, Д.М. Старухин, В.В. Черкасов \/\/ Актуальные проблемы прикладной математики, информатики и механики : сборник материалов Международной научной конференции «Актуальные проблемы прикладной математики, информатики и механики» (Воронеж, 1-3 декабря 2025 г.). -- Воронеж : ООО «Издательство Прометей», 2026. -- С.1584-1588.</a:t>
            </a:r>
            <a:b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</a:br>
            <a:endParaRPr lang="ru-RU">
              <a:solidFill>
                <a:schemeClr val="bg1"/>
              </a:solidFill>
            </a:endParaRPr>
          </a:p>
        </p:txBody>
      </p:sp>
      <p:sp>
        <p:nvSpPr>
          <p:cNvPr id="184957355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247196733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11312007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31674948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825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Публикация статьи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598459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66451003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722892441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268552919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93902618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78986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Спасибо за внимание!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/>
  <cp:revision>36</cp:revision>
  <dcterms:created xsi:type="dcterms:W3CDTF">2026-06-01T16:03:18Z</dcterms:created>
  <dcterms:modified xsi:type="dcterms:W3CDTF">2026-06-03T11:36:42Z</dcterms:modified>
</cp:coreProperties>
</file>