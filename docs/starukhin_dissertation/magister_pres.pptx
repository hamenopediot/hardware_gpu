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5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viewProps.xml" ContentType="application/vnd.openxmlformats-officedocument.presentationml.viewProps+xml"/>
  <Override PartName="/ppt/notesSlides/notesSlide7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Layouts/slideLayout13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5.xml" ContentType="application/vnd.openxmlformats-officedocument.presentationml.slide+xml"/>
  <Override PartName="/ppt/slideLayouts/slideLayout16.xml" ContentType="application/vnd.openxmlformats-officedocument.presentationml.slideLayout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slideLayouts/slideLayout12.xml" ContentType="application/vnd.openxmlformats-officedocument.presentationml.slideLayout+xml"/>
  <Override PartName="/ppt/notesSlides/notesSlide3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 showSpecialPlsOnTitleSld="0">
  <p:sldMasterIdLst>
    <p:sldMasterId id="2147483648" r:id="rId1"/>
  </p:sldMasterIdLst>
  <p:notesMasterIdLst>
    <p:notesMasterId r:id="rId19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6858000" cy="9144000"/>
  <p:defaultTextStyle>
    <a:defPPr>
      <a:defRPr lang="en-US"/>
    </a:defPPr>
    <a:lvl1pPr marL="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61" d="100"/>
          <a:sy n="161" d="100"/>
        </p:scale>
        <p:origin x="150" y="180"/>
      </p:cViewPr>
      <p:guideLst>
        <p:guide pos="3840"/>
        <p:guide pos="216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 /><Relationship Id="rId21" Type="http://schemas.openxmlformats.org/officeDocument/2006/relationships/tableStyles" Target="tableStyles.xml" /><Relationship Id="rId22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5556742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20162180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0BF8B4CA-290A-45FF-AF47-6D7BC9CA84C9}" type="datetimeFigureOut">
              <a:rPr lang="ru-RU"/>
              <a:t>01.06.2026</a:t>
            </a:fld>
            <a:endParaRPr lang="ru-RU"/>
          </a:p>
        </p:txBody>
      </p:sp>
      <p:sp>
        <p:nvSpPr>
          <p:cNvPr id="1057644866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1941498779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87750482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0803634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BA4505C3-1B66-4F80-910D-E8795C33F31E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7C5F6B-1229-047B-27B5-44A2E563B6A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E82ABB8-C7B4-6AF6-ACAD-8140555805F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9DC24C-A746-6A57-EC92-6763580FBD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3D92CA-885E-64AA-3093-306FA5DBE22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1B6EEB-0949-913D-679C-4C511D64A78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FF782D5-9878-C332-239A-0AB964DD722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6170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8120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3995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9DD143-F230-8BE5-DF47-2F712C202B3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811215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583486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9106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8E094-64B7-2766-BCC3-6C48145F116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675993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547496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61699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A85B0B4-A097-EC80-6511-5CB349CFD09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71104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123588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74978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4FE7883-973B-878E-357F-41AA8BFE454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931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23913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8850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9BC998-3455-E361-253C-3B87DD69CA9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261375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84071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14643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6902816-76A5-4AF4-1E9E-ABAE37AB74E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4742BA-856B-8F4C-B3FE-AC981AD1872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E14580-EABE-8B82-39A8-68FB7C1701E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64DC10A-14CC-0FD5-732D-60DA7BAE446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Титульны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09927210" name="Picture 6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4242851"/>
            <a:ext cx="8968084" cy="275942"/>
          </a:xfrm>
          <a:prstGeom prst="rect">
            <a:avLst/>
          </a:prstGeom>
        </p:spPr>
      </p:pic>
      <p:pic>
        <p:nvPicPr>
          <p:cNvPr id="1899911100" name="Picture 7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111716" y="4243845"/>
            <a:ext cx="3077108" cy="276940"/>
          </a:xfrm>
          <a:prstGeom prst="rect">
            <a:avLst/>
          </a:prstGeom>
        </p:spPr>
      </p:pic>
      <p:sp>
        <p:nvSpPr>
          <p:cNvPr id="1898315493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18600037" name="Rectangle 9"/>
          <p:cNvSpPr/>
          <p:nvPr/>
        </p:nvSpPr>
        <p:spPr bwMode="auto">
          <a:xfrm>
            <a:off x="9111715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069231244" name="Title 1"/>
          <p:cNvSpPr>
            <a:spLocks noGrp="1"/>
          </p:cNvSpPr>
          <p:nvPr>
            <p:ph type="ctrTitle"/>
          </p:nvPr>
        </p:nvSpPr>
        <p:spPr bwMode="auto">
          <a:xfrm>
            <a:off x="680322" y="2733709"/>
            <a:ext cx="8144134" cy="1373070"/>
          </a:xfrm>
        </p:spPr>
        <p:txBody>
          <a:bodyPr anchor="b">
            <a:noAutofit/>
          </a:bodyPr>
          <a:lstStyle>
            <a:lvl1pPr algn="r">
              <a:defRPr sz="5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419223168" name="Subtitle 2"/>
          <p:cNvSpPr>
            <a:spLocks noGrp="1"/>
          </p:cNvSpPr>
          <p:nvPr>
            <p:ph type="subTitle" idx="1"/>
          </p:nvPr>
        </p:nvSpPr>
        <p:spPr bwMode="auto">
          <a:xfrm>
            <a:off x="680322" y="4394039"/>
            <a:ext cx="8144134" cy="1117687"/>
          </a:xfrm>
        </p:spPr>
        <p:txBody>
          <a:bodyPr>
            <a:norm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147492433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78C87845-B621-4B17-903D-93BF1A821425}" type="datetime1">
              <a:rPr lang="ru-RU"/>
              <a:t>01.06.2026</a:t>
            </a:fld>
            <a:endParaRPr lang="ru-RU"/>
          </a:p>
        </p:txBody>
      </p:sp>
      <p:sp>
        <p:nvSpPr>
          <p:cNvPr id="79163394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599534649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9255346" y="2750337"/>
            <a:ext cx="1171888" cy="1356442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39976046" name="Picture 14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42167911" name="Picture 15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55094836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95470314" name="Rectangle 17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1542757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5006027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47937785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CC1A837A-CDC3-4DC4-B265-8ABB10AE13E8}" type="datetime1">
              <a:rPr lang="ru-RU"/>
              <a:t>01.06.2026</a:t>
            </a:fld>
            <a:endParaRPr lang="ru-RU"/>
          </a:p>
        </p:txBody>
      </p:sp>
      <p:sp>
        <p:nvSpPr>
          <p:cNvPr id="82257799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01339661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Заголовок раздел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38842648" name="Picture 6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-1" y="4086906"/>
            <a:ext cx="10437812" cy="321164"/>
          </a:xfrm>
          <a:prstGeom prst="rect">
            <a:avLst/>
          </a:prstGeom>
        </p:spPr>
      </p:pic>
      <p:pic>
        <p:nvPicPr>
          <p:cNvPr id="271986155" name="Picture 7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5857015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99981173" name="Rectangle 9"/>
          <p:cNvSpPr/>
          <p:nvPr/>
        </p:nvSpPr>
        <p:spPr bwMode="auto">
          <a:xfrm>
            <a:off x="10585825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22103101" name="Title 1"/>
          <p:cNvSpPr>
            <a:spLocks noGrp="1"/>
          </p:cNvSpPr>
          <p:nvPr>
            <p:ph type="title"/>
          </p:nvPr>
        </p:nvSpPr>
        <p:spPr bwMode="auto"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36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6409766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0322" y="4232171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2771781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7BEA492-B2C1-4654-A294-884459A9115A}" type="datetime1">
              <a:rPr lang="ru-RU"/>
              <a:t>01.06.2026</a:t>
            </a:fld>
            <a:endParaRPr lang="ru-RU"/>
          </a:p>
        </p:txBody>
      </p:sp>
      <p:sp>
        <p:nvSpPr>
          <p:cNvPr id="93131188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034806589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286989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1791043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519935604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809701863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30194904" name="Rectangle 10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9435278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781480468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80319" y="2336873"/>
            <a:ext cx="4698358" cy="3599316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34828440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594123" y="2336873"/>
            <a:ext cx="4700058" cy="3599316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41496674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2AAC8AC-D59C-4FBB-8E84-366B4D8176D0}" type="datetime1">
              <a:rPr lang="ru-RU"/>
              <a:t>01.06.2026</a:t>
            </a:fld>
            <a:endParaRPr lang="ru-RU"/>
          </a:p>
        </p:txBody>
      </p:sp>
      <p:sp>
        <p:nvSpPr>
          <p:cNvPr id="206620657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0603584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90017046" name="Picture 9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751272269" name="Picture 10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81580172" name="Rectangle 11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84302569" name="Rectangle 12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92470589" name="Title 1"/>
          <p:cNvSpPr>
            <a:spLocks noGrp="1"/>
          </p:cNvSpPr>
          <p:nvPr>
            <p:ph type="title"/>
          </p:nvPr>
        </p:nvSpPr>
        <p:spPr bwMode="auto">
          <a:xfrm>
            <a:off x="680319" y="753229"/>
            <a:ext cx="9613863" cy="1080937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9262818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06349" y="2336873"/>
            <a:ext cx="4472327" cy="69313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10205784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80322" y="3030008"/>
            <a:ext cx="4698355" cy="2906179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704342284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820154" y="2336873"/>
            <a:ext cx="4474028" cy="69207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92335335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594123" y="3030008"/>
            <a:ext cx="4700059" cy="2906179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210345677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9D85BA6-F490-4E1F-A117-2CC302D5F467}" type="datetime1">
              <a:rPr lang="ru-RU"/>
              <a:t>01.06.2026</a:t>
            </a:fld>
            <a:endParaRPr lang="ru-RU"/>
          </a:p>
        </p:txBody>
      </p:sp>
      <p:sp>
        <p:nvSpPr>
          <p:cNvPr id="19340232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006940143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Только заголовок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63788738" name="Picture 5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2127295648" name="Picture 6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908021520" name="Rectangle 7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31909603" name="Rectangle 8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6892625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937609024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29ED90D-AFD6-42C1-85C6-CF99FBC4C833}" type="datetime1">
              <a:rPr lang="ru-RU"/>
              <a:t>01.06.2026</a:t>
            </a:fld>
            <a:endParaRPr lang="ru-RU"/>
          </a:p>
        </p:txBody>
      </p:sp>
      <p:sp>
        <p:nvSpPr>
          <p:cNvPr id="48205756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04762390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35975997" name="Picture 4" descr="HD-ShadowShort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204008860" name="Rectangle 5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2845346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2ED0C28E-1AAB-4940-A618-82A4AEEBD04E}" type="datetime1">
              <a:rPr lang="ru-RU"/>
              <a:t>01.06.2026</a:t>
            </a:fld>
            <a:endParaRPr lang="ru-RU"/>
          </a:p>
        </p:txBody>
      </p:sp>
      <p:sp>
        <p:nvSpPr>
          <p:cNvPr id="209954174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88148704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55427232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913786001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200730199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30798151" name="Rectangle 10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1572523" name="Title 1"/>
          <p:cNvSpPr>
            <a:spLocks noGrp="1"/>
          </p:cNvSpPr>
          <p:nvPr>
            <p:ph type="title"/>
          </p:nvPr>
        </p:nvSpPr>
        <p:spPr bwMode="auto"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770555563" name="Content Placeholder 2"/>
          <p:cNvSpPr>
            <a:spLocks noGrp="1"/>
          </p:cNvSpPr>
          <p:nvPr>
            <p:ph idx="1"/>
          </p:nvPr>
        </p:nvSpPr>
        <p:spPr bwMode="auto">
          <a:xfrm>
            <a:off x="4685846" y="2336873"/>
            <a:ext cx="5608336" cy="3599313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88142296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2" y="2336872"/>
            <a:ext cx="3790078" cy="359931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4853241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D33F6C0-CC67-46E7-A4C1-44185FCC4C9F}" type="datetime1">
              <a:rPr lang="ru-RU"/>
              <a:t>01.06.2026</a:t>
            </a:fld>
            <a:endParaRPr lang="ru-RU"/>
          </a:p>
        </p:txBody>
      </p:sp>
      <p:sp>
        <p:nvSpPr>
          <p:cNvPr id="86026746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4313264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54537630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823221627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94168257" name="Rectangle 9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83246927" name="Rectangle 10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56748975" name="Title 1"/>
          <p:cNvSpPr>
            <a:spLocks noGrp="1"/>
          </p:cNvSpPr>
          <p:nvPr>
            <p:ph type="title"/>
          </p:nvPr>
        </p:nvSpPr>
        <p:spPr bwMode="auto">
          <a:xfrm>
            <a:off x="680323" y="753227"/>
            <a:ext cx="9613857" cy="1080938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2392098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4868332" y="2336874"/>
            <a:ext cx="5425849" cy="3599312"/>
          </a:xfrm>
          <a:prstGeom prst="rect">
            <a:avLst/>
          </a:prstGeo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182012133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3" y="2336873"/>
            <a:ext cx="3876256" cy="3599315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12289485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7C135C7-FEC2-4E72-B7AE-897AE27E5904}" type="datetime1">
              <a:rPr lang="ru-RU"/>
              <a:t>01.06.2026</a:t>
            </a:fld>
            <a:endParaRPr lang="ru-RU"/>
          </a:p>
        </p:txBody>
      </p:sp>
      <p:sp>
        <p:nvSpPr>
          <p:cNvPr id="19317254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0012478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анорамная фотография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97481773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27122754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779907195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17641922" name="Rectangle 10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10305841" name="Title 1"/>
          <p:cNvSpPr>
            <a:spLocks noGrp="1"/>
          </p:cNvSpPr>
          <p:nvPr>
            <p:ph type="title"/>
          </p:nvPr>
        </p:nvSpPr>
        <p:spPr bwMode="auto">
          <a:xfrm>
            <a:off x="680322" y="4711616"/>
            <a:ext cx="9613859" cy="453051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496830975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680322" y="609597"/>
            <a:ext cx="9613859" cy="3589574"/>
          </a:xfrm>
          <a:prstGeom prst="rect">
            <a:avLst/>
          </a:prstGeo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55441925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19" y="5169583"/>
            <a:ext cx="9613862" cy="62297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0708812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4EFA2AB-F839-4A44-950B-95EA003533DF}" type="datetime1">
              <a:rPr lang="ru-RU"/>
              <a:t>01.06.2026</a:t>
            </a:fld>
            <a:endParaRPr lang="ru-RU"/>
          </a:p>
        </p:txBody>
      </p:sp>
      <p:sp>
        <p:nvSpPr>
          <p:cNvPr id="38626297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80857579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11309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подпись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2127198" name="Picture 7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308019010" name="Picture 8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863084750" name="Rectangle 9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6221952" name="Rectangle 10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43982767" name="Title 1"/>
          <p:cNvSpPr>
            <a:spLocks noGrp="1"/>
          </p:cNvSpPr>
          <p:nvPr>
            <p:ph type="title"/>
          </p:nvPr>
        </p:nvSpPr>
        <p:spPr bwMode="auto">
          <a:xfrm>
            <a:off x="680322" y="609597"/>
            <a:ext cx="9613858" cy="3592750"/>
          </a:xfrm>
        </p:spPr>
        <p:txBody>
          <a:bodyPr anchor="ctr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88022929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2" y="4711615"/>
            <a:ext cx="9613859" cy="1090789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379239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24A0CC5-B245-472E-AF57-AEB0B807CF20}" type="datetime1">
              <a:rPr lang="ru-RU"/>
              <a:t>01.06.2026</a:t>
            </a:fld>
            <a:endParaRPr lang="ru-RU"/>
          </a:p>
        </p:txBody>
      </p:sp>
      <p:sp>
        <p:nvSpPr>
          <p:cNvPr id="67497630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730600222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1161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Цитата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73735470" name="Picture 10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992427127" name="Picture 12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1900193562" name="Rectangle 13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87168465" name="Rectangle 14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78476752" name="Title 1"/>
          <p:cNvSpPr>
            <a:spLocks noGrp="1"/>
          </p:cNvSpPr>
          <p:nvPr>
            <p:ph type="title"/>
          </p:nvPr>
        </p:nvSpPr>
        <p:spPr bwMode="auto">
          <a:xfrm>
            <a:off x="1127856" y="609598"/>
            <a:ext cx="8718877" cy="3036061"/>
          </a:xfrm>
        </p:spPr>
        <p:txBody>
          <a:bodyPr anchor="ctr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785276350" name="Text Placeholder 3"/>
          <p:cNvSpPr>
            <a:spLocks noGrp="1"/>
          </p:cNvSpPr>
          <p:nvPr>
            <p:ph type="body" sz="half" idx="13"/>
          </p:nvPr>
        </p:nvSpPr>
        <p:spPr bwMode="auto">
          <a:xfrm>
            <a:off x="1402288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9632648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22" y="4711615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2026313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EAFB361-7216-413F-80CA-9CAE525DAE41}" type="datetime1">
              <a:rPr lang="ru-RU"/>
              <a:t>01.06.2026</a:t>
            </a:fld>
            <a:endParaRPr lang="ru-RU"/>
          </a:p>
        </p:txBody>
      </p:sp>
      <p:sp>
        <p:nvSpPr>
          <p:cNvPr id="184921501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065905435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0992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  <p:sp>
        <p:nvSpPr>
          <p:cNvPr id="41172897" name="TextBox 15"/>
          <p:cNvSpPr txBox="1"/>
          <p:nvPr/>
        </p:nvSpPr>
        <p:spPr bwMode="auto">
          <a:xfrm>
            <a:off x="583572" y="748116"/>
            <a:ext cx="609600" cy="584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ts val="0"/>
              </a:spcBef>
              <a:buNone/>
              <a:defRPr sz="3200" b="0" cap="all">
                <a:ln w="3175" cmpd="sng">
                  <a:noFill/>
                </a:ln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>
              <a:defRPr/>
            </a:pPr>
            <a:r>
              <a:rPr lang="en-US" sz="7200">
                <a:solidFill>
                  <a:schemeClr val="tx1"/>
                </a:solidFill>
              </a:rPr>
              <a:t>“</a:t>
            </a:r>
            <a:endParaRPr/>
          </a:p>
        </p:txBody>
      </p:sp>
      <p:sp>
        <p:nvSpPr>
          <p:cNvPr id="1932976632" name="TextBox 16"/>
          <p:cNvSpPr txBox="1"/>
          <p:nvPr/>
        </p:nvSpPr>
        <p:spPr bwMode="auto">
          <a:xfrm>
            <a:off x="9662809" y="3033524"/>
            <a:ext cx="609600" cy="58477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ts val="0"/>
              </a:spcBef>
              <a:buNone/>
              <a:defRPr sz="3200" b="0" cap="all">
                <a:ln w="3175" cmpd="sng">
                  <a:noFill/>
                </a:ln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>
              <a:defRPr/>
            </a:pPr>
            <a:r>
              <a:rPr lang="en-US" sz="7200">
                <a:solidFill>
                  <a:schemeClr val="tx1"/>
                </a:solidFill>
              </a:rPr>
              <a:t>”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арточка имен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57853767" name="Picture 8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5928628"/>
            <a:ext cx="10437812" cy="321164"/>
          </a:xfrm>
          <a:prstGeom prst="rect">
            <a:avLst/>
          </a:prstGeom>
        </p:spPr>
      </p:pic>
      <p:pic>
        <p:nvPicPr>
          <p:cNvPr id="1613816746" name="Picture 9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5929622"/>
            <a:ext cx="1602997" cy="144270"/>
          </a:xfrm>
          <a:prstGeom prst="rect">
            <a:avLst/>
          </a:prstGeom>
        </p:spPr>
      </p:pic>
      <p:sp>
        <p:nvSpPr>
          <p:cNvPr id="260243805" name="Rectangle 10"/>
          <p:cNvSpPr/>
          <p:nvPr/>
        </p:nvSpPr>
        <p:spPr bwMode="ltGray">
          <a:xfrm>
            <a:off x="0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65444219" name="Rectangle 11"/>
          <p:cNvSpPr/>
          <p:nvPr/>
        </p:nvSpPr>
        <p:spPr bwMode="auto">
          <a:xfrm>
            <a:off x="10585827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78052845" name="Title 1"/>
          <p:cNvSpPr>
            <a:spLocks noGrp="1"/>
          </p:cNvSpPr>
          <p:nvPr>
            <p:ph type="title"/>
          </p:nvPr>
        </p:nvSpPr>
        <p:spPr bwMode="auto">
          <a:xfrm>
            <a:off x="680319" y="4711615"/>
            <a:ext cx="9613862" cy="588535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19879920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0319" y="5300149"/>
            <a:ext cx="9613862" cy="50225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046678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30C319CB-0B23-4CFE-96CE-45AA0E5B0BBA}" type="datetime1">
              <a:rPr lang="ru-RU"/>
              <a:t>01.06.2026</a:t>
            </a:fld>
            <a:endParaRPr lang="ru-RU"/>
          </a:p>
        </p:txBody>
      </p:sp>
      <p:sp>
        <p:nvSpPr>
          <p:cNvPr id="85159685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99834361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0729455" y="4709925"/>
            <a:ext cx="1154151" cy="1090789"/>
          </a:xfrm>
        </p:spPr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ри колонк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20389651" name="Picture 12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504807607" name="Picture 13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819472790" name="Rectangle 15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461409714" name="Rectangle 16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989439033" name="Title 1"/>
          <p:cNvSpPr>
            <a:spLocks noGrp="1"/>
          </p:cNvSpPr>
          <p:nvPr>
            <p:ph type="title"/>
          </p:nvPr>
        </p:nvSpPr>
        <p:spPr bwMode="auto">
          <a:xfrm>
            <a:off x="669222" y="753227"/>
            <a:ext cx="9624960" cy="1080938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00131323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60946" y="2336873"/>
            <a:ext cx="307003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705358639" name="Text Placeholder 3"/>
          <p:cNvSpPr>
            <a:spLocks noGrp="1"/>
          </p:cNvSpPr>
          <p:nvPr>
            <p:ph type="body" sz="half" idx="15"/>
          </p:nvPr>
        </p:nvSpPr>
        <p:spPr bwMode="auto">
          <a:xfrm>
            <a:off x="680322" y="3022673"/>
            <a:ext cx="3049702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95634624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218934" name="Text Placeholder 3"/>
          <p:cNvSpPr>
            <a:spLocks noGrp="1"/>
          </p:cNvSpPr>
          <p:nvPr>
            <p:ph type="body" sz="half" idx="16"/>
          </p:nvPr>
        </p:nvSpPr>
        <p:spPr bwMode="auto">
          <a:xfrm>
            <a:off x="3945470" y="3022673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27496642" name="Text Placeholder 4"/>
          <p:cNvSpPr>
            <a:spLocks noGrp="1"/>
          </p:cNvSpPr>
          <p:nvPr>
            <p:ph type="body" sz="quarter" idx="13"/>
          </p:nvPr>
        </p:nvSpPr>
        <p:spPr bwMode="auto">
          <a:xfrm>
            <a:off x="7224156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5824123" name="Text Placeholder 3"/>
          <p:cNvSpPr>
            <a:spLocks noGrp="1"/>
          </p:cNvSpPr>
          <p:nvPr>
            <p:ph type="body" sz="half" idx="17"/>
          </p:nvPr>
        </p:nvSpPr>
        <p:spPr bwMode="auto">
          <a:xfrm>
            <a:off x="7224156" y="3022673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35084389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63D50390-CEDD-4FD5-B155-435C15905F75}" type="datetime1">
              <a:rPr lang="ru-RU"/>
              <a:t>01.06.2026</a:t>
            </a:fld>
            <a:endParaRPr lang="ru-RU"/>
          </a:p>
        </p:txBody>
      </p:sp>
      <p:sp>
        <p:nvSpPr>
          <p:cNvPr id="1755009473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123628243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олбец с тремя рисункам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48338108" name="Picture 14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1526310207" name="Picture 15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618852297" name="Rectangle 16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00863528" name="Rectangle 17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60999972" name="Title 1"/>
          <p:cNvSpPr>
            <a:spLocks noGrp="1"/>
          </p:cNvSpPr>
          <p:nvPr>
            <p:ph type="title"/>
          </p:nvPr>
        </p:nvSpPr>
        <p:spPr bwMode="auto">
          <a:xfrm>
            <a:off x="680322" y="753227"/>
            <a:ext cx="9613860" cy="1080938"/>
          </a:xfrm>
        </p:spPr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5037526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0318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93169918" name="Picture Placeholder 2"/>
          <p:cNvSpPr>
            <a:spLocks noChangeAspect="1" noGrp="1"/>
          </p:cNvSpPr>
          <p:nvPr>
            <p:ph type="pic" idx="15"/>
          </p:nvPr>
        </p:nvSpPr>
        <p:spPr bwMode="auto">
          <a:xfrm>
            <a:off x="680318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739336679" name="Text Placeholder 3"/>
          <p:cNvSpPr>
            <a:spLocks noGrp="1"/>
          </p:cNvSpPr>
          <p:nvPr>
            <p:ph type="body" sz="half" idx="18"/>
          </p:nvPr>
        </p:nvSpPr>
        <p:spPr bwMode="auto">
          <a:xfrm>
            <a:off x="680318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0812070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06605168" name="Picture Placeholder 2"/>
          <p:cNvSpPr>
            <a:spLocks noChangeAspect="1" noGrp="1"/>
          </p:cNvSpPr>
          <p:nvPr>
            <p:ph type="pic" idx="21"/>
          </p:nvPr>
        </p:nvSpPr>
        <p:spPr bwMode="auto">
          <a:xfrm>
            <a:off x="3945470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1109552243" name="Text Placeholder 3"/>
          <p:cNvSpPr>
            <a:spLocks noGrp="1"/>
          </p:cNvSpPr>
          <p:nvPr>
            <p:ph type="body" sz="half" idx="19"/>
          </p:nvPr>
        </p:nvSpPr>
        <p:spPr bwMode="auto">
          <a:xfrm>
            <a:off x="3944117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8487040" name="Text Placeholder 4"/>
          <p:cNvSpPr>
            <a:spLocks noGrp="1"/>
          </p:cNvSpPr>
          <p:nvPr>
            <p:ph type="body" sz="quarter" idx="13"/>
          </p:nvPr>
        </p:nvSpPr>
        <p:spPr bwMode="auto">
          <a:xfrm>
            <a:off x="7230678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43157596" name="Picture Placeholder 2"/>
          <p:cNvSpPr>
            <a:spLocks noChangeAspect="1" noGrp="1"/>
          </p:cNvSpPr>
          <p:nvPr>
            <p:ph type="pic" idx="22"/>
          </p:nvPr>
        </p:nvSpPr>
        <p:spPr bwMode="auto">
          <a:xfrm>
            <a:off x="7230677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>
              <a:defRPr/>
            </a:pPr>
            <a:r>
              <a:rPr lang="ru-RU"/>
              <a:t>Вставка рисунка</a:t>
            </a:r>
            <a:endParaRPr lang="en-US"/>
          </a:p>
        </p:txBody>
      </p:sp>
      <p:sp>
        <p:nvSpPr>
          <p:cNvPr id="551241935" name="Text Placeholder 3"/>
          <p:cNvSpPr>
            <a:spLocks noGrp="1"/>
          </p:cNvSpPr>
          <p:nvPr>
            <p:ph type="body" sz="half" idx="20"/>
          </p:nvPr>
        </p:nvSpPr>
        <p:spPr bwMode="auto"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126915560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DA3FF197-965B-4EEB-95A1-0243C61984BC}" type="datetime1">
              <a:rPr lang="ru-RU"/>
              <a:t>01.06.2026</a:t>
            </a:fld>
            <a:endParaRPr lang="ru-RU"/>
          </a:p>
        </p:txBody>
      </p:sp>
      <p:sp>
        <p:nvSpPr>
          <p:cNvPr id="1374565076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319525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Заголовок и вертикальный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94530775" name="Picture 6" descr="HD-ShadowLong.png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>
            <a:off x="1" y="1970240"/>
            <a:ext cx="10437812" cy="321164"/>
          </a:xfrm>
          <a:prstGeom prst="rect">
            <a:avLst/>
          </a:prstGeom>
        </p:spPr>
      </p:pic>
      <p:pic>
        <p:nvPicPr>
          <p:cNvPr id="200008313" name="Picture 7" descr="HD-ShadowShor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585826" y="1971234"/>
            <a:ext cx="1602997" cy="144270"/>
          </a:xfrm>
          <a:prstGeom prst="rect">
            <a:avLst/>
          </a:prstGeom>
        </p:spPr>
      </p:pic>
      <p:sp>
        <p:nvSpPr>
          <p:cNvPr id="1317742323" name="Rectangle 8"/>
          <p:cNvSpPr/>
          <p:nvPr/>
        </p:nvSpPr>
        <p:spPr bwMode="ltGray">
          <a:xfrm>
            <a:off x="0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483767323" name="Rectangle 9"/>
          <p:cNvSpPr/>
          <p:nvPr/>
        </p:nvSpPr>
        <p:spPr bwMode="auto">
          <a:xfrm>
            <a:off x="10585827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8593024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617601575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01443259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EBB2CE28-736B-48E2-99ED-0BD52E05726A}" type="datetime1">
              <a:rPr lang="ru-RU"/>
              <a:t>01.06.2026</a:t>
            </a:fld>
            <a:endParaRPr lang="ru-RU"/>
          </a:p>
        </p:txBody>
      </p:sp>
      <p:sp>
        <p:nvSpPr>
          <p:cNvPr id="153557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4687367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Вертикальный заголовок и текс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2144021" name="Rectangle 6"/>
          <p:cNvSpPr/>
          <p:nvPr/>
        </p:nvSpPr>
        <p:spPr bwMode="ltGray">
          <a:xfrm rot="5400000">
            <a:off x="8116207" y="1869395"/>
            <a:ext cx="5106988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17050668" name="Rectangle 7"/>
          <p:cNvSpPr/>
          <p:nvPr/>
        </p:nvSpPr>
        <p:spPr bwMode="auto">
          <a:xfrm rot="5400000">
            <a:off x="9868202" y="5372403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22301477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10129231" y="609597"/>
            <a:ext cx="1073802" cy="4353760"/>
          </a:xfrm>
        </p:spPr>
        <p:txBody>
          <a:bodyPr vert="eaVert"/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78813076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80322" y="609597"/>
            <a:ext cx="8870004" cy="5326589"/>
          </a:xfrm>
        </p:spPr>
        <p:txBody>
          <a:bodyPr vert="eaVert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306540877" name="Date Placeholder 3"/>
          <p:cNvSpPr>
            <a:spLocks noGrp="1"/>
          </p:cNvSpPr>
          <p:nvPr>
            <p:ph type="dt" sz="half" idx="10"/>
          </p:nvPr>
        </p:nvSpPr>
        <p:spPr bwMode="auto">
          <a:xfrm>
            <a:off x="6807126" y="5936187"/>
            <a:ext cx="2743200" cy="365125"/>
          </a:xfrm>
        </p:spPr>
        <p:txBody>
          <a:bodyPr/>
          <a:lstStyle/>
          <a:p>
            <a:pPr>
              <a:defRPr/>
            </a:pPr>
            <a:fld id="{D4606681-2AC3-4131-96D3-70EDB21AFA15}" type="datetime1">
              <a:rPr lang="ru-RU"/>
              <a:t>01.06.2026</a:t>
            </a:fld>
            <a:endParaRPr lang="ru-RU"/>
          </a:p>
        </p:txBody>
      </p:sp>
      <p:sp>
        <p:nvSpPr>
          <p:cNvPr id="174038860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680321" y="5936188"/>
            <a:ext cx="6126805" cy="365125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11653559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10097550" y="5398633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Relationship Id="rId1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3">
        <a:schemeClr val="bg2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07738070" name="Picture 6" descr="hashOverlay-FullResolve.png"/>
          <p:cNvPicPr>
            <a:picLocks noChangeAspect="1"/>
          </p:cNvPicPr>
          <p:nvPr/>
        </p:nvPicPr>
        <p:blipFill rotWithShape="1">
          <a:blip r:embed="rId19">
            <a:alphaModFix amt="10000"/>
          </a:blip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89169213" name="Title Placeholder 1"/>
          <p:cNvSpPr>
            <a:spLocks noGrp="1"/>
          </p:cNvSpPr>
          <p:nvPr>
            <p:ph type="title"/>
          </p:nvPr>
        </p:nvSpPr>
        <p:spPr bwMode="auto">
          <a:xfrm>
            <a:off x="680321" y="753227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214296555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en-US"/>
          </a:p>
        </p:txBody>
      </p:sp>
      <p:sp>
        <p:nvSpPr>
          <p:cNvPr id="1406364280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7550981" y="5936187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804B51F-D699-4AE5-A8B3-5473B1D05C3C}" type="datetime1">
              <a:rPr lang="ru-RU"/>
              <a:t>01.06.2026</a:t>
            </a:fld>
            <a:endParaRPr lang="ru-RU"/>
          </a:p>
        </p:txBody>
      </p:sp>
      <p:sp>
        <p:nvSpPr>
          <p:cNvPr id="1667588972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680321" y="5936188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19637287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10729455" y="753227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CF8DEEF-AAF2-493E-906B-C0B6A8D6E6A2}" type="slidenum">
              <a:rPr lang="ru-RU"/>
              <a:t>‹#›</a:t>
            </a:fld>
            <a:endParaRPr lang="ru-RU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dt="0" ftr="0" hdr="0" sldNum="1"/>
  <p:txStyles>
    <p:titleStyle>
      <a:lvl1pPr algn="l" defTabSz="914400" rtl="0">
        <a:lnSpc>
          <a:spcPct val="90000"/>
        </a:lnSpc>
        <a:spcBef>
          <a:spcPts val="0"/>
        </a:spcBef>
        <a:buNone/>
        <a:defRPr sz="36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6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6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4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4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4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4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media1.sv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Relationship Id="rId4" Type="http://schemas.openxmlformats.org/officeDocument/2006/relationships/image" Target="../media/media2.sv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Relationship Id="rId4" Type="http://schemas.openxmlformats.org/officeDocument/2006/relationships/image" Target="../media/media3.sv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media4.sv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media5.sv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Relationship Id="rId4" Type="http://schemas.openxmlformats.org/officeDocument/2006/relationships/image" Target="../media/media6.sv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Relationship Id="rId4" Type="http://schemas.openxmlformats.org/officeDocument/2006/relationships/image" Target="../media/media7.sv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8705062" name="Заголовок 1"/>
          <p:cNvSpPr>
            <a:spLocks noGrp="1"/>
          </p:cNvSpPr>
          <p:nvPr>
            <p:ph type="ctrTitle"/>
          </p:nvPr>
        </p:nvSpPr>
        <p:spPr bwMode="auto">
          <a:xfrm>
            <a:off x="173183" y="2660072"/>
            <a:ext cx="8645236" cy="1427431"/>
          </a:xfrm>
        </p:spPr>
        <p:txBody>
          <a:bodyPr>
            <a:noAutofit/>
          </a:bodyPr>
          <a:lstStyle/>
          <a:p>
            <a:pPr algn="r">
              <a:defRPr/>
            </a:pPr>
            <a:r>
              <a:rPr lang="ru-RU" sz="3200">
                <a:solidFill>
                  <a:srgbClr val="FFFFFF"/>
                </a:solidFill>
              </a:rPr>
              <a:t>Разработка упрощенного графического ускорителя. Разработка модели упрощенного графического ядра.</a:t>
            </a:r>
            <a:endParaRPr/>
          </a:p>
        </p:txBody>
      </p:sp>
      <p:sp>
        <p:nvSpPr>
          <p:cNvPr id="1196660029" name="Подзаголовок 2"/>
          <p:cNvSpPr>
            <a:spLocks noGrp="1"/>
          </p:cNvSpPr>
          <p:nvPr>
            <p:ph type="subTitle" idx="1"/>
          </p:nvPr>
        </p:nvSpPr>
        <p:spPr bwMode="auto">
          <a:xfrm>
            <a:off x="6006607" y="5400571"/>
            <a:ext cx="6051236" cy="1241828"/>
          </a:xfrm>
        </p:spPr>
        <p:txBody>
          <a:bodyPr>
            <a:normAutofit fontScale="92500" lnSpcReduction="20000"/>
          </a:bodyPr>
          <a:lstStyle/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Воронежский Государственный Университет</a:t>
            </a:r>
            <a:endParaRPr/>
          </a:p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Сделал: студент 2 курса магистратуры 11 группа Старухин Данила Михайлович</a:t>
            </a:r>
            <a:endParaRPr/>
          </a:p>
          <a:p>
            <a:pPr algn="r">
              <a:defRPr/>
            </a:pPr>
            <a:r>
              <a:rPr lang="ru-RU">
                <a:solidFill>
                  <a:schemeClr val="bg1"/>
                </a:solidFill>
              </a:rPr>
              <a:t>Руководитель Авсеева О.В.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4458710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Введение</a:t>
            </a:r>
            <a:endParaRPr/>
          </a:p>
        </p:txBody>
      </p:sp>
      <p:sp>
        <p:nvSpPr>
          <p:cNvPr id="875269949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solidFill>
                <a:schemeClr val="bg1"/>
              </a:solidFill>
            </a:endParaRPr>
          </a:p>
        </p:txBody>
      </p:sp>
      <p:sp>
        <p:nvSpPr>
          <p:cNvPr id="1425886192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2</a:t>
            </a:fld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646331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Постановка задачи</a:t>
            </a:r>
            <a:endParaRPr/>
          </a:p>
        </p:txBody>
      </p:sp>
      <p:sp>
        <p:nvSpPr>
          <p:cNvPr id="1397292244" name="Объект 2"/>
          <p:cNvSpPr>
            <a:spLocks noGrp="1"/>
          </p:cNvSpPr>
          <p:nvPr>
            <p:ph idx="1"/>
          </p:nvPr>
        </p:nvSpPr>
        <p:spPr bwMode="auto">
          <a:xfrm>
            <a:off x="680321" y="2336873"/>
            <a:ext cx="11284069" cy="3599316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Цели</a:t>
            </a:r>
            <a:endParaRPr/>
          </a:p>
          <a:p>
            <a:pPr lvl="1">
              <a:defRPr/>
            </a:pPr>
            <a:r>
              <a:rPr lang="ru-RU">
                <a:solidFill>
                  <a:schemeClr val="bg1"/>
                </a:solidFill>
              </a:rPr>
              <a:t>Разработать упрощенную модель графического ядра.</a:t>
            </a:r>
            <a:endParaRPr/>
          </a:p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Задачи</a:t>
            </a:r>
            <a:endParaRPr/>
          </a:p>
          <a:p>
            <a:pPr lvl="1">
              <a:defRPr/>
            </a:pPr>
            <a:r>
              <a:rPr lang="ru-RU">
                <a:solidFill>
                  <a:schemeClr val="bg1"/>
                </a:solidFill>
              </a:rPr>
              <a:t>Провести анализ существующих архитектур графических процессоров и ядер;</a:t>
            </a:r>
            <a:endParaRPr/>
          </a:p>
          <a:p>
            <a:pPr lvl="1">
              <a:defRPr/>
            </a:pPr>
            <a:r>
              <a:rPr lang="ru-RU">
                <a:solidFill>
                  <a:schemeClr val="bg1"/>
                </a:solidFill>
              </a:rPr>
              <a:t>Спроектировать минимальную необходимую архитектуру набора инструкций (</a:t>
            </a:r>
            <a:r>
              <a:rPr lang="en-US">
                <a:solidFill>
                  <a:schemeClr val="bg1"/>
                </a:solidFill>
              </a:rPr>
              <a:t>ISA)</a:t>
            </a:r>
            <a:r>
              <a:rPr lang="ru-RU">
                <a:solidFill>
                  <a:schemeClr val="bg1"/>
                </a:solidFill>
              </a:rPr>
              <a:t>;</a:t>
            </a:r>
            <a:endParaRPr/>
          </a:p>
          <a:p>
            <a:pPr lvl="1">
              <a:defRPr/>
            </a:pPr>
            <a:r>
              <a:rPr lang="ru-RU">
                <a:solidFill>
                  <a:schemeClr val="bg1"/>
                </a:solidFill>
              </a:rPr>
              <a:t>Разработать архитектуру упрощенного графического ядра;</a:t>
            </a:r>
            <a:endParaRPr/>
          </a:p>
          <a:p>
            <a:pPr lvl="1">
              <a:defRPr/>
            </a:pPr>
            <a:r>
              <a:rPr lang="ru-RU">
                <a:solidFill>
                  <a:schemeClr val="bg1"/>
                </a:solidFill>
              </a:rPr>
              <a:t>Разработать модель упрощенного графического ядра, используя метод поблочной декомпозиции.</a:t>
            </a:r>
            <a:endParaRPr/>
          </a:p>
        </p:txBody>
      </p:sp>
      <p:sp>
        <p:nvSpPr>
          <p:cNvPr id="2116252578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3</a:t>
            </a:fld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422058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Актуальность работы</a:t>
            </a:r>
            <a:endParaRPr/>
          </a:p>
        </p:txBody>
      </p:sp>
      <p:sp>
        <p:nvSpPr>
          <p:cNvPr id="815344679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solidFill>
                <a:schemeClr val="bg1"/>
              </a:solidFill>
            </a:endParaRPr>
          </a:p>
        </p:txBody>
      </p:sp>
      <p:sp>
        <p:nvSpPr>
          <p:cNvPr id="1196122660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4</a:t>
            </a:fld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4368190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Обзор существующих архитектур</a:t>
            </a:r>
            <a:endParaRPr/>
          </a:p>
        </p:txBody>
      </p:sp>
      <p:sp>
        <p:nvSpPr>
          <p:cNvPr id="1383863890" name="Объект 2"/>
          <p:cNvSpPr>
            <a:spLocks noGrp="1"/>
          </p:cNvSpPr>
          <p:nvPr>
            <p:ph idx="1"/>
          </p:nvPr>
        </p:nvSpPr>
        <p:spPr bwMode="auto">
          <a:xfrm>
            <a:off x="384085" y="2140769"/>
            <a:ext cx="4414193" cy="3599316"/>
          </a:xfrm>
        </p:spPr>
        <p:txBody>
          <a:bodyPr/>
          <a:lstStyle/>
          <a:p>
            <a:pPr>
              <a:buFontTx/>
              <a:buChar char="-"/>
              <a:defRPr/>
            </a:pPr>
            <a:r>
              <a:rPr lang="ru-RU">
                <a:solidFill>
                  <a:schemeClr val="bg1"/>
                </a:solidFill>
              </a:rPr>
              <a:t>Все архитектуры имеют унифицированные вычислительные элементы</a:t>
            </a:r>
            <a:endParaRPr lang="ru-RU">
              <a:solidFill>
                <a:schemeClr val="bg1"/>
              </a:solidFill>
            </a:endParaRPr>
          </a:p>
          <a:p>
            <a:pPr>
              <a:buFontTx/>
              <a:buChar char="-"/>
              <a:defRPr/>
            </a:pPr>
            <a:endParaRPr lang="ru-RU">
              <a:solidFill>
                <a:schemeClr val="bg1"/>
              </a:solidFill>
            </a:endParaRPr>
          </a:p>
        </p:txBody>
      </p:sp>
      <p:sp>
        <p:nvSpPr>
          <p:cNvPr id="1463305009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5</a:t>
            </a:fld>
            <a:endParaRPr lang="ru-RU"/>
          </a:p>
        </p:txBody>
      </p:sp>
      <p:pic>
        <p:nvPicPr>
          <p:cNvPr id="363219215" name="Рисунок 5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6751330" y="3494367"/>
            <a:ext cx="4035286" cy="3050099"/>
          </a:xfrm>
          <a:prstGeom prst="rect">
            <a:avLst/>
          </a:prstGeom>
          <a:ln w="889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pic>
        <p:nvPicPr>
          <p:cNvPr id="123635919" name="Рисунок 7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407721" y="3494367"/>
            <a:ext cx="5609139" cy="3050099"/>
          </a:xfrm>
          <a:prstGeom prst="rect">
            <a:avLst/>
          </a:prstGeom>
          <a:ln w="889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sp>
        <p:nvSpPr>
          <p:cNvPr id="1739972171" name=""/>
          <p:cNvSpPr txBox="1"/>
          <p:nvPr/>
        </p:nvSpPr>
        <p:spPr bwMode="auto">
          <a:xfrm rot="0" flipH="0" flipV="0">
            <a:off x="4798278" y="1844015"/>
            <a:ext cx="521050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endParaRPr/>
          </a:p>
        </p:txBody>
      </p:sp>
      <p:sp>
        <p:nvSpPr>
          <p:cNvPr id="909941608" name="Объект 2"/>
          <p:cNvSpPr>
            <a:spLocks noGrp="1"/>
          </p:cNvSpPr>
          <p:nvPr/>
        </p:nvSpPr>
        <p:spPr bwMode="auto">
          <a:xfrm flipH="0" flipV="0">
            <a:off x="4876176" y="2027075"/>
            <a:ext cx="4126837" cy="3231088"/>
          </a:xfr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>
              <a:lnSpc>
                <a:spcPct val="90000"/>
              </a:lnSpc>
              <a:spcBef>
                <a:spcPts val="999"/>
              </a:spcBef>
              <a:buFont typeface="Arial"/>
              <a:buChar char="•"/>
              <a:defRPr sz="2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6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14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buFontTx/>
              <a:buChar char="-"/>
              <a:defRPr/>
            </a:pPr>
            <a:r>
              <a:rPr lang="ru-RU" sz="2400" b="0" i="0" u="none" strike="noStrike" cap="none" spc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Применяются отдельные вычислители </a:t>
            </a:r>
            <a:r>
              <a:rPr lang="ru-RU" sz="2400" b="0" i="0" u="none" strike="noStrike" cap="none" spc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вещественных и целых данных</a:t>
            </a:r>
            <a:endParaRPr sz="2400">
              <a:solidFill>
                <a:schemeClr val="bg1"/>
              </a:solidFill>
            </a:endParaRPr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0735190" name="Заголовок 1"/>
          <p:cNvSpPr>
            <a:spLocks noGrp="1"/>
          </p:cNvSpPr>
          <p:nvPr>
            <p:ph type="title"/>
          </p:nvPr>
        </p:nvSpPr>
        <p:spPr bwMode="auto"/>
        <p:txBody>
          <a:bodyPr>
            <a:normAutofit fontScale="90000"/>
          </a:bodyPr>
          <a:lstStyle/>
          <a:p>
            <a:pPr>
              <a:defRPr/>
            </a:pPr>
            <a:r>
              <a:rPr lang="ru-RU"/>
              <a:t>Разработка модели графического ядра: разработка архитектуры набора инструкций </a:t>
            </a:r>
            <a:r>
              <a:rPr lang="en-US"/>
              <a:t>(ISA)</a:t>
            </a:r>
            <a:endParaRPr lang="ru-RU"/>
          </a:p>
        </p:txBody>
      </p:sp>
      <p:sp>
        <p:nvSpPr>
          <p:cNvPr id="598484972" name="Объект 2"/>
          <p:cNvSpPr>
            <a:spLocks noGrp="1"/>
          </p:cNvSpPr>
          <p:nvPr>
            <p:ph idx="1"/>
          </p:nvPr>
        </p:nvSpPr>
        <p:spPr bwMode="auto">
          <a:xfrm>
            <a:off x="308759" y="2336873"/>
            <a:ext cx="3996046" cy="3599316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Минимально необходимый набор инструкций взят с дампа промежуточного представления</a:t>
            </a:r>
            <a:r>
              <a:rPr lang="en-US">
                <a:solidFill>
                  <a:schemeClr val="bg1"/>
                </a:solidFill>
              </a:rPr>
              <a:t> VKCUBE</a:t>
            </a:r>
            <a:endParaRPr/>
          </a:p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В качестве основы взята архитектура набора инструкций </a:t>
            </a:r>
            <a:r>
              <a:rPr lang="en-US">
                <a:solidFill>
                  <a:schemeClr val="bg1"/>
                </a:solidFill>
              </a:rPr>
              <a:t>RISC-V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1359751672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13</a:t>
            </a:fld>
            <a:endParaRPr lang="ru-RU"/>
          </a:p>
        </p:txBody>
      </p:sp>
      <p:pic>
        <p:nvPicPr>
          <p:cNvPr id="453544401" name="Рисунок 5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7394409" y="2475703"/>
            <a:ext cx="4522692" cy="1901649"/>
          </a:xfrm>
          <a:prstGeom prst="rect">
            <a:avLst/>
          </a:prstGeom>
          <a:ln w="28575">
            <a:solidFill>
              <a:schemeClr val="accent1">
                <a:lumMod val="50196"/>
              </a:schemeClr>
            </a:solidFill>
            <a:prstDash val="solid"/>
          </a:ln>
        </p:spPr>
      </p:pic>
      <p:pic>
        <p:nvPicPr>
          <p:cNvPr id="831698383" name="Рисунок 11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4360834" y="4838043"/>
            <a:ext cx="4933574" cy="1810032"/>
          </a:xfrm>
          <a:prstGeom prst="rect">
            <a:avLst/>
          </a:prstGeom>
          <a:ln w="28575">
            <a:solidFill>
              <a:schemeClr val="accent1">
                <a:lumMod val="50196"/>
              </a:schemeClr>
            </a:solidFill>
            <a:prstDash val="solid"/>
          </a:ln>
        </p:spPr>
      </p:pic>
      <p:pic>
        <p:nvPicPr>
          <p:cNvPr id="1421075016" name=""/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 bwMode="auto">
          <a:xfrm>
            <a:off x="4360834" y="2183515"/>
            <a:ext cx="2581274" cy="2486025"/>
          </a:xfrm>
          <a:prstGeom prst="rect">
            <a:avLst/>
          </a:prstGeom>
          <a:ln w="28575">
            <a:solidFill>
              <a:schemeClr val="accent1">
                <a:lumMod val="50196"/>
              </a:schemeClr>
            </a:solidFill>
            <a:prstDash val="solid"/>
          </a:ln>
        </p:spPr>
      </p:pic>
      <p:cxnSp>
        <p:nvCxnSpPr>
          <p:cNvPr id="23000171" name=""/>
          <p:cNvCxnSpPr>
            <a:stCxn id="453544401" idx="2"/>
          </p:cNvCxnSpPr>
          <p:nvPr/>
        </p:nvCxnSpPr>
        <p:spPr bwMode="auto">
          <a:xfrm rot="5400000" flipH="0" flipV="0">
            <a:off x="9245973" y="4425788"/>
            <a:ext cx="458218" cy="361346"/>
          </a:xfrm>
          <a:prstGeom prst="line">
            <a:avLst/>
          </a:prstGeom>
          <a:ln w="28575" cap="flat" cmpd="sng" algn="ctr">
            <a:solidFill>
              <a:schemeClr val="bg2">
                <a:lumMod val="50196"/>
              </a:schemeClr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1179738" name=""/>
          <p:cNvCxnSpPr>
            <a:stCxn id="453544401" idx="1"/>
            <a:endCxn id="1421075016" idx="3"/>
          </p:cNvCxnSpPr>
          <p:nvPr/>
        </p:nvCxnSpPr>
        <p:spPr bwMode="auto">
          <a:xfrm rot="10800000" flipH="0" flipV="0">
            <a:off x="6942109" y="3426527"/>
            <a:ext cx="452300" cy="0"/>
          </a:xfrm>
          <a:prstGeom prst="line">
            <a:avLst/>
          </a:prstGeom>
          <a:ln w="28575" cap="flat" cmpd="sng" algn="ctr">
            <a:solidFill>
              <a:schemeClr val="tx2">
                <a:lumMod val="10196"/>
              </a:schemeClr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3853922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Разработка потока модели упрощенного графического ядра: общая структура</a:t>
            </a:r>
            <a:endParaRPr lang="ru-RU"/>
          </a:p>
        </p:txBody>
      </p:sp>
      <p:sp>
        <p:nvSpPr>
          <p:cNvPr id="443765629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680320" y="2336872"/>
            <a:ext cx="3500037" cy="3599316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Поток</a:t>
            </a:r>
            <a:r>
              <a:rPr lang="ru-RU">
                <a:solidFill>
                  <a:schemeClr val="bg1"/>
                </a:solidFill>
              </a:rPr>
              <a:t> обрабатывает вещественные и целочисленные данные и хранит в промежуточной памяти </a:t>
            </a:r>
            <a:r>
              <a:rPr lang="en-US">
                <a:solidFill>
                  <a:schemeClr val="bg1"/>
                </a:solidFill>
              </a:rPr>
              <a:t>- Regfile</a:t>
            </a:r>
            <a:r>
              <a:rPr lang="ru-RU">
                <a:solidFill>
                  <a:schemeClr val="bg1"/>
                </a:solidFill>
              </a:rPr>
              <a:t>.</a:t>
            </a:r>
            <a:endParaRPr lang="ru-RU">
              <a:solidFill>
                <a:schemeClr val="bg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Основные компоненты: </a:t>
            </a:r>
            <a:r>
              <a:rPr lang="en-US">
                <a:solidFill>
                  <a:schemeClr val="bg1"/>
                </a:solidFill>
              </a:rPr>
              <a:t>FPU, ALU, Regfile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101735443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8C44681A-2184-8FE6-7CA2-B2F449D07AD3}" type="slidenum">
              <a:rPr lang="ru-RU"/>
              <a:t>8</a:t>
            </a:fld>
            <a:endParaRPr lang="ru-RU"/>
          </a:p>
        </p:txBody>
      </p:sp>
      <p:pic>
        <p:nvPicPr>
          <p:cNvPr id="823854662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4180358" y="2404408"/>
            <a:ext cx="7126171" cy="358392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8181351" name="Заголовок 1"/>
          <p:cNvSpPr>
            <a:spLocks noGrp="1"/>
          </p:cNvSpPr>
          <p:nvPr>
            <p:ph type="title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ru-RU"/>
              <a:t>Разработка модели упрощенного графического ядра: Блок загрузки и сохранения</a:t>
            </a:r>
            <a:endParaRPr lang="ru-RU"/>
          </a:p>
        </p:txBody>
      </p:sp>
      <p:sp>
        <p:nvSpPr>
          <p:cNvPr id="241652302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680320" y="2336872"/>
            <a:ext cx="4736811" cy="3599316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Предназначен для передачи </a:t>
            </a:r>
            <a:r>
              <a:rPr lang="ru-RU">
                <a:solidFill>
                  <a:schemeClr val="bg1"/>
                </a:solidFill>
              </a:rPr>
              <a:t>данных между внешней памятью и потоками</a:t>
            </a:r>
            <a:r>
              <a:rPr lang="ru-RU">
                <a:solidFill>
                  <a:schemeClr val="bg1"/>
                </a:solidFill>
              </a:rPr>
              <a:t>;</a:t>
            </a:r>
            <a:endParaRPr lang="ru-RU">
              <a:solidFill>
                <a:schemeClr val="bg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Может только загружать</a:t>
            </a:r>
            <a:r>
              <a:rPr lang="en-US">
                <a:solidFill>
                  <a:schemeClr val="bg1"/>
                </a:solidFill>
              </a:rPr>
              <a:t> (LOAD)</a:t>
            </a:r>
            <a:r>
              <a:rPr lang="ru-RU">
                <a:solidFill>
                  <a:schemeClr val="bg1"/>
                </a:solidFill>
              </a:rPr>
              <a:t> или сохранять</a:t>
            </a:r>
            <a:r>
              <a:rPr lang="en-US">
                <a:solidFill>
                  <a:schemeClr val="bg1"/>
                </a:solidFill>
              </a:rPr>
              <a:t> (STORE)</a:t>
            </a:r>
            <a:r>
              <a:rPr lang="ru-RU">
                <a:solidFill>
                  <a:schemeClr val="bg1"/>
                </a:solidFill>
              </a:rPr>
              <a:t>;</a:t>
            </a:r>
            <a:endParaRPr lang="ru-RU">
              <a:solidFill>
                <a:schemeClr val="bg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Работает по приходящей инструкции.</a:t>
            </a:r>
            <a:endParaRPr lang="ru-RU">
              <a:solidFill>
                <a:schemeClr val="bg1"/>
              </a:solidFill>
            </a:endParaRPr>
          </a:p>
          <a:p>
            <a:pPr>
              <a:defRPr/>
            </a:pPr>
            <a:endParaRPr lang="ru-RU">
              <a:solidFill>
                <a:schemeClr val="bg1"/>
              </a:solidFill>
            </a:endParaRPr>
          </a:p>
        </p:txBody>
      </p:sp>
      <p:sp>
        <p:nvSpPr>
          <p:cNvPr id="1950704629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3268CEBC-6C76-D4A5-843E-7A9602BB4FE0}" type="slidenum">
              <a:rPr lang="ru-RU"/>
              <a:t>9</a:t>
            </a:fld>
            <a:endParaRPr lang="ru-RU"/>
          </a:p>
        </p:txBody>
      </p:sp>
      <p:pic>
        <p:nvPicPr>
          <p:cNvPr id="1634201683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5282858" y="2336872"/>
            <a:ext cx="5927972" cy="37978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1281277" name="Заголовок 1"/>
          <p:cNvSpPr>
            <a:spLocks noGrp="1"/>
          </p:cNvSpPr>
          <p:nvPr>
            <p:ph type="title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lang="ru-RU" sz="3600" b="0" i="0" u="none" strike="noStrike" cap="none" spc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Разработка модели упрощенного графического ядра</a:t>
            </a:r>
            <a:r>
              <a:rPr lang="ru-RU"/>
              <a:t>: Интерконнект между </a:t>
            </a:r>
            <a:r>
              <a:rPr lang="en-US"/>
              <a:t>LSU </a:t>
            </a:r>
            <a:r>
              <a:rPr lang="ru-RU"/>
              <a:t>и потоками</a:t>
            </a:r>
            <a:endParaRPr/>
          </a:p>
        </p:txBody>
      </p:sp>
      <p:sp>
        <p:nvSpPr>
          <p:cNvPr id="788302279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680320" y="2336872"/>
            <a:ext cx="4409973" cy="3599316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Арбитр собирает с потоков данные и</a:t>
            </a:r>
            <a:r>
              <a:rPr lang="en-US">
                <a:solidFill>
                  <a:schemeClr val="bg1"/>
                </a:solidFill>
              </a:rPr>
              <a:t>/</a:t>
            </a:r>
            <a:r>
              <a:rPr lang="ru-RU">
                <a:solidFill>
                  <a:schemeClr val="bg1"/>
                </a:solidFill>
              </a:rPr>
              <a:t>или</a:t>
            </a:r>
            <a:r>
              <a:rPr lang="ru-RU">
                <a:solidFill>
                  <a:schemeClr val="bg1"/>
                </a:solidFill>
              </a:rPr>
              <a:t> адреса;</a:t>
            </a:r>
            <a:endParaRPr lang="ru-RU">
              <a:solidFill>
                <a:schemeClr val="bg1"/>
              </a:solidFill>
            </a:endParaRPr>
          </a:p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LSU</a:t>
            </a:r>
            <a:r>
              <a:rPr lang="ru-RU">
                <a:solidFill>
                  <a:schemeClr val="bg1"/>
                </a:solidFill>
              </a:rPr>
              <a:t> выполняет запросы  с данными и адресами поочередно;</a:t>
            </a:r>
            <a:endParaRPr lang="ru-RU">
              <a:solidFill>
                <a:schemeClr val="bg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Арбитр выдаёт результаты потокам</a:t>
            </a:r>
            <a:r>
              <a:rPr lang="ru-RU">
                <a:solidFill>
                  <a:schemeClr val="bg1"/>
                </a:solidFill>
              </a:rPr>
              <a:t> и</a:t>
            </a:r>
            <a:r>
              <a:rPr lang="en-US">
                <a:solidFill>
                  <a:schemeClr val="bg1"/>
                </a:solidFill>
              </a:rPr>
              <a:t>/</a:t>
            </a:r>
            <a:r>
              <a:rPr lang="ru-RU">
                <a:solidFill>
                  <a:schemeClr val="bg1"/>
                </a:solidFill>
              </a:rPr>
              <a:t>или статус готовности.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1292555640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9687AD8-1A48-903E-417E-81FF292386D7}" type="slidenum">
              <a:rPr lang="ru-RU"/>
              <a:t>8</a:t>
            </a:fld>
            <a:endParaRPr lang="ru-RU"/>
          </a:p>
        </p:txBody>
      </p:sp>
      <p:pic>
        <p:nvPicPr>
          <p:cNvPr id="834456587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5277783" y="2180571"/>
            <a:ext cx="5266039" cy="44017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9820904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3600" b="0" i="0" u="none" strike="noStrike" cap="none" spc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Разработка модели упрощенного графического ядра</a:t>
            </a:r>
            <a:r>
              <a:rPr lang="ru-RU"/>
              <a:t>: </a:t>
            </a:r>
            <a:r>
              <a:rPr lang="en-US"/>
              <a:t>Fetcher &amp; Decoder</a:t>
            </a:r>
            <a:endParaRPr/>
          </a:p>
        </p:txBody>
      </p:sp>
      <p:sp>
        <p:nvSpPr>
          <p:cNvPr id="1247729536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680320" y="2336872"/>
            <a:ext cx="5044973" cy="3599316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Fetcher – </a:t>
            </a:r>
            <a:r>
              <a:rPr lang="ru-RU">
                <a:solidFill>
                  <a:schemeClr val="bg1"/>
                </a:solidFill>
              </a:rPr>
              <a:t>блок захвата инструкций из памяти;</a:t>
            </a:r>
            <a:endParaRPr lang="ru-RU">
              <a:solidFill>
                <a:schemeClr val="bg1"/>
              </a:solidFill>
            </a:endParaRPr>
          </a:p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Decoder</a:t>
            </a:r>
            <a:r>
              <a:rPr lang="ru-RU">
                <a:solidFill>
                  <a:schemeClr val="bg1"/>
                </a:solidFill>
              </a:rPr>
              <a:t> – </a:t>
            </a:r>
            <a:r>
              <a:rPr lang="ru-RU">
                <a:solidFill>
                  <a:schemeClr val="bg1"/>
                </a:solidFill>
              </a:rPr>
              <a:t>дешифрование инструкций в структуры для передачи исполняемым блокам;</a:t>
            </a:r>
            <a:endParaRPr lang="ru-RU">
              <a:solidFill>
                <a:schemeClr val="bg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По программному счётчику </a:t>
            </a:r>
            <a:r>
              <a:rPr lang="en-US">
                <a:solidFill>
                  <a:schemeClr val="bg1"/>
                </a:solidFill>
              </a:rPr>
              <a:t>(PC)</a:t>
            </a:r>
            <a:r>
              <a:rPr lang="ru-RU">
                <a:solidFill>
                  <a:schemeClr val="bg1"/>
                </a:solidFill>
              </a:rPr>
              <a:t> </a:t>
            </a:r>
            <a:r>
              <a:rPr lang="en-US">
                <a:solidFill>
                  <a:schemeClr val="bg1"/>
                </a:solidFill>
              </a:rPr>
              <a:t>Fetcher</a:t>
            </a:r>
            <a:r>
              <a:rPr lang="ru-RU">
                <a:solidFill>
                  <a:schemeClr val="bg1"/>
                </a:solidFill>
              </a:rPr>
              <a:t> делает смещение по адресу и получает адрес.</a:t>
            </a:r>
            <a:endParaRPr lang="ru-RU">
              <a:solidFill>
                <a:schemeClr val="bg1"/>
              </a:solidFill>
            </a:endParaRPr>
          </a:p>
        </p:txBody>
      </p:sp>
      <p:sp>
        <p:nvSpPr>
          <p:cNvPr id="1136579917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E0C4E4E-F03C-EE6B-08CF-E8796A069A1F}" type="slidenum">
              <a:rPr lang="ru-RU"/>
              <a:t>11</a:t>
            </a:fld>
            <a:endParaRPr lang="ru-RU"/>
          </a:p>
        </p:txBody>
      </p:sp>
      <p:pic>
        <p:nvPicPr>
          <p:cNvPr id="323240157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>
            <a:off x="7046156" y="2170112"/>
            <a:ext cx="3248024" cy="41052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95388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3600" b="0" i="0" u="none" strike="noStrike" cap="none" spc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Разработка модели упрощенного графического ядра</a:t>
            </a:r>
            <a:r>
              <a:rPr lang="ru-RU"/>
              <a:t>: Интерфейсы</a:t>
            </a:r>
            <a:endParaRPr/>
          </a:p>
        </p:txBody>
      </p:sp>
      <p:sp>
        <p:nvSpPr>
          <p:cNvPr id="1360229441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680320" y="2336872"/>
            <a:ext cx="5269090" cy="3599316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Необходимы высокоскоростные интерфейсы;</a:t>
            </a:r>
            <a:endParaRPr lang="ru-RU">
              <a:solidFill>
                <a:schemeClr val="bg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В качестве интерфейсов взяты</a:t>
            </a:r>
            <a:r>
              <a:rPr lang="en-US">
                <a:solidFill>
                  <a:schemeClr val="bg1"/>
                </a:solidFill>
              </a:rPr>
              <a:t>: AMBA APB,  AMBA AHB</a:t>
            </a:r>
            <a:r>
              <a:rPr lang="ru-RU">
                <a:solidFill>
                  <a:schemeClr val="bg1"/>
                </a:solidFill>
              </a:rPr>
              <a:t>;</a:t>
            </a:r>
            <a:endParaRPr lang="ru-RU">
              <a:solidFill>
                <a:schemeClr val="bg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Для </a:t>
            </a:r>
            <a:r>
              <a:rPr lang="en-US">
                <a:solidFill>
                  <a:schemeClr val="bg1"/>
                </a:solidFill>
              </a:rPr>
              <a:t>Regmap</a:t>
            </a:r>
            <a:r>
              <a:rPr lang="ru-RU">
                <a:solidFill>
                  <a:schemeClr val="bg1"/>
                </a:solidFill>
              </a:rPr>
              <a:t> интерфейс </a:t>
            </a:r>
            <a:r>
              <a:rPr lang="en-US">
                <a:solidFill>
                  <a:schemeClr val="bg1"/>
                </a:solidFill>
              </a:rPr>
              <a:t>APB</a:t>
            </a:r>
            <a:r>
              <a:rPr lang="ru-RU">
                <a:solidFill>
                  <a:schemeClr val="bg1"/>
                </a:solidFill>
              </a:rPr>
              <a:t>, где </a:t>
            </a:r>
            <a:r>
              <a:rPr lang="en-US">
                <a:solidFill>
                  <a:schemeClr val="bg1"/>
                </a:solidFill>
              </a:rPr>
              <a:t>Regmap - </a:t>
            </a:r>
            <a:r>
              <a:rPr lang="ru-RU">
                <a:solidFill>
                  <a:schemeClr val="bg1"/>
                </a:solidFill>
              </a:rPr>
              <a:t>ведомый;</a:t>
            </a:r>
            <a:endParaRPr lang="ru-RU">
              <a:solidFill>
                <a:schemeClr val="bg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Для </a:t>
            </a:r>
            <a:r>
              <a:rPr lang="en-US">
                <a:solidFill>
                  <a:schemeClr val="bg1"/>
                </a:solidFill>
              </a:rPr>
              <a:t>Fetcher </a:t>
            </a:r>
            <a:r>
              <a:rPr lang="ru-RU">
                <a:solidFill>
                  <a:schemeClr val="bg1"/>
                </a:solidFill>
              </a:rPr>
              <a:t>и </a:t>
            </a:r>
            <a:r>
              <a:rPr lang="en-US">
                <a:solidFill>
                  <a:schemeClr val="bg1"/>
                </a:solidFill>
              </a:rPr>
              <a:t>LSU</a:t>
            </a:r>
            <a:r>
              <a:rPr lang="ru-RU">
                <a:solidFill>
                  <a:schemeClr val="bg1"/>
                </a:solidFill>
              </a:rPr>
              <a:t> интерфейс </a:t>
            </a:r>
            <a:r>
              <a:rPr lang="en-US">
                <a:solidFill>
                  <a:schemeClr val="bg1"/>
                </a:solidFill>
              </a:rPr>
              <a:t>AHB</a:t>
            </a:r>
            <a:r>
              <a:rPr lang="ru-RU">
                <a:solidFill>
                  <a:schemeClr val="bg1"/>
                </a:solidFill>
              </a:rPr>
              <a:t>, где </a:t>
            </a:r>
            <a:r>
              <a:rPr lang="ru-RU">
                <a:solidFill>
                  <a:schemeClr val="bg1"/>
                </a:solidFill>
              </a:rPr>
              <a:t>они - ведущие.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545049263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E2ADD01-EDAB-891B-508A-6962AD7A2457}" type="slidenum">
              <a:rPr lang="ru-RU"/>
              <a:t>14</a:t>
            </a:fld>
            <a:endParaRPr lang="ru-RU"/>
          </a:p>
        </p:txBody>
      </p:sp>
      <p:pic>
        <p:nvPicPr>
          <p:cNvPr id="2139026081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5698034" y="2178122"/>
            <a:ext cx="5523816" cy="42279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9380248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 sz="3600" b="0" i="0" u="none" strike="noStrike" cap="none" spc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Разработка модели упрощенного графического ядра</a:t>
            </a:r>
            <a:r>
              <a:rPr lang="ru-RU"/>
              <a:t>: Общая структура ядра</a:t>
            </a:r>
            <a:endParaRPr/>
          </a:p>
        </p:txBody>
      </p:sp>
      <p:sp>
        <p:nvSpPr>
          <p:cNvPr id="950479278" name="Объект 2"/>
          <p:cNvSpPr>
            <a:spLocks noGrp="1"/>
          </p:cNvSpPr>
          <p:nvPr>
            <p:ph idx="1"/>
          </p:nvPr>
        </p:nvSpPr>
        <p:spPr bwMode="auto">
          <a:xfrm flipH="0" flipV="0">
            <a:off x="680320" y="2336872"/>
            <a:ext cx="4176516" cy="359931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0000" lnSpcReduction="4000"/>
          </a:bodyPr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Fetcher</a:t>
            </a:r>
            <a:r>
              <a:rPr lang="ru-RU">
                <a:solidFill>
                  <a:schemeClr val="bg1"/>
                </a:solidFill>
              </a:rPr>
              <a:t> захватывает инструкцию из памяти;</a:t>
            </a:r>
            <a:endParaRPr lang="ru-RU">
              <a:solidFill>
                <a:schemeClr val="bg1"/>
              </a:solidFill>
            </a:endParaRPr>
          </a:p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Decoder</a:t>
            </a:r>
            <a:r>
              <a:rPr lang="ru-RU">
                <a:solidFill>
                  <a:schemeClr val="bg1"/>
                </a:solidFill>
              </a:rPr>
              <a:t> декодирует инструкцию для передачи </a:t>
            </a:r>
            <a:r>
              <a:rPr lang="en-US">
                <a:solidFill>
                  <a:schemeClr val="bg1"/>
                </a:solidFill>
              </a:rPr>
              <a:t>LSU</a:t>
            </a:r>
            <a:r>
              <a:rPr lang="ru-RU">
                <a:solidFill>
                  <a:schemeClr val="bg1"/>
                </a:solidFill>
              </a:rPr>
              <a:t> и </a:t>
            </a:r>
            <a:r>
              <a:rPr lang="en-US">
                <a:solidFill>
                  <a:schemeClr val="bg1"/>
                </a:solidFill>
              </a:rPr>
              <a:t>TU</a:t>
            </a:r>
            <a:r>
              <a:rPr lang="ru-RU">
                <a:solidFill>
                  <a:schemeClr val="bg1"/>
                </a:solidFill>
              </a:rPr>
              <a:t>;</a:t>
            </a:r>
            <a:endParaRPr lang="ru-RU">
              <a:solidFill>
                <a:schemeClr val="bg1"/>
              </a:solidFill>
            </a:endParaRPr>
          </a:p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TU</a:t>
            </a:r>
            <a:r>
              <a:rPr lang="ru-RU">
                <a:solidFill>
                  <a:schemeClr val="bg1"/>
                </a:solidFill>
              </a:rPr>
              <a:t> </a:t>
            </a:r>
            <a:r>
              <a:rPr lang="ru-RU">
                <a:solidFill>
                  <a:schemeClr val="bg1"/>
                </a:solidFill>
              </a:rPr>
              <a:t>и</a:t>
            </a:r>
            <a:r>
              <a:rPr lang="en-US">
                <a:solidFill>
                  <a:schemeClr val="bg1"/>
                </a:solidFill>
              </a:rPr>
              <a:t>/</a:t>
            </a:r>
            <a:r>
              <a:rPr lang="ru-RU">
                <a:solidFill>
                  <a:schemeClr val="bg1"/>
                </a:solidFill>
              </a:rPr>
              <a:t>или </a:t>
            </a:r>
            <a:r>
              <a:rPr lang="en-US">
                <a:solidFill>
                  <a:schemeClr val="bg1"/>
                </a:solidFill>
              </a:rPr>
              <a:t>LSU</a:t>
            </a:r>
            <a:r>
              <a:rPr lang="ru-RU">
                <a:solidFill>
                  <a:schemeClr val="bg1"/>
                </a:solidFill>
              </a:rPr>
              <a:t> выполняют ин</a:t>
            </a:r>
            <a:r>
              <a:rPr lang="ru-RU">
                <a:solidFill>
                  <a:schemeClr val="bg1"/>
                </a:solidFill>
              </a:rPr>
              <a:t>струкцию;</a:t>
            </a:r>
            <a:endParaRPr lang="ru-RU">
              <a:solidFill>
                <a:schemeClr val="bg1"/>
              </a:solidFill>
            </a:endParaRPr>
          </a:p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Результаты работы сохраняются во внешней памяти или памяти ядра;</a:t>
            </a:r>
            <a:endParaRPr lang="ru-RU">
              <a:solidFill>
                <a:schemeClr val="bg1"/>
              </a:solidFill>
            </a:endParaRPr>
          </a:p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Regmap</a:t>
            </a:r>
            <a:r>
              <a:rPr lang="ru-RU">
                <a:solidFill>
                  <a:schemeClr val="bg1"/>
                </a:solidFill>
              </a:rPr>
              <a:t> содержит статусные и управляющие сигналы.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64735645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ED02CFB1-EEA1-CD3C-8AAA-9D8034B9CDE8}" type="slidenum">
              <a:rPr lang="ru-RU"/>
              <a:t>15</a:t>
            </a:fld>
            <a:endParaRPr lang="ru-RU"/>
          </a:p>
        </p:txBody>
      </p:sp>
      <p:pic>
        <p:nvPicPr>
          <p:cNvPr id="1109160971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4856838" y="2095846"/>
            <a:ext cx="6397483" cy="40813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8370931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Заключение</a:t>
            </a:r>
            <a:endParaRPr/>
          </a:p>
        </p:txBody>
      </p:sp>
      <p:sp>
        <p:nvSpPr>
          <p:cNvPr id="1846312412" name="Объект 2"/>
          <p:cNvSpPr>
            <a:spLocks noGrp="1"/>
          </p:cNvSpPr>
          <p:nvPr>
            <p:ph idx="1"/>
          </p:nvPr>
        </p:nvSpPr>
        <p:spPr bwMode="auto">
          <a:xfrm>
            <a:off x="680321" y="2336873"/>
            <a:ext cx="11753144" cy="3599316"/>
          </a:xfrm>
        </p:spPr>
        <p:txBody>
          <a:bodyPr/>
          <a:lstStyle/>
          <a:p>
            <a:pPr>
              <a:defRPr/>
            </a:pPr>
            <a:r>
              <a:rPr lang="ru-RU">
                <a:solidFill>
                  <a:schemeClr val="bg1"/>
                </a:solidFill>
              </a:rPr>
              <a:t>В результате работы:</a:t>
            </a:r>
            <a:endParaRPr/>
          </a:p>
          <a:p>
            <a:pPr lvl="1">
              <a:defRPr/>
            </a:pPr>
            <a:r>
              <a:rPr lang="ru-RU">
                <a:solidFill>
                  <a:schemeClr val="bg1"/>
                </a:solidFill>
              </a:rPr>
              <a:t>Проведен анализ существующих архитектур графических процессоров и ядер</a:t>
            </a:r>
            <a:r>
              <a:rPr lang="en-US">
                <a:solidFill>
                  <a:schemeClr val="bg1"/>
                </a:solidFill>
              </a:rPr>
              <a:t>;</a:t>
            </a:r>
            <a:endParaRPr lang="ru-RU">
              <a:solidFill>
                <a:schemeClr val="bg1"/>
              </a:solidFill>
            </a:endParaRPr>
          </a:p>
          <a:p>
            <a:pPr lvl="1">
              <a:defRPr/>
            </a:pPr>
            <a:r>
              <a:rPr lang="ru-RU">
                <a:solidFill>
                  <a:schemeClr val="bg1"/>
                </a:solidFill>
              </a:rPr>
              <a:t>Спроектирована минимально необходимая архитектура набора инструкций </a:t>
            </a:r>
            <a:r>
              <a:rPr lang="en-US">
                <a:solidFill>
                  <a:schemeClr val="bg1"/>
                </a:solidFill>
              </a:rPr>
              <a:t>(ISA);</a:t>
            </a:r>
            <a:endParaRPr/>
          </a:p>
          <a:p>
            <a:pPr lvl="1">
              <a:defRPr/>
            </a:pPr>
            <a:r>
              <a:rPr lang="ru-RU">
                <a:solidFill>
                  <a:schemeClr val="bg1"/>
                </a:solidFill>
              </a:rPr>
              <a:t>Разработана архитектура упрощенного графического ядра;</a:t>
            </a:r>
            <a:endParaRPr/>
          </a:p>
          <a:p>
            <a:pPr lvl="1">
              <a:defRPr/>
            </a:pPr>
            <a:r>
              <a:rPr lang="ru-RU">
                <a:solidFill>
                  <a:schemeClr val="bg1"/>
                </a:solidFill>
              </a:rPr>
              <a:t>Разработана архитектура упрощенного графического ядра с использованием метода поблочной декомпозиции;</a:t>
            </a:r>
            <a:endParaRPr/>
          </a:p>
          <a:p>
            <a:pPr lvl="1">
              <a:defRPr/>
            </a:pPr>
            <a:r>
              <a:rPr lang="ru-RU">
                <a:solidFill>
                  <a:schemeClr val="bg1"/>
                </a:solidFill>
              </a:rPr>
              <a:t>Разработана упрощенная модель графического ядра.</a:t>
            </a:r>
            <a:endParaRPr/>
          </a:p>
        </p:txBody>
      </p:sp>
      <p:sp>
        <p:nvSpPr>
          <p:cNvPr id="264187441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16</a:t>
            </a:fld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3369616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Публикация статьи</a:t>
            </a:r>
            <a:endParaRPr/>
          </a:p>
        </p:txBody>
      </p:sp>
      <p:sp>
        <p:nvSpPr>
          <p:cNvPr id="1903913265" name="Объект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5000" lnSpcReduction="3000"/>
          </a:bodyPr>
          <a:lstStyle/>
          <a:p>
            <a:pPr>
              <a:defRPr/>
            </a:pP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Старухин </a:t>
            </a: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Д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</a:t>
            </a: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М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 Обзор аналогов 2D графических ускорителей во встроенных системах / И.А. Дудкин, Д.М. Старухин, В.В. Черкасов \/\/ Математика, информационные технологии, приложения : сборник материалов Межвузовской научной конференции «Математика, информационные технологии, приложения» (Воронеж, 24-25 апреля 2025 г.). -- Воронеж : Издательско-полиграфический центр «Научная книга», 2025. -- С.209-216</a:t>
            </a:r>
            <a:endParaRPr sz="4800">
              <a:solidFill>
                <a:schemeClr val="bg1"/>
              </a:solidFill>
              <a:latin typeface="Trebuchet MS"/>
              <a:cs typeface="Trebuchet MS"/>
            </a:endParaRPr>
          </a:p>
          <a:p>
            <a:pPr>
              <a:defRPr/>
            </a:pP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Старухин </a:t>
            </a: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Д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</a:t>
            </a:r>
            <a:r>
              <a:rPr lang="ru-RU"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М</a:t>
            </a:r>
            <a:r>
              <a:rPr sz="20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. </a:t>
            </a:r>
            <a:r>
              <a:rPr sz="22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  <a:t>Разработка архитектуры аппаратной реализации 2D графического ускорителя / И.А. Дудкин, Д.М. Старухин, В.В. Черкасов \/\/ Актуальные проблемы прикладной математики, информатики и механики : сборник материалов Международной научной конференции «Актуальные проблемы прикладной математики, информатики и механики» (Воронеж, 1-3 декабря 2025 г.). -- Воронеж : ООО «Издательство Прометей», 2026. -- С.1584-1588.</a:t>
            </a:r>
            <a:br>
              <a:rPr sz="2200" b="0" i="0" u="none">
                <a:solidFill>
                  <a:srgbClr val="000000"/>
                </a:solidFill>
                <a:latin typeface="Trebuchet MS"/>
                <a:ea typeface="Trebuchet MS"/>
                <a:cs typeface="Trebuchet MS"/>
              </a:rPr>
            </a:br>
            <a:endParaRPr lang="ru-RU">
              <a:solidFill>
                <a:schemeClr val="bg1"/>
              </a:solidFill>
            </a:endParaRPr>
          </a:p>
        </p:txBody>
      </p:sp>
      <p:sp>
        <p:nvSpPr>
          <p:cNvPr id="712964842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17</a:t>
            </a:fld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13500000" scaled="1"/>
        </a:gra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1396138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Спасибо за внимание!</a:t>
            </a:r>
            <a:endParaRPr/>
          </a:p>
        </p:txBody>
      </p:sp>
      <p:sp>
        <p:nvSpPr>
          <p:cNvPr id="1825982039" name="Объект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 lang="ru-RU">
              <a:solidFill>
                <a:schemeClr val="bg1"/>
              </a:solidFill>
            </a:endParaRPr>
          </a:p>
        </p:txBody>
      </p:sp>
      <p:sp>
        <p:nvSpPr>
          <p:cNvPr id="1541915963" name="Номер слайда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CF8DEEF-AAF2-493E-906B-C0B6A8D6E6A2}" type="slidenum">
              <a:rPr lang="ru-RU"/>
              <a:t>18</a:t>
            </a:fld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Берлин">
  <a:themeElements>
    <a:clrScheme name="Синий и зеленый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Берлин">
      <a:majorFont>
        <a:latin typeface="Trebuchet MS"/>
        <a:ea typeface="Arial"/>
        <a:cs typeface="Arial"/>
      </a:majorFont>
      <a:minorFont>
        <a:latin typeface="Trebuchet MS"/>
        <a:ea typeface="Arial"/>
        <a:cs typeface="Arial"/>
      </a:minorFont>
    </a:fontScheme>
    <a:fmtScheme name="Берлин">
      <a:fillStyleLst>
        <a:solidFill>
          <a:schemeClr val="phClr"/>
        </a:solidFill>
        <a:gradFill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TM04033917[[fn=Берлин]]</Template>
  <TotalTime>0</TotalTime>
  <Words>0</Words>
  <Application>ONLYOFFICE/9.4.0.129</Application>
  <PresentationFormat>On-screen Show (4:3)</PresentationFormat>
  <Paragraphs>0</Paragraphs>
  <Slides>15</Slides>
  <Notes>15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упрощенного графического ускорителя. Разработка модели упрощенного графического ядра.</dc:title>
  <dc:creator>Ewencen Sicl</dc:creator>
  <cp:lastModifiedBy/>
  <cp:revision>16</cp:revision>
  <dcterms:created xsi:type="dcterms:W3CDTF">2026-06-01T16:03:18Z</dcterms:created>
  <dcterms:modified xsi:type="dcterms:W3CDTF">2026-06-02T11:28:22Z</dcterms:modified>
</cp:coreProperties>
</file>