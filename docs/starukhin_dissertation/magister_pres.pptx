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25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23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2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Slides/notesSlide6.xml" ContentType="application/vnd.openxmlformats-officedocument.presentationml.notesSlide+xml"/>
  <Override PartName="/ppt/slideLayouts/slideLayout28.xml" ContentType="application/vnd.openxmlformats-officedocument.presentationml.slideLayout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 showSpecialPlsOnTitleSld="0">
  <p:sldMasterIdLst>
    <p:sldMasterId id="2147483648" r:id="rId1"/>
  </p:sldMasterIdLst>
  <p:notesMasterIdLst>
    <p:notesMasterId r:id="rId2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9144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54" d="100"/>
          <a:sy n="154" d="100"/>
        </p:scale>
        <p:origin x="534" y="108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 /><Relationship Id="rId24" Type="http://schemas.openxmlformats.org/officeDocument/2006/relationships/tableStyles" Target="tableStyles.xml" /><Relationship Id="rId2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492894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51211002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0BF8B4CA-290A-45FF-AF47-6D7BC9CA84C9}" type="datetimeFigureOut">
              <a:rPr lang="ru-RU"/>
              <a:t>02.06.2026</a:t>
            </a:fld>
            <a:endParaRPr lang="ru-RU"/>
          </a:p>
        </p:txBody>
      </p:sp>
      <p:sp>
        <p:nvSpPr>
          <p:cNvPr id="1923654100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837309069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61089406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85991578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A4505C3-1B66-4F80-910D-E8795C33F31E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04689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3459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826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993D39-5D40-723A-B7F6-46DBB08A9A62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231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7857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60184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F5C7D0-D7BE-2C63-050F-1DAFA286B6D7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3369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267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02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55F3D9-BDFF-EDB5-6FC0-3B806BA109F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81426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6465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4807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0EB7B1-6B7D-5CE5-D95F-5ED0A723250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1876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64855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218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C2A48-3D77-7BE2-EE5A-0222396F1E07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2693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6872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9587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768EC4-D344-67C3-1C24-CF724D34C290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0365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17018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305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FCB82-4ABC-C1C4-5E79-18F3785DD755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77755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722928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381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A0886C-666E-9836-41C4-83E600BD9668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7701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08958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694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902816-76A5-4AF4-1E9E-ABAE37AB74E6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7136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76609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4485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9DD143-F230-8BE5-DF47-2F712C202B39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8542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1856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794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8E094-64B7-2766-BCC3-6C48145F116B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08223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01777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36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5B0B4-A097-EC80-6511-5CB349CFD099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53369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433468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0869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FE7883-973B-878E-357F-41AA8BFE454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9569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86435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2103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3C25AB-F75B-ED55-9B43-2E895322D2B6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40660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2288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26908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3B1206-5BC8-D1E1-57C3-7D177AE62E15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32118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16642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9548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611C26-A18A-CE56-9368-8EAD053C4851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3729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50506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2583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8C1104-84A8-CC17-258A-A96B99F9A95E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1545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769159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526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900006-DE8E-E061-C9AE-0E64162B086A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0928051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024859571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999610919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64E949B-752F-4A71-A243-047E6613A32E}" type="datetime1">
              <a:rPr lang="ru-RU"/>
              <a:t>02.06.2026</a:t>
            </a:fld>
            <a:endParaRPr lang="ru-RU"/>
          </a:p>
        </p:txBody>
      </p:sp>
      <p:sp>
        <p:nvSpPr>
          <p:cNvPr id="352256580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34250292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89615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46656591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08094448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B2D18A6-5519-416E-A160-669FC8C75E20}" type="datetime1">
              <a:rPr lang="ru-RU"/>
              <a:t>02.06.2026</a:t>
            </a:fld>
            <a:endParaRPr lang="ru-RU"/>
          </a:p>
        </p:txBody>
      </p:sp>
      <p:sp>
        <p:nvSpPr>
          <p:cNvPr id="9125617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35869192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52421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7272312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809881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FDFF63E-A7E5-4C7D-A2C9-DA69D5675040}" type="datetime1">
              <a:rPr lang="ru-RU"/>
              <a:t>02.06.2026</a:t>
            </a:fld>
            <a:endParaRPr lang="ru-RU"/>
          </a:p>
        </p:txBody>
      </p:sp>
      <p:sp>
        <p:nvSpPr>
          <p:cNvPr id="1523346878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13159955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38442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32377722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5522427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3709103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4CDE6-6F92-4C74-BFB3-7167DEA2EA4E}" type="datetime1">
              <a:rPr lang="ru-RU"/>
              <a:t>02.06.2026</a:t>
            </a:fld>
            <a:endParaRPr lang="ru-RU"/>
          </a:p>
        </p:txBody>
      </p:sp>
      <p:sp>
        <p:nvSpPr>
          <p:cNvPr id="526452534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43596659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430853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38628305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10403037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68301499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64067113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7900348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9B7B28A-94DD-44EC-83BF-F9E9490C49B9}" type="datetime1">
              <a:rPr lang="ru-RU"/>
              <a:t>02.06.2026</a:t>
            </a:fld>
            <a:endParaRPr lang="ru-RU"/>
          </a:p>
        </p:txBody>
      </p:sp>
      <p:sp>
        <p:nvSpPr>
          <p:cNvPr id="815626076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13588913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098897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39522050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9CBEF87-A1CE-4AD3-B312-24E4060B669E}" type="datetime1">
              <a:rPr lang="ru-RU"/>
              <a:t>02.06.2026</a:t>
            </a:fld>
            <a:endParaRPr lang="ru-RU"/>
          </a:p>
        </p:txBody>
      </p:sp>
      <p:sp>
        <p:nvSpPr>
          <p:cNvPr id="406946662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2756335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89581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1A3597E-B3B5-450E-90FE-FB59F904A164}" type="datetime1">
              <a:rPr lang="ru-RU"/>
              <a:t>02.06.2026</a:t>
            </a:fld>
            <a:endParaRPr lang="ru-RU"/>
          </a:p>
        </p:txBody>
      </p:sp>
      <p:sp>
        <p:nvSpPr>
          <p:cNvPr id="2110352055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29374689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3905603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54665124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9291953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5353843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C926F4-5876-4D6C-B300-7031A7F64CBB}" type="datetime1">
              <a:rPr lang="ru-RU"/>
              <a:t>02.06.2026</a:t>
            </a:fld>
            <a:endParaRPr lang="ru-RU"/>
          </a:p>
        </p:txBody>
      </p:sp>
      <p:sp>
        <p:nvSpPr>
          <p:cNvPr id="1058047554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97083730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804395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56437849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151335188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607561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C357E52-6772-44D2-9B1A-046730665B12}" type="datetime1">
              <a:rPr lang="ru-RU"/>
              <a:t>02.06.2026</a:t>
            </a:fld>
            <a:endParaRPr lang="ru-RU"/>
          </a:p>
        </p:txBody>
      </p:sp>
      <p:sp>
        <p:nvSpPr>
          <p:cNvPr id="804877427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120460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329920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232915827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60309105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5CB82E-191B-43B0-A738-8B9909F88B35}" type="datetime1">
              <a:rPr lang="ru-RU"/>
              <a:t>02.06.2026</a:t>
            </a:fld>
            <a:endParaRPr lang="ru-RU"/>
          </a:p>
        </p:txBody>
      </p:sp>
      <p:sp>
        <p:nvSpPr>
          <p:cNvPr id="1661826262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70288153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955108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769331192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32875379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730D1F9-634A-465B-B25E-CF53749F388C}" type="datetime1">
              <a:rPr lang="ru-RU"/>
              <a:t>02.06.2026</a:t>
            </a:fld>
            <a:endParaRPr lang="ru-RU"/>
          </a:p>
        </p:txBody>
      </p:sp>
      <p:sp>
        <p:nvSpPr>
          <p:cNvPr id="17132060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01010915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1_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7165987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617970983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853541788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73055578" name="Rectangle 9"/>
          <p:cNvSpPr/>
          <p:nvPr/>
        </p:nvSpPr>
        <p:spPr bwMode="auto"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27577626" name="Title 1"/>
          <p:cNvSpPr>
            <a:spLocks noGrp="1"/>
          </p:cNvSpPr>
          <p:nvPr>
            <p:ph type="ctrTitle"/>
          </p:nvPr>
        </p:nvSpPr>
        <p:spPr bwMode="auto"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84495137" name="Subtitle 2"/>
          <p:cNvSpPr>
            <a:spLocks noGrp="1"/>
          </p:cNvSpPr>
          <p:nvPr>
            <p:ph type="subTitle" idx="1"/>
          </p:nvPr>
        </p:nvSpPr>
        <p:spPr bwMode="auto"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111043035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2D43468-8071-4A79-9713-FA03F2A56FC7}" type="datetime1">
              <a:rPr lang="ru-RU"/>
              <a:t>02.06.2026</a:t>
            </a:fld>
            <a:endParaRPr lang="ru-RU"/>
          </a:p>
        </p:txBody>
      </p:sp>
      <p:sp>
        <p:nvSpPr>
          <p:cNvPr id="166769048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92209424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1_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34700556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11837007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39303507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43690548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5481157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578670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3087714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AAA47A0-2EBA-44E2-BFE5-02832F0BA229}" type="datetime1">
              <a:rPr lang="ru-RU"/>
              <a:t>02.06.2026</a:t>
            </a:fld>
            <a:endParaRPr lang="ru-RU"/>
          </a:p>
        </p:txBody>
      </p:sp>
      <p:sp>
        <p:nvSpPr>
          <p:cNvPr id="104934710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6824676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1_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848199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-1" y="4086906"/>
            <a:ext cx="10437812" cy="321164"/>
          </a:xfrm>
          <a:prstGeom prst="rect">
            <a:avLst/>
          </a:prstGeom>
        </p:spPr>
      </p:pic>
      <p:pic>
        <p:nvPicPr>
          <p:cNvPr id="70626481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223293187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7340680" name="Rectangle 9"/>
          <p:cNvSpPr/>
          <p:nvPr/>
        </p:nvSpPr>
        <p:spPr bwMode="auto"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41177092" name="Title 1"/>
          <p:cNvSpPr>
            <a:spLocks noGrp="1"/>
          </p:cNvSpPr>
          <p:nvPr>
            <p:ph type="title"/>
          </p:nvPr>
        </p:nvSpPr>
        <p:spPr bwMode="auto"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8722421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291044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E3FDA68-1834-4C1F-B2CC-B0A0766ED8A5}" type="datetime1">
              <a:rPr lang="ru-RU"/>
              <a:t>02.06.2026</a:t>
            </a:fld>
            <a:endParaRPr lang="ru-RU"/>
          </a:p>
        </p:txBody>
      </p:sp>
      <p:sp>
        <p:nvSpPr>
          <p:cNvPr id="31812603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8288765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1_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530080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569431448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364202438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18307440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737808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83401605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0319" y="2336873"/>
            <a:ext cx="46983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6395224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594123" y="2336873"/>
            <a:ext cx="47000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9867503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9303EE3-BBFB-41F4-B1FB-4E4CF27ED9D2}" type="datetime1">
              <a:rPr lang="ru-RU"/>
              <a:t>02.06.2026</a:t>
            </a:fld>
            <a:endParaRPr lang="ru-RU"/>
          </a:p>
        </p:txBody>
      </p:sp>
      <p:sp>
        <p:nvSpPr>
          <p:cNvPr id="20481769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8260050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1_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40321677" name="Picture 9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021696965" name="Picture 10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326980156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91714048" name="Rectangle 12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23285681" name="Title 1"/>
          <p:cNvSpPr>
            <a:spLocks noGrp="1"/>
          </p:cNvSpPr>
          <p:nvPr>
            <p:ph type="title"/>
          </p:nvPr>
        </p:nvSpPr>
        <p:spPr bwMode="auto">
          <a:xfrm>
            <a:off x="680319" y="753229"/>
            <a:ext cx="9613863" cy="1080937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49051879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06349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4675979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0322" y="3030008"/>
            <a:ext cx="4698355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41286091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2534586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594123" y="3030008"/>
            <a:ext cx="4700059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09922498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96D59AE-5854-4542-9FF1-1EC4E5A530D5}" type="datetime1">
              <a:rPr lang="ru-RU"/>
              <a:t>02.06.2026</a:t>
            </a:fld>
            <a:endParaRPr lang="ru-RU"/>
          </a:p>
        </p:txBody>
      </p:sp>
      <p:sp>
        <p:nvSpPr>
          <p:cNvPr id="35967202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7929327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1_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2328068" name="Picture 5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10114609" name="Picture 6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327167317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08377840" name="Rectangle 8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0190914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3022886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C785264-56B0-460E-A2C2-C886D7CC0782}" type="datetime1">
              <a:rPr lang="ru-RU"/>
              <a:t>02.06.2026</a:t>
            </a:fld>
            <a:endParaRPr lang="ru-RU"/>
          </a:p>
        </p:txBody>
      </p:sp>
      <p:sp>
        <p:nvSpPr>
          <p:cNvPr id="7656610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969022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1_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49675574" name="Picture 4" descr="HD-ShadowShort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500199933" name="Rectangle 5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1662777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AAA0283-F641-48C8-BAB7-8AC6BD361923}" type="datetime1">
              <a:rPr lang="ru-RU"/>
              <a:t>02.06.2026</a:t>
            </a:fld>
            <a:endParaRPr lang="ru-RU"/>
          </a:p>
        </p:txBody>
      </p:sp>
      <p:sp>
        <p:nvSpPr>
          <p:cNvPr id="1222793595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6688656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1_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85177234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524121593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427733504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7972478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08915019" name="Title 1"/>
          <p:cNvSpPr>
            <a:spLocks noGrp="1"/>
          </p:cNvSpPr>
          <p:nvPr>
            <p:ph type="title"/>
          </p:nvPr>
        </p:nvSpPr>
        <p:spPr bwMode="auto"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64279751" name="Content Placeholder 2"/>
          <p:cNvSpPr>
            <a:spLocks noGrp="1"/>
          </p:cNvSpPr>
          <p:nvPr>
            <p:ph idx="1"/>
          </p:nvPr>
        </p:nvSpPr>
        <p:spPr bwMode="auto">
          <a:xfrm>
            <a:off x="4685846" y="2336873"/>
            <a:ext cx="5608336" cy="3599313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55144413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5170228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10133D-16A4-41F1-B8F2-C1B694F00730}" type="datetime1">
              <a:rPr lang="ru-RU"/>
              <a:t>02.06.2026</a:t>
            </a:fld>
            <a:endParaRPr lang="ru-RU"/>
          </a:p>
        </p:txBody>
      </p:sp>
      <p:sp>
        <p:nvSpPr>
          <p:cNvPr id="191422023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4316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1_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04106501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12628000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32092858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15719611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05596291" name="Title 1"/>
          <p:cNvSpPr>
            <a:spLocks noGrp="1"/>
          </p:cNvSpPr>
          <p:nvPr>
            <p:ph type="title"/>
          </p:nvPr>
        </p:nvSpPr>
        <p:spPr bwMode="auto">
          <a:xfrm>
            <a:off x="680323" y="753227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94012585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4868332" y="2336874"/>
            <a:ext cx="5425849" cy="3599312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85201570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1455900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65D9257-9E03-404F-95EE-486F8868E3F2}" type="datetime1">
              <a:rPr lang="ru-RU"/>
              <a:t>02.06.2026</a:t>
            </a:fld>
            <a:endParaRPr lang="ru-RU"/>
          </a:p>
        </p:txBody>
      </p:sp>
      <p:sp>
        <p:nvSpPr>
          <p:cNvPr id="40835813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1810885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анорамная фотография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87565293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948382810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608905111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70411865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39355642" name="Title 1"/>
          <p:cNvSpPr>
            <a:spLocks noGrp="1"/>
          </p:cNvSpPr>
          <p:nvPr>
            <p:ph type="title"/>
          </p:nvPr>
        </p:nvSpPr>
        <p:spPr bwMode="auto"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26131037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680322" y="609597"/>
            <a:ext cx="9613859" cy="3589574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10745334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978896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6571D8-6559-4269-B7BA-EACD5F8873B8}" type="datetime1">
              <a:rPr lang="ru-RU"/>
              <a:t>02.06.2026</a:t>
            </a:fld>
            <a:endParaRPr lang="ru-RU"/>
          </a:p>
        </p:txBody>
      </p:sp>
      <p:sp>
        <p:nvSpPr>
          <p:cNvPr id="125734731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4437620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подпис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24024871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885016797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236628158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48025928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06407708" name="Title 1"/>
          <p:cNvSpPr>
            <a:spLocks noGrp="1"/>
          </p:cNvSpPr>
          <p:nvPr>
            <p:ph type="title"/>
          </p:nvPr>
        </p:nvSpPr>
        <p:spPr bwMode="auto"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94952708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8271110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52607F1-4CB0-4741-B752-77795AAFB6CE}" type="datetime1">
              <a:rPr lang="ru-RU"/>
              <a:t>02.06.2026</a:t>
            </a:fld>
            <a:endParaRPr lang="ru-RU"/>
          </a:p>
        </p:txBody>
      </p:sp>
      <p:sp>
        <p:nvSpPr>
          <p:cNvPr id="61441812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82309395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Цитата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7067148" name="Picture 10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711294609" name="Picture 12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388347452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60412866" name="Rectangle 14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65366973" name="Title 1"/>
          <p:cNvSpPr>
            <a:spLocks noGrp="1"/>
          </p:cNvSpPr>
          <p:nvPr>
            <p:ph type="title"/>
          </p:nvPr>
        </p:nvSpPr>
        <p:spPr bwMode="auto"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61387424" name="Text Placeholder 3"/>
          <p:cNvSpPr>
            <a:spLocks noGrp="1"/>
          </p:cNvSpPr>
          <p:nvPr>
            <p:ph type="body" sz="half" idx="13"/>
          </p:nvPr>
        </p:nvSpPr>
        <p:spPr bwMode="auto"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24981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3872161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D0F2E69-AF6B-4D0C-824F-3DADD254BF95}" type="datetime1">
              <a:rPr lang="ru-RU"/>
              <a:t>02.06.2026</a:t>
            </a:fld>
            <a:endParaRPr lang="ru-RU"/>
          </a:p>
        </p:txBody>
      </p:sp>
      <p:sp>
        <p:nvSpPr>
          <p:cNvPr id="26818431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82452591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  <p:sp>
        <p:nvSpPr>
          <p:cNvPr id="178672157" name="TextBox 15"/>
          <p:cNvSpPr txBox="1"/>
          <p:nvPr/>
        </p:nvSpPr>
        <p:spPr bwMode="auto">
          <a:xfrm>
            <a:off x="583572" y="748116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72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1999115095" name="TextBox 16"/>
          <p:cNvSpPr txBox="1"/>
          <p:nvPr/>
        </p:nvSpPr>
        <p:spPr bwMode="auto">
          <a:xfrm>
            <a:off x="9662809" y="3033524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7200">
                <a:solidFill>
                  <a:schemeClr val="tx1"/>
                </a:solidFill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арточка имен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29018697" name="Picture 8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430388794" name="Picture 9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3397274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0482164" name="Rectangle 11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09534929" name="Title 1"/>
          <p:cNvSpPr>
            <a:spLocks noGrp="1"/>
          </p:cNvSpPr>
          <p:nvPr>
            <p:ph type="title"/>
          </p:nvPr>
        </p:nvSpPr>
        <p:spPr bwMode="auto"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578795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2152116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B61B190-EA0F-465A-8B4C-40AE0FF8CD42}" type="datetime1">
              <a:rPr lang="ru-RU"/>
              <a:t>02.06.2026</a:t>
            </a:fld>
            <a:endParaRPr lang="ru-RU"/>
          </a:p>
        </p:txBody>
      </p:sp>
      <p:sp>
        <p:nvSpPr>
          <p:cNvPr id="72852761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93252349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ри колонк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9953066" name="Picture 12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094233558" name="Picture 13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301817553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22768528" name="Rectangle 16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03240476" name="Title 1"/>
          <p:cNvSpPr>
            <a:spLocks noGrp="1"/>
          </p:cNvSpPr>
          <p:nvPr>
            <p:ph type="title"/>
          </p:nvPr>
        </p:nvSpPr>
        <p:spPr bwMode="auto">
          <a:xfrm>
            <a:off x="669222" y="753227"/>
            <a:ext cx="96249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49442945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44864955" name="Text Placeholder 3"/>
          <p:cNvSpPr>
            <a:spLocks noGrp="1"/>
          </p:cNvSpPr>
          <p:nvPr>
            <p:ph type="body" sz="half" idx="15"/>
          </p:nvPr>
        </p:nvSpPr>
        <p:spPr bwMode="auto"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1027109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560384" name="Text Placeholder 3"/>
          <p:cNvSpPr>
            <a:spLocks noGrp="1"/>
          </p:cNvSpPr>
          <p:nvPr>
            <p:ph type="body" sz="half" idx="16"/>
          </p:nvPr>
        </p:nvSpPr>
        <p:spPr bwMode="auto"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8272296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36341538" name="Text Placeholder 3"/>
          <p:cNvSpPr>
            <a:spLocks noGrp="1"/>
          </p:cNvSpPr>
          <p:nvPr>
            <p:ph type="body" sz="half" idx="17"/>
          </p:nvPr>
        </p:nvSpPr>
        <p:spPr bwMode="auto"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148505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BFF2AA-51FD-495E-9B6C-53E0CCE8720E}" type="datetime1">
              <a:rPr lang="ru-RU"/>
              <a:t>02.06.2026</a:t>
            </a:fld>
            <a:endParaRPr lang="ru-RU"/>
          </a:p>
        </p:txBody>
      </p:sp>
      <p:sp>
        <p:nvSpPr>
          <p:cNvPr id="81906827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38546919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олбец с тремя рисункам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93996211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97687383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26372026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69236282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06673457" name="Title 1"/>
          <p:cNvSpPr>
            <a:spLocks noGrp="1"/>
          </p:cNvSpPr>
          <p:nvPr>
            <p:ph type="title"/>
          </p:nvPr>
        </p:nvSpPr>
        <p:spPr bwMode="auto">
          <a:xfrm>
            <a:off x="680322" y="753227"/>
            <a:ext cx="96138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4935195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04409243" name="Picture Placeholder 2"/>
          <p:cNvSpPr>
            <a:spLocks noChangeAspect="1" noGrp="1"/>
          </p:cNvSpPr>
          <p:nvPr>
            <p:ph type="pic" idx="15"/>
          </p:nvPr>
        </p:nvSpPr>
        <p:spPr bwMode="auto"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272534458" name="Text Placeholder 3"/>
          <p:cNvSpPr>
            <a:spLocks noGrp="1"/>
          </p:cNvSpPr>
          <p:nvPr>
            <p:ph type="body" sz="half" idx="18"/>
          </p:nvPr>
        </p:nvSpPr>
        <p:spPr bwMode="auto"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47562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12344562" name="Picture Placeholder 2"/>
          <p:cNvSpPr>
            <a:spLocks noChangeAspect="1" noGrp="1"/>
          </p:cNvSpPr>
          <p:nvPr>
            <p:ph type="pic" idx="21"/>
          </p:nvPr>
        </p:nvSpPr>
        <p:spPr bwMode="auto"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513721926" name="Text Placeholder 3"/>
          <p:cNvSpPr>
            <a:spLocks noGrp="1"/>
          </p:cNvSpPr>
          <p:nvPr>
            <p:ph type="body" sz="half" idx="19"/>
          </p:nvPr>
        </p:nvSpPr>
        <p:spPr bwMode="auto"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5659608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7422467" name="Picture Placeholder 2"/>
          <p:cNvSpPr>
            <a:spLocks noChangeAspect="1" noGrp="1"/>
          </p:cNvSpPr>
          <p:nvPr>
            <p:ph type="pic" idx="22"/>
          </p:nvPr>
        </p:nvSpPr>
        <p:spPr bwMode="auto"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310464587" name="Text Placeholder 3"/>
          <p:cNvSpPr>
            <a:spLocks noGrp="1"/>
          </p:cNvSpPr>
          <p:nvPr>
            <p:ph type="body" sz="half" idx="20"/>
          </p:nvPr>
        </p:nvSpPr>
        <p:spPr bwMode="auto"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63987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32452-DB40-464D-817C-83D7743D6F57}" type="datetime1">
              <a:rPr lang="ru-RU"/>
              <a:t>02.06.2026</a:t>
            </a:fld>
            <a:endParaRPr lang="ru-RU"/>
          </a:p>
        </p:txBody>
      </p:sp>
      <p:sp>
        <p:nvSpPr>
          <p:cNvPr id="154584152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4215616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1_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5726077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06140487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58481301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99359145" name="Rectangle 9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608606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3391051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8733757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7BE9EF-9137-4EC0-A2FE-700F392F3BEF}" type="datetime1">
              <a:rPr lang="ru-RU"/>
              <a:t>02.06.2026</a:t>
            </a:fld>
            <a:endParaRPr lang="ru-RU"/>
          </a:p>
        </p:txBody>
      </p:sp>
      <p:sp>
        <p:nvSpPr>
          <p:cNvPr id="25314016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7168963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1_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772232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98801795" name="Rectangle 7"/>
          <p:cNvSpPr/>
          <p:nvPr/>
        </p:nvSpPr>
        <p:spPr bwMode="auto"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0799644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10129231" y="609597"/>
            <a:ext cx="1073802" cy="4353760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76503462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0322" y="609597"/>
            <a:ext cx="8870004" cy="5326589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292813309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807126" y="5936187"/>
            <a:ext cx="2743200" cy="365125"/>
          </a:xfrm>
        </p:spPr>
        <p:txBody>
          <a:bodyPr/>
          <a:lstStyle/>
          <a:p>
            <a:pPr>
              <a:defRPr/>
            </a:pPr>
            <a:fld id="{2BF7793B-D180-44C4-B91E-57912C70F4D0}" type="datetime1">
              <a:rPr lang="ru-RU"/>
              <a:t>02.06.2026</a:t>
            </a:fld>
            <a:endParaRPr lang="ru-RU"/>
          </a:p>
        </p:txBody>
      </p:sp>
      <p:sp>
        <p:nvSpPr>
          <p:cNvPr id="2044184931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680321" y="5936188"/>
            <a:ext cx="6126805" cy="365125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15967423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531905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0637832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5050749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01D4F3A-ABC6-43DF-ACA3-965C94B45EAB}" type="datetime1">
              <a:rPr lang="ru-RU"/>
              <a:t>02.06.2026</a:t>
            </a:fld>
            <a:endParaRPr lang="ru-RU"/>
          </a:p>
        </p:txBody>
      </p:sp>
      <p:sp>
        <p:nvSpPr>
          <p:cNvPr id="150255805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0565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hf dt="0" ftr="0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media1.sv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media2.svg"/><Relationship Id="rId6" Type="http://schemas.openxmlformats.org/officeDocument/2006/relationships/image" Target="../media/image9.png"/><Relationship Id="rId7" Type="http://schemas.openxmlformats.org/officeDocument/2006/relationships/image" Target="../media/media3.svg"/><Relationship Id="rId8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media4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media5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media6.sv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media7.sv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media8.sv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552046" name="Прямоугольник 3"/>
          <p:cNvSpPr/>
          <p:nvPr/>
        </p:nvSpPr>
        <p:spPr bwMode="auto">
          <a:xfrm flipH="0" flipV="0">
            <a:off x="0" y="246891"/>
            <a:ext cx="12191999" cy="42211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01220026" name="Прямоугольник 4"/>
          <p:cNvSpPr/>
          <p:nvPr/>
        </p:nvSpPr>
        <p:spPr bwMode="auto">
          <a:xfrm flipH="0" flipV="0">
            <a:off x="0" y="5021125"/>
            <a:ext cx="12191999" cy="164637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81381679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644243" y="2028711"/>
            <a:ext cx="8345668" cy="1400288"/>
          </a:xfrm>
        </p:spPr>
        <p:txBody>
          <a:bodyPr>
            <a:noAutofit/>
          </a:bodyPr>
          <a:lstStyle/>
          <a:p>
            <a:pPr algn="ctr">
              <a:defRPr/>
            </a:pPr>
            <a:r>
              <a:rPr lang="ru-RU" sz="3200" b="1">
                <a:solidFill>
                  <a:schemeClr val="bg1"/>
                </a:solidFill>
              </a:rPr>
              <a:t>Разработка </a:t>
            </a:r>
            <a:r>
              <a:rPr lang="ru-RU" sz="3200" b="1">
                <a:solidFill>
                  <a:schemeClr val="bg1"/>
                </a:solidFill>
              </a:rPr>
              <a:t>ядра упрощенного графического ускорителя. Разработка </a:t>
            </a:r>
            <a:r>
              <a:rPr lang="en-US" sz="3200" b="1">
                <a:solidFill>
                  <a:schemeClr val="bg1"/>
                </a:solidFill>
              </a:rPr>
              <a:t>HDL </a:t>
            </a:r>
            <a:r>
              <a:rPr lang="ru-RU" sz="3200" b="1">
                <a:solidFill>
                  <a:schemeClr val="bg1"/>
                </a:solidFill>
              </a:rPr>
              <a:t>модели</a:t>
            </a:r>
            <a:endParaRPr b="1">
              <a:solidFill>
                <a:schemeClr val="bg1"/>
              </a:solidFill>
            </a:endParaRPr>
          </a:p>
        </p:txBody>
      </p:sp>
      <p:sp>
        <p:nvSpPr>
          <p:cNvPr id="33037771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5817078" y="5093158"/>
            <a:ext cx="6051236" cy="124182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55000" lnSpcReduction="9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группы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Руководитель: Авсеева О.В.</a:t>
            </a:r>
            <a:endParaRPr/>
          </a:p>
          <a:p>
            <a:pPr algn="r">
              <a:defRPr/>
            </a:pPr>
            <a:r>
              <a:rPr lang="en-US">
                <a:solidFill>
                  <a:schemeClr val="bg1"/>
                </a:solidFill>
              </a:rPr>
              <a:t>e-mail: staruhind@yandex.ru</a:t>
            </a:r>
            <a:endParaRPr/>
          </a:p>
        </p:txBody>
      </p:sp>
      <p:sp>
        <p:nvSpPr>
          <p:cNvPr id="12378809" name="Заголовок 1"/>
          <p:cNvSpPr>
            <a:spLocks noGrp="1"/>
          </p:cNvSpPr>
          <p:nvPr/>
        </p:nvSpPr>
        <p:spPr bwMode="auto">
          <a:xfrm flipH="0" flipV="0">
            <a:off x="1644243" y="383435"/>
            <a:ext cx="8345667" cy="766221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1238035579" name="Заголовок 1"/>
          <p:cNvSpPr>
            <a:spLocks noGrp="1"/>
          </p:cNvSpPr>
          <p:nvPr/>
        </p:nvSpPr>
        <p:spPr bwMode="auto">
          <a:xfrm flipH="0" flipV="0">
            <a:off x="1644243" y="1149656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Факультет прикладной математики, информатики и механики Кафедра вычислительной математики и прикладных информационных технологий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307863095" name="Заголовок 1"/>
          <p:cNvSpPr>
            <a:spLocks noGrp="1"/>
          </p:cNvSpPr>
          <p:nvPr/>
        </p:nvSpPr>
        <p:spPr bwMode="auto">
          <a:xfrm flipH="0" flipV="0">
            <a:off x="1644243" y="3544760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Магистерская диссертация</a:t>
            </a:r>
            <a:endParaRPr lang="ru-RU" sz="1600" b="0" i="0" u="none">
              <a:solidFill>
                <a:schemeClr val="bg1"/>
              </a:solidFill>
              <a:latin typeface="Trebuchet MS"/>
              <a:ea typeface="Trebuchet MS"/>
              <a:cs typeface="Trebuchet MS"/>
            </a:endParaRPr>
          </a:p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Направление 01.04.02 Прикладная математика и информатика</a:t>
            </a:r>
            <a:endParaRPr lang="ru-RU" sz="1600" b="0" i="0" u="none">
              <a:solidFill>
                <a:schemeClr val="bg1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1396297499" name="Заголовок 1"/>
          <p:cNvSpPr>
            <a:spLocks noGrp="1"/>
          </p:cNvSpPr>
          <p:nvPr/>
        </p:nvSpPr>
        <p:spPr bwMode="auto">
          <a:xfrm flipH="0" flipV="0">
            <a:off x="5170877" y="5951875"/>
            <a:ext cx="1850245" cy="630957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Воронеж 2026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3927557" name="Прямоугольник 4"/>
          <p:cNvSpPr/>
          <p:nvPr/>
        </p:nvSpPr>
        <p:spPr bwMode="auto">
          <a:xfrm>
            <a:off x="0" y="-1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340720440" name="Заголовок 1"/>
          <p:cNvSpPr>
            <a:spLocks noGrp="1"/>
          </p:cNvSpPr>
          <p:nvPr>
            <p:ph type="title"/>
          </p:nvPr>
        </p:nvSpPr>
        <p:spPr bwMode="auto">
          <a:xfrm>
            <a:off x="838198" y="-21181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Введение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987370582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Графический ускоритель </a:t>
            </a:r>
            <a:r>
              <a:rPr lang="en-US">
                <a:solidFill>
                  <a:schemeClr val="tx1"/>
                </a:solidFill>
              </a:rPr>
              <a:t>(GPU)</a:t>
            </a:r>
            <a:r>
              <a:rPr lang="ru-RU">
                <a:solidFill>
                  <a:schemeClr val="tx1"/>
                </a:solidFill>
              </a:rPr>
              <a:t> – это специализированный процессор, оптимизированный для параллельной обработки данных;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Графическое ядро – это специализированный микропроцессор, созданный для математических вычислений, обработки изображений и рендеринга;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Основные компании-разработчики дискретных графических ускорителей: </a:t>
            </a:r>
            <a:r>
              <a:rPr lang="en-US">
                <a:solidFill>
                  <a:schemeClr val="tx1"/>
                </a:solidFill>
              </a:rPr>
              <a:t>AMD,</a:t>
            </a:r>
            <a:r>
              <a:rPr lang="ru-RU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NVIDIA, Intel (c </a:t>
            </a:r>
            <a:r>
              <a:rPr lang="ru-RU">
                <a:solidFill>
                  <a:schemeClr val="tx1"/>
                </a:solidFill>
              </a:rPr>
              <a:t>недавних пор</a:t>
            </a:r>
            <a:r>
              <a:rPr lang="en-US">
                <a:solidFill>
                  <a:schemeClr val="tx1"/>
                </a:solidFill>
              </a:rPr>
              <a:t>)</a:t>
            </a:r>
            <a:r>
              <a:rPr lang="ru-RU">
                <a:solidFill>
                  <a:schemeClr val="tx1"/>
                </a:solidFill>
              </a:rPr>
              <a:t>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44316814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2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764720608" name="Прямоугольник 5"/>
          <p:cNvSpPr/>
          <p:nvPr/>
        </p:nvSpPr>
        <p:spPr bwMode="auto">
          <a:xfrm>
            <a:off x="0" y="1220090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542214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>
              <a:buFont typeface="Arial"/>
              <a:buNone/>
              <a:defRPr/>
            </a:pPr>
            <a:r>
              <a:rPr lang="ru-RU">
                <a:solidFill>
                  <a:schemeClr val="tx1"/>
                </a:solidFill>
              </a:rPr>
              <a:t>Реализация модели упрощенного графического ядра </a:t>
            </a:r>
            <a:r>
              <a:rPr>
                <a:solidFill>
                  <a:schemeClr val="tx1"/>
                </a:solidFill>
              </a:rPr>
              <a:t>позволит: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Определить</a:t>
            </a:r>
            <a:r>
              <a:rPr>
                <a:solidFill>
                  <a:schemeClr val="tx1"/>
                </a:solidFill>
              </a:rPr>
              <a:t> требования для построения минимального графического ядра и минимальный набор инструкций;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Разработать модель упрощенного графического ядра, которую можно модернизировать и изучать;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На базе разработанной модели можно экспериментировать с различными техниками и способами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ru-RU">
                <a:solidFill>
                  <a:schemeClr val="tx1"/>
                </a:solidFill>
              </a:rPr>
              <a:t>построения </a:t>
            </a:r>
            <a:r>
              <a:rPr lang="ru-RU">
                <a:solidFill>
                  <a:schemeClr val="tx1"/>
                </a:solidFill>
              </a:rPr>
              <a:t>архитектур процессорных систем</a:t>
            </a:r>
            <a:r>
              <a:rPr>
                <a:solidFill>
                  <a:schemeClr val="tx1"/>
                </a:solidFill>
              </a:rPr>
              <a:t>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Приблизиться к реализации полноценного графического ядра, а в перспективе и полноценного графического ускорителя.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360108284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490098247" name="Прямоугольник 4"/>
          <p:cNvSpPr/>
          <p:nvPr/>
        </p:nvSpPr>
        <p:spPr bwMode="auto">
          <a:xfrm>
            <a:off x="0" y="-72479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458651063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7247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Актуальность работы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709893478" name="Прямоугольник 5"/>
          <p:cNvSpPr/>
          <p:nvPr/>
        </p:nvSpPr>
        <p:spPr bwMode="auto">
          <a:xfrm>
            <a:off x="0" y="1121016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8254905" name="Объект 2"/>
          <p:cNvSpPr>
            <a:spLocks noGrp="1"/>
          </p:cNvSpPr>
          <p:nvPr>
            <p:ph idx="1"/>
          </p:nvPr>
        </p:nvSpPr>
        <p:spPr bwMode="auto">
          <a:xfrm>
            <a:off x="4649" y="1635966"/>
            <a:ext cx="12201298" cy="3600467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defRPr/>
            </a:pPr>
            <a:r>
              <a:rPr lang="ru-RU" sz="2400"/>
              <a:t>Цели</a:t>
            </a:r>
            <a:endParaRPr sz="2400"/>
          </a:p>
          <a:p>
            <a:pPr lvl="1">
              <a:defRPr/>
            </a:pPr>
            <a:r>
              <a:rPr lang="ru-RU" sz="2000"/>
              <a:t>Разработать модель упрощённого графического ядра на языке описания аппаратуры </a:t>
            </a:r>
            <a:r>
              <a:rPr lang="en-US" sz="2000"/>
              <a:t>SystemVerilog</a:t>
            </a:r>
            <a:r>
              <a:rPr lang="ru-RU" sz="2000"/>
              <a:t>.</a:t>
            </a:r>
            <a:endParaRPr sz="2000"/>
          </a:p>
          <a:p>
            <a:pPr>
              <a:defRPr/>
            </a:pPr>
            <a:r>
              <a:rPr lang="ru-RU" sz="2400"/>
              <a:t>Задачи</a:t>
            </a:r>
            <a:endParaRPr sz="2400"/>
          </a:p>
          <a:p>
            <a:pPr lvl="1">
              <a:defRPr/>
            </a:pPr>
            <a:r>
              <a:rPr lang="ru-RU" sz="2000"/>
              <a:t>Провести анализ существующих архитектур графических процессоров и ядер;</a:t>
            </a:r>
            <a:endParaRPr sz="2000"/>
          </a:p>
          <a:p>
            <a:pPr lvl="1">
              <a:defRPr/>
            </a:pPr>
            <a:r>
              <a:rPr lang="ru-RU" sz="2000"/>
              <a:t>Спроектировать минимально необходимую архитектуру набора инструкций (</a:t>
            </a:r>
            <a:r>
              <a:rPr lang="en-US" sz="2000"/>
              <a:t>ISA)</a:t>
            </a:r>
            <a:r>
              <a:rPr lang="ru-RU" sz="2000"/>
              <a:t>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архитектуру упрощенного графического ядра;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модель упрощенного графического ядра, используя метод поблочной декомпозиции.</a:t>
            </a:r>
            <a:endParaRPr sz="2000"/>
          </a:p>
        </p:txBody>
      </p:sp>
      <p:sp>
        <p:nvSpPr>
          <p:cNvPr id="85875540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3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83037624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48601754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8" y="5651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Постановка задачи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27536176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114935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320620" y="1628766"/>
            <a:ext cx="2592336" cy="486410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/>
              <a:t>Работа является общим проектом по теме: разработка ядра упрощенного графического ускорителя;</a:t>
            </a:r>
            <a:endParaRPr/>
          </a:p>
          <a:p>
            <a:pPr>
              <a:defRPr/>
            </a:pPr>
            <a:r>
              <a:rPr/>
              <a:t>В данной работе выполнена конкретная часть проекта: </a:t>
            </a:r>
            <a:r>
              <a:rPr lang="en-US"/>
              <a:t>RTL-</a:t>
            </a:r>
            <a:r>
              <a:rPr lang="ru-RU"/>
              <a:t>описание ядра упрощенного графического ускорителя.</a:t>
            </a:r>
            <a:endParaRPr/>
          </a:p>
        </p:txBody>
      </p:sp>
      <p:sp>
        <p:nvSpPr>
          <p:cNvPr id="5333109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4"/>
            <a:ext cx="1052507" cy="365124"/>
          </a:xfrm>
        </p:spPr>
        <p:txBody>
          <a:bodyPr/>
          <a:lstStyle/>
          <a:p>
            <a:pPr>
              <a:defRPr/>
            </a:pPr>
            <a:fld id="{2C3BA63A-6FFD-E575-38C0-7BEA8FDEC7FB}" type="slidenum">
              <a:rPr lang="ru-RU" sz="1800">
                <a:solidFill>
                  <a:schemeClr val="tx1"/>
                </a:solidFill>
                <a:latin typeface="Trebuchet MS"/>
              </a:rPr>
              <a:t>4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203541227" name="Прямоугольник 5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752921264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7" y="5651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Комплексная структура проекта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333037433" name="Прямоугольник 6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pic>
        <p:nvPicPr>
          <p:cNvPr id="1575760557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3328593" y="2135569"/>
            <a:ext cx="8156721" cy="35759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681327" name="Прямоугольник 9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698523736" name="Прямоугольник 10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91853707" name="Заголовок 1"/>
          <p:cNvSpPr>
            <a:spLocks noGrp="1"/>
          </p:cNvSpPr>
          <p:nvPr>
            <p:ph type="title"/>
          </p:nvPr>
        </p:nvSpPr>
        <p:spPr bwMode="auto">
          <a:xfrm>
            <a:off x="383823" y="-10414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AMD</a:t>
            </a:r>
            <a:br>
              <a:rPr lang="en-US"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Souther Islands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198156923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383823" y="1350173"/>
            <a:ext cx="3684326" cy="280272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>
              <a:buFont typeface="Arial"/>
              <a:buNone/>
              <a:defRPr/>
            </a:pPr>
            <a:r>
              <a:rPr lang="ru-RU" sz="2000"/>
              <a:t>Ядро (</a:t>
            </a:r>
            <a:r>
              <a:rPr lang="en-US" sz="2000"/>
              <a:t>CU</a:t>
            </a:r>
            <a:r>
              <a:rPr lang="ru-RU" sz="2000"/>
              <a:t>) содержит</a:t>
            </a:r>
            <a:r>
              <a:rPr lang="en-US" sz="2000"/>
              <a:t>: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v/sGPR - </a:t>
            </a:r>
            <a:r>
              <a:rPr lang="ru-RU" sz="2000"/>
              <a:t>векторный/скалярный регистровый файл</a:t>
            </a:r>
            <a:r>
              <a:rPr lang="en-US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LSU – </a:t>
            </a:r>
            <a:r>
              <a:rPr lang="ru-RU" sz="2000"/>
              <a:t>блок загузки/сохранения</a:t>
            </a:r>
            <a:r>
              <a:rPr lang="en-US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vALU – </a:t>
            </a:r>
            <a:r>
              <a:rPr lang="ru-RU" sz="2000"/>
              <a:t>векторное арифметико-логическое устройство</a:t>
            </a:r>
            <a:r>
              <a:rPr lang="en-US" sz="2000"/>
              <a:t> (</a:t>
            </a:r>
            <a:r>
              <a:rPr lang="en-US" sz="2000"/>
              <a:t>INT </a:t>
            </a:r>
            <a:r>
              <a:rPr lang="ru-RU" sz="2000"/>
              <a:t>и </a:t>
            </a:r>
            <a:r>
              <a:rPr lang="en-US" sz="2000"/>
              <a:t>FP</a:t>
            </a:r>
            <a:r>
              <a:rPr lang="en-US" sz="2000"/>
              <a:t>);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ru-RU" sz="2000"/>
              <a:t>Блок получения, декодирования и планирования инструкций</a:t>
            </a:r>
            <a:r>
              <a:rPr lang="ru-RU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ru-RU" sz="2000"/>
              <a:t>Локальная общая память.</a:t>
            </a:r>
            <a:endParaRPr sz="2000"/>
          </a:p>
        </p:txBody>
      </p:sp>
      <p:sp>
        <p:nvSpPr>
          <p:cNvPr id="282678274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9493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934980864" name="Рисунок 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52516" y="2208315"/>
            <a:ext cx="7854704" cy="4271176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52706886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83823" y="4250145"/>
            <a:ext cx="3576543" cy="22293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752862" name="Прямоугольник 9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49974264" name="Прямоугольник 10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386251121" name="Заголовок 1"/>
          <p:cNvSpPr>
            <a:spLocks noGrp="1"/>
          </p:cNvSpPr>
          <p:nvPr>
            <p:ph type="title"/>
          </p:nvPr>
        </p:nvSpPr>
        <p:spPr bwMode="auto">
          <a:xfrm>
            <a:off x="461982" y="-1041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NVIDIA</a:t>
            </a:r>
            <a:br>
              <a:rPr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Fermi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598290698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285750" y="1444489"/>
            <a:ext cx="6925649" cy="503500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Общий регистровый файл большого размера для множества ядер;</a:t>
            </a:r>
            <a:endParaRPr lang="ru-RU"/>
          </a:p>
          <a:p>
            <a:pPr>
              <a:defRPr/>
            </a:pPr>
            <a:r>
              <a:rPr lang="ru-RU"/>
              <a:t>Каждому ядру в регистровом файле выделена своя область;</a:t>
            </a:r>
            <a:endParaRPr lang="ru-RU"/>
          </a:p>
          <a:p>
            <a:pPr>
              <a:defRPr/>
            </a:pPr>
            <a:r>
              <a:rPr lang="ru-RU"/>
              <a:t>Каждое ядро </a:t>
            </a:r>
            <a:r>
              <a:rPr lang="en-US"/>
              <a:t>CUDA </a:t>
            </a:r>
            <a:r>
              <a:rPr lang="ru-RU"/>
              <a:t>является однопоточным;</a:t>
            </a:r>
            <a:endParaRPr lang="ru-RU"/>
          </a:p>
          <a:p>
            <a:pPr>
              <a:defRPr/>
            </a:pPr>
            <a:r>
              <a:rPr lang="ru-RU"/>
              <a:t>Каждое ядро содержит вычислительные блоки для </a:t>
            </a:r>
            <a:r>
              <a:rPr lang="en-US"/>
              <a:t>INT </a:t>
            </a:r>
            <a:r>
              <a:rPr lang="ru-RU"/>
              <a:t>и </a:t>
            </a:r>
            <a:r>
              <a:rPr lang="en-US"/>
              <a:t>FP</a:t>
            </a:r>
            <a:r>
              <a:rPr lang="ru-RU"/>
              <a:t>;</a:t>
            </a:r>
            <a:endParaRPr lang="en-US"/>
          </a:p>
          <a:p>
            <a:pPr>
              <a:defRPr/>
            </a:pPr>
            <a:r>
              <a:rPr lang="en-US"/>
              <a:t>SFU – </a:t>
            </a:r>
            <a:r>
              <a:rPr lang="ru-RU"/>
              <a:t>специализированный ускоритель, в частности для тригонометрических функций</a:t>
            </a:r>
            <a:r>
              <a:rPr lang="ru-RU"/>
              <a:t>.</a:t>
            </a:r>
            <a:endParaRPr/>
          </a:p>
        </p:txBody>
      </p:sp>
      <p:sp>
        <p:nvSpPr>
          <p:cNvPr id="1030686044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79492"/>
            <a:ext cx="1052507" cy="365124"/>
          </a:xfrm>
        </p:spPr>
        <p:txBody>
          <a:bodyPr/>
          <a:lstStyle/>
          <a:p>
            <a:pPr>
              <a:defRPr/>
            </a:pPr>
            <a:fld id="{4E8A3A8F-0B9D-0C84-2979-0C48658383B8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596213455" name="Рисунок 5"/>
          <p:cNvPicPr>
            <a:picLocks noChangeAspect="1"/>
          </p:cNvPicPr>
          <p:nvPr/>
        </p:nvPicPr>
        <p:blipFill rotWithShape="1">
          <a:blip r:embed="rId3"/>
          <a:srcRect l="0" t="0" r="33408" b="0"/>
          <a:stretch/>
        </p:blipFill>
        <p:spPr bwMode="auto">
          <a:xfrm flipH="0" flipV="0">
            <a:off x="7284603" y="1568869"/>
            <a:ext cx="4326204" cy="4910622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872260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-9297" y="1350173"/>
            <a:ext cx="331084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/>
              <a:t>Набор инструкций взят с дампа промежуточного представления</a:t>
            </a:r>
            <a:r>
              <a:rPr lang="en-US"/>
              <a:t> </a:t>
            </a:r>
            <a:r>
              <a:rPr lang="ru-RU"/>
              <a:t>шейдера </a:t>
            </a:r>
            <a:r>
              <a:rPr lang="ru-RU"/>
              <a:t>из </a:t>
            </a:r>
            <a:r>
              <a:rPr lang="en-US"/>
              <a:t>VKCUBE</a:t>
            </a:r>
            <a:r>
              <a:rPr/>
              <a:t>;</a:t>
            </a:r>
            <a:endParaRPr/>
          </a:p>
          <a:p>
            <a:pPr>
              <a:defRPr/>
            </a:pPr>
            <a:r>
              <a:rPr lang="ru-RU"/>
              <a:t>В качестве основы взята архитектура набора инструкций </a:t>
            </a:r>
            <a:r>
              <a:rPr lang="en-US"/>
              <a:t>RISC-V</a:t>
            </a:r>
            <a:r>
              <a:rPr lang="ru-RU"/>
              <a:t>.</a:t>
            </a:r>
            <a:endParaRPr lang="ru-RU"/>
          </a:p>
        </p:txBody>
      </p:sp>
      <p:sp>
        <p:nvSpPr>
          <p:cNvPr id="3073254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65512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6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778076655" name="Рисунок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56290" y="4580893"/>
            <a:ext cx="4981510" cy="209456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442764175" name="Рисунок 1421075015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</p:blipFill>
        <p:spPr bwMode="auto">
          <a:xfrm flipH="0" flipV="0">
            <a:off x="9204466" y="1593351"/>
            <a:ext cx="2824299" cy="20359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226761381" name="Прямоугольник 10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814104726" name="Прямоугольник 11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01955925" name="Заголовок 1"/>
          <p:cNvSpPr>
            <a:spLocks noGrp="1"/>
          </p:cNvSpPr>
          <p:nvPr>
            <p:ph type="title"/>
          </p:nvPr>
        </p:nvSpPr>
        <p:spPr bwMode="auto">
          <a:xfrm>
            <a:off x="387637" y="-116036"/>
            <a:ext cx="11223171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Разработка модели графического ядра: разработка архитектуры набора инструкций </a:t>
            </a:r>
            <a:r>
              <a:rPr lang="en-US">
                <a:solidFill>
                  <a:schemeClr val="bg1"/>
                </a:solidFill>
              </a:rPr>
              <a:t>(ISA)</a:t>
            </a:r>
            <a:endParaRPr lang="ru-RU">
              <a:solidFill>
                <a:schemeClr val="bg1"/>
              </a:solidFill>
            </a:endParaRPr>
          </a:p>
        </p:txBody>
      </p:sp>
      <p:pic>
        <p:nvPicPr>
          <p:cNvPr id="1628664448" name="Рисунок 2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</p:blipFill>
        <p:spPr bwMode="auto">
          <a:xfrm flipH="0" flipV="0">
            <a:off x="8480073" y="5206830"/>
            <a:ext cx="3548691" cy="1376882"/>
          </a:xfrm>
          <a:prstGeom prst="rect">
            <a:avLst/>
          </a:prstGeom>
        </p:spPr>
      </p:pic>
      <p:pic>
        <p:nvPicPr>
          <p:cNvPr id="1306253939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3122609" y="1415540"/>
            <a:ext cx="5529106" cy="3009811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cxnSp>
        <p:nvCxnSpPr>
          <p:cNvPr id="455070794" name=""/>
          <p:cNvCxnSpPr>
            <a:stCxn id="778076655" idx="3"/>
            <a:endCxn id="1628664448" idx="1"/>
          </p:cNvCxnSpPr>
          <p:nvPr/>
        </p:nvCxnSpPr>
        <p:spPr bwMode="auto">
          <a:xfrm rot="0" flipH="0" flipV="0">
            <a:off x="7837799" y="5628176"/>
            <a:ext cx="642273" cy="267095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548558" name=""/>
          <p:cNvCxnSpPr>
            <a:stCxn id="778076655" idx="3"/>
            <a:endCxn id="442764175" idx="2"/>
          </p:cNvCxnSpPr>
          <p:nvPr/>
        </p:nvCxnSpPr>
        <p:spPr bwMode="auto">
          <a:xfrm rot="0" flipH="0" flipV="1">
            <a:off x="7837801" y="3629299"/>
            <a:ext cx="2778814" cy="1998876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224083" name=""/>
          <p:cNvCxnSpPr>
            <a:stCxn id="1306253939" idx="3"/>
            <a:endCxn id="442764175" idx="1"/>
          </p:cNvCxnSpPr>
          <p:nvPr/>
        </p:nvCxnSpPr>
        <p:spPr bwMode="auto">
          <a:xfrm rot="0" flipH="0" flipV="1">
            <a:off x="8651715" y="2611325"/>
            <a:ext cx="552751" cy="309120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315911" name=""/>
          <p:cNvCxnSpPr>
            <a:stCxn id="1306253939" idx="3"/>
            <a:endCxn id="1628664448" idx="0"/>
          </p:cNvCxnSpPr>
          <p:nvPr/>
        </p:nvCxnSpPr>
        <p:spPr bwMode="auto">
          <a:xfrm rot="0" flipH="0" flipV="0">
            <a:off x="8651714" y="2920445"/>
            <a:ext cx="1602704" cy="2286385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627399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153374" y="1523999"/>
            <a:ext cx="5067299" cy="47624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/>
              <a:t>Fetcher</a:t>
            </a:r>
            <a:r>
              <a:rPr lang="ru-RU"/>
              <a:t> - захватывает инструкцию из памяти;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- декодирует инструкцию, управляет </a:t>
            </a:r>
            <a:r>
              <a:rPr lang="en-US"/>
              <a:t>LSU</a:t>
            </a:r>
            <a:r>
              <a:rPr lang="ru-RU"/>
              <a:t> и </a:t>
            </a:r>
            <a:r>
              <a:rPr lang="en-US"/>
              <a:t>TU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TU</a:t>
            </a:r>
            <a:r>
              <a:rPr lang="ru-RU"/>
              <a:t> </a:t>
            </a:r>
            <a:r>
              <a:rPr lang="ru-RU"/>
              <a:t>– вычислительный блок;</a:t>
            </a:r>
            <a:endParaRPr/>
          </a:p>
          <a:p>
            <a:pPr>
              <a:defRPr/>
            </a:pPr>
            <a:r>
              <a:rPr lang="en-US"/>
              <a:t>LSU -  </a:t>
            </a:r>
            <a:r>
              <a:rPr lang="ru-RU"/>
              <a:t>блок загрузки/сохранения данных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CSR </a:t>
            </a:r>
            <a:r>
              <a:rPr lang="ru-RU"/>
              <a:t>- контрольно-статусные регистры. </a:t>
            </a:r>
            <a:r>
              <a:rPr lang="ru-RU"/>
              <a:t>Содержат статусные и управляющие сигналы связанные с самим графическим ядром;</a:t>
            </a:r>
            <a:endParaRPr lang="ru-RU"/>
          </a:p>
          <a:p>
            <a:pPr>
              <a:defRPr/>
            </a:pPr>
            <a:r>
              <a:rPr lang="en-US"/>
              <a:t>PC – </a:t>
            </a:r>
            <a:r>
              <a:rPr lang="ru-RU"/>
              <a:t>счётчик инструкций</a:t>
            </a:r>
            <a:r>
              <a:rPr lang="ru-RU"/>
              <a:t>.</a:t>
            </a:r>
            <a:endParaRPr lang="en-US"/>
          </a:p>
        </p:txBody>
      </p:sp>
      <p:sp>
        <p:nvSpPr>
          <p:cNvPr id="193337666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8335"/>
            <a:ext cx="1052508" cy="365125"/>
          </a:xfrm>
        </p:spPr>
        <p:txBody>
          <a:bodyPr/>
          <a:lstStyle/>
          <a:p>
            <a:pPr>
              <a:defRPr/>
            </a:pPr>
            <a:fld id="{ED02CFB1-EEA1-CD3C-8AAA-9D8034B9CDE8}" type="slidenum">
              <a:rPr lang="ru-RU" sz="1800">
                <a:solidFill>
                  <a:schemeClr val="tx1"/>
                </a:solidFill>
                <a:latin typeface="Trebuchet MS"/>
              </a:rPr>
              <a:t>7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719004998" name="Прямоугольник 5"/>
          <p:cNvSpPr/>
          <p:nvPr/>
        </p:nvSpPr>
        <p:spPr bwMode="auto">
          <a:xfrm>
            <a:off x="0" y="0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34947425" name="Прямоугольник 6"/>
          <p:cNvSpPr/>
          <p:nvPr/>
        </p:nvSpPr>
        <p:spPr bwMode="auto">
          <a:xfrm>
            <a:off x="9298" y="1192006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43383581" name="Заголовок 1"/>
          <p:cNvSpPr>
            <a:spLocks noGrp="1"/>
          </p:cNvSpPr>
          <p:nvPr>
            <p:ph type="title"/>
          </p:nvPr>
        </p:nvSpPr>
        <p:spPr bwMode="auto">
          <a:xfrm>
            <a:off x="568954" y="0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>
                <a:solidFill>
                  <a:schemeClr val="bg1"/>
                </a:solidFill>
              </a:rPr>
              <a:t>: Общая структура ядра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79438118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603317" y="1473409"/>
            <a:ext cx="5766954" cy="52495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480467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6674" y="1350173"/>
            <a:ext cx="4134825" cy="51427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1600"/>
              <a:t>Вычислительный </a:t>
            </a:r>
            <a:r>
              <a:rPr lang="ru-RU" sz="1600"/>
              <a:t>блок </a:t>
            </a:r>
            <a:r>
              <a:rPr lang="en-US" sz="1600"/>
              <a:t>(Tread Unit) </a:t>
            </a:r>
            <a:r>
              <a:rPr lang="ru-RU" sz="1600"/>
              <a:t>обрабатывает вещественные и целочисленные данные из регистрового файла</a:t>
            </a:r>
            <a:r>
              <a:rPr lang="ru-RU" sz="1600"/>
              <a:t> (</a:t>
            </a:r>
            <a:r>
              <a:rPr lang="en-US" sz="1600"/>
              <a:t>Regfile</a:t>
            </a:r>
            <a:r>
              <a:rPr lang="ru-RU" sz="1600"/>
              <a:t>) и сохраняет их обратно</a:t>
            </a:r>
            <a:r>
              <a:rPr lang="ru-RU" sz="1600"/>
              <a:t>;</a:t>
            </a:r>
            <a:endParaRPr sz="1600"/>
          </a:p>
          <a:p>
            <a:pPr>
              <a:defRPr/>
            </a:pPr>
            <a:r>
              <a:rPr lang="ru-RU" sz="1600"/>
              <a:t>Основные компоненты: </a:t>
            </a:r>
            <a:endParaRPr sz="1600"/>
          </a:p>
          <a:p>
            <a:pPr lvl="1">
              <a:defRPr/>
            </a:pPr>
            <a:r>
              <a:rPr lang="en-US" sz="1600"/>
              <a:t>FPU – </a:t>
            </a:r>
            <a:r>
              <a:rPr lang="ru-RU" sz="1600"/>
              <a:t>блок операций с плавающей запятой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en-US" sz="1600"/>
              <a:t>ALU – </a:t>
            </a:r>
            <a:r>
              <a:rPr lang="ru-RU" sz="1600"/>
              <a:t>целочисленное арифметико-логическое устройство (в основном используется для расчёта адресов и смещений)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en-US" sz="1600"/>
              <a:t>Regfile – </a:t>
            </a:r>
            <a:r>
              <a:rPr lang="ru-RU" sz="1600"/>
              <a:t>регистровый файл, хранит операнды и результаты операций. 30 регистров общего назначения, 2 специализированных регистра (индекс вычислительного блока и константный нуль).</a:t>
            </a:r>
            <a:endParaRPr sz="1600"/>
          </a:p>
        </p:txBody>
      </p:sp>
      <p:sp>
        <p:nvSpPr>
          <p:cNvPr id="81327874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8C44681A-2184-8FE6-7CA2-B2F449D07AD3}" type="slidenum">
              <a:rPr lang="ru-RU" sz="1800">
                <a:solidFill>
                  <a:schemeClr val="tx1"/>
                </a:solidFill>
                <a:latin typeface="Trebuchet MS"/>
              </a:rPr>
              <a:t>8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1166619" name="Прямоугольник 6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64849650" name="Прямоугольник 7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875130202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3787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Разработка вычислительного блока:</a:t>
            </a:r>
            <a:br>
              <a:rPr lang="ru-RU" sz="3600">
                <a:solidFill>
                  <a:schemeClr val="bg1"/>
                </a:solidFill>
              </a:rPr>
            </a:br>
            <a:r>
              <a:rPr lang="ru-RU" sz="3600">
                <a:solidFill>
                  <a:schemeClr val="bg1"/>
                </a:solidFill>
              </a:rPr>
              <a:t>общая структура</a:t>
            </a:r>
            <a:endParaRPr/>
          </a:p>
        </p:txBody>
      </p:sp>
      <p:pic>
        <p:nvPicPr>
          <p:cNvPr id="1831157032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207840" y="1443556"/>
            <a:ext cx="5541424" cy="51576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999098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208734" y="1552574"/>
            <a:ext cx="4736810" cy="49402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Предназначен для передачи данных между внешней памятью и вычислительными блоками;</a:t>
            </a:r>
            <a:endParaRPr/>
          </a:p>
          <a:p>
            <a:pPr>
              <a:defRPr/>
            </a:pPr>
            <a:r>
              <a:rPr lang="ru-RU"/>
              <a:t>Может только загружать</a:t>
            </a:r>
            <a:r>
              <a:rPr lang="en-US"/>
              <a:t> (LOAD)</a:t>
            </a:r>
            <a:r>
              <a:rPr lang="ru-RU"/>
              <a:t> или сохранять</a:t>
            </a:r>
            <a:r>
              <a:rPr lang="en-US"/>
              <a:t> (STORE)</a:t>
            </a:r>
            <a:r>
              <a:rPr lang="ru-RU"/>
              <a:t> данные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ru-RU"/>
              <a:t>Работает </a:t>
            </a:r>
            <a:r>
              <a:rPr lang="ru-RU"/>
              <a:t>только при получении </a:t>
            </a:r>
            <a:r>
              <a:rPr lang="en-US"/>
              <a:t>LD/ST </a:t>
            </a:r>
            <a:r>
              <a:rPr lang="ru-RU"/>
              <a:t>инструкции</a:t>
            </a:r>
            <a:r>
              <a:rPr lang="ru-RU"/>
              <a:t>.</a:t>
            </a:r>
            <a:endParaRPr/>
          </a:p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214383719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3268CEBC-6C76-D4A5-843E-7A9602BB4FE0}" type="slidenum">
              <a:rPr lang="ru-RU" sz="1800">
                <a:solidFill>
                  <a:schemeClr val="tx1"/>
                </a:solidFill>
                <a:latin typeface="Trebuchet MS"/>
              </a:rPr>
              <a:t>9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647825523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07294269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76845758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45985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Блок загрузки и сохранения</a:t>
            </a:r>
            <a:endParaRPr/>
          </a:p>
        </p:txBody>
      </p:sp>
      <p:pic>
        <p:nvPicPr>
          <p:cNvPr id="50381630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025437" y="1481884"/>
            <a:ext cx="7175859" cy="50109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825369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0" y="1350173"/>
            <a:ext cx="5668349" cy="550782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Арбитр </a:t>
            </a:r>
            <a:r>
              <a:rPr lang="ru-RU"/>
              <a:t>отслеживает запросы к памяти данных от вычислительных блоков;</a:t>
            </a:r>
            <a:endParaRPr/>
          </a:p>
          <a:p>
            <a:pPr>
              <a:defRPr/>
            </a:pPr>
            <a:r>
              <a:rPr lang="en-US"/>
              <a:t>LSU</a:t>
            </a:r>
            <a:r>
              <a:rPr lang="ru-RU"/>
              <a:t> выполняет запросы в порядке очереди (</a:t>
            </a:r>
            <a:r>
              <a:rPr lang="en-US"/>
              <a:t>round-robin</a:t>
            </a:r>
            <a:r>
              <a:rPr lang="ru-RU"/>
              <a:t>);</a:t>
            </a:r>
            <a:endParaRPr lang="ru-RU"/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Арбитр 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управляет 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демультиплексором считанных данных и мультиплексором записываемых данных.</a:t>
            </a:r>
            <a:endParaRPr/>
          </a:p>
        </p:txBody>
      </p:sp>
      <p:sp>
        <p:nvSpPr>
          <p:cNvPr id="890523569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9687AD8-1A48-903E-417E-81FF292386D7}" type="slidenum">
              <a:rPr lang="ru-RU" sz="1800">
                <a:solidFill>
                  <a:schemeClr val="tx1"/>
                </a:solidFill>
                <a:latin typeface="Trebuchet MS"/>
              </a:rPr>
              <a:t>10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345669249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71153361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219828253" name="Заголовок 1"/>
          <p:cNvSpPr>
            <a:spLocks noGrp="1"/>
          </p:cNvSpPr>
          <p:nvPr>
            <p:ph type="title"/>
          </p:nvPr>
        </p:nvSpPr>
        <p:spPr bwMode="auto">
          <a:xfrm>
            <a:off x="842848" y="-10414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Интерконнект</a:t>
            </a:r>
            <a:r>
              <a:rPr lang="ru-RU" sz="3600">
                <a:solidFill>
                  <a:schemeClr val="bg1"/>
                </a:solidFill>
              </a:rPr>
              <a:t> между </a:t>
            </a:r>
            <a:r>
              <a:rPr lang="en-US" sz="3600">
                <a:solidFill>
                  <a:schemeClr val="bg1"/>
                </a:solidFill>
              </a:rPr>
              <a:t>LSU </a:t>
            </a:r>
            <a:r>
              <a:rPr lang="ru-RU" sz="3600">
                <a:solidFill>
                  <a:schemeClr val="bg1"/>
                </a:solidFill>
              </a:rPr>
              <a:t>и потоками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689196611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6868500" y="1437959"/>
            <a:ext cx="5268560" cy="52374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1346274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77173" y="1350172"/>
            <a:ext cx="4826355" cy="550782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/>
              <a:t>Fetcher – </a:t>
            </a:r>
            <a:r>
              <a:rPr lang="ru-RU"/>
              <a:t>блок загрузки инструкций из памяти программ. Вычитывает инструкцию на которую указывает счётчик инструкций (</a:t>
            </a:r>
            <a:r>
              <a:rPr lang="en-US"/>
              <a:t>PC – program counter</a:t>
            </a:r>
            <a:r>
              <a:rPr lang="ru-RU"/>
              <a:t>);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– преобразование инструкций в </a:t>
            </a:r>
            <a:r>
              <a:rPr lang="ru-RU"/>
              <a:t>управляющие сигналы для исполнительных блоков (</a:t>
            </a:r>
            <a:r>
              <a:rPr lang="en-US"/>
              <a:t>TU, LSU</a:t>
            </a:r>
            <a:r>
              <a:rPr lang="ru-RU"/>
              <a:t>)</a:t>
            </a:r>
            <a:r>
              <a:rPr lang="en-US"/>
              <a:t>.</a:t>
            </a:r>
            <a:endParaRPr/>
          </a:p>
        </p:txBody>
      </p:sp>
      <p:sp>
        <p:nvSpPr>
          <p:cNvPr id="143434677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6E0C4E4E-F03C-EE6B-08CF-E8796A069A1F}" type="slidenum">
              <a:rPr lang="ru-RU" sz="1800">
                <a:solidFill>
                  <a:schemeClr val="tx1"/>
                </a:solidFill>
                <a:latin typeface="Trebuchet MS"/>
              </a:rPr>
              <a:t>11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424289974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465794781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846930637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10415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600">
                <a:solidFill>
                  <a:schemeClr val="bg1"/>
                </a:solidFill>
              </a:rPr>
              <a:t>Fetcher &amp; Decoder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617031162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996910" y="1396865"/>
            <a:ext cx="6875366" cy="51334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6936832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156445" y="1959773"/>
            <a:ext cx="4816578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1600"/>
              <a:t>В результате работы:</a:t>
            </a:r>
            <a:endParaRPr sz="1600"/>
          </a:p>
          <a:p>
            <a:pPr lvl="1">
              <a:defRPr/>
            </a:pPr>
            <a:r>
              <a:rPr lang="ru-RU" sz="1600"/>
              <a:t>Проведен анализ существующих архитектур графических процессоров и ядер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ru-RU" sz="1600"/>
              <a:t>Спроектирована минимально необходимая архитектура набора инструкций </a:t>
            </a:r>
            <a:r>
              <a:rPr lang="en-US" sz="1600"/>
              <a:t>(ISA);</a:t>
            </a:r>
            <a:endParaRPr sz="1600"/>
          </a:p>
          <a:p>
            <a:pPr lvl="1">
              <a:defRPr/>
            </a:pPr>
            <a:r>
              <a:rPr lang="ru-RU" sz="1600"/>
              <a:t>Разработана архитектура упрощенного графического ядра с использованием метода поблочной декомпозиции;</a:t>
            </a:r>
            <a:endParaRPr sz="1600"/>
          </a:p>
          <a:p>
            <a:pPr lvl="1">
              <a:defRPr/>
            </a:pPr>
            <a:r>
              <a:rPr lang="ru-RU" sz="1600"/>
              <a:t>Разработана упрощенная модель графического ядра</a:t>
            </a:r>
            <a:r>
              <a:rPr lang="en-US" sz="1600"/>
              <a:t> </a:t>
            </a:r>
            <a:r>
              <a:rPr lang="ru-RU" sz="1600"/>
              <a:t>на языке описания аппаратуры </a:t>
            </a:r>
            <a:r>
              <a:rPr lang="en-US" sz="1600"/>
              <a:t>SystemVerilog</a:t>
            </a:r>
            <a:r>
              <a:rPr lang="ru-RU" sz="1600"/>
              <a:t>.</a:t>
            </a:r>
            <a:endParaRPr sz="1600"/>
          </a:p>
        </p:txBody>
      </p:sp>
      <p:sp>
        <p:nvSpPr>
          <p:cNvPr id="131824497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13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111771651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341103037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96589953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Заключение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57436687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952470" y="1438274"/>
            <a:ext cx="7184591" cy="49053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6251966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Обзор аналогов 2D графических ускорителей во встроенных системах / И.А. Дудкин, Д.М. Старухин, В.В. Черкасов \/\/ Математика, информационные технологии, приложения : сборник материалов Межвузовской научной конференции «Математика, информационные технологии, приложения» (Воронеж, 24-25 апреля 2025 г.). -- Воронеж : Издательско-полиграфический центр «Научная книга», 2025. -- С.209-216</a:t>
            </a:r>
            <a:endParaRPr sz="4800">
              <a:solidFill>
                <a:schemeClr val="bg1"/>
              </a:solidFill>
              <a:latin typeface="Trebuchet MS"/>
              <a:cs typeface="Trebuchet MS"/>
            </a:endParaRPr>
          </a:p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</a:t>
            </a:r>
            <a: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Разработка архитектуры аппаратной реализации 2D графического ускорителя / И.А. Дудкин, Д.М. Старухин, В.В. Черкасов \/\/ Актуальные проблемы прикладной математики, информатики и механики : сборник материалов Международной научной конференции «Актуальные проблемы прикладной математики, информатики и механики» (Воронеж, 1-3 декабря 2025 г.). -- Воронеж : ООО «Издательство Прометей», 2026. -- С.1584-1588.</a:t>
            </a:r>
            <a:b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</a:br>
            <a:endParaRPr lang="ru-RU">
              <a:solidFill>
                <a:schemeClr val="bg1"/>
              </a:solidFill>
            </a:endParaRPr>
          </a:p>
        </p:txBody>
      </p:sp>
      <p:sp>
        <p:nvSpPr>
          <p:cNvPr id="11258241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382963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00170895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017034737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825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Публикация статьи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512612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sz="24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По результатам текущей работы получен акт о внедрении разработки в деятельность АО «ПКК Миландр» №04-3 от 04.06.2026</a:t>
            </a:r>
            <a:endParaRPr sz="10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127099636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4"/>
            <a:ext cx="1052507" cy="365124"/>
          </a:xfrm>
        </p:spPr>
        <p:txBody>
          <a:bodyPr/>
          <a:lstStyle/>
          <a:p>
            <a:pPr>
              <a:defRPr/>
            </a:pPr>
            <a:fld id="{6737BC9E-E183-A7EE-0C01-BA6DD5EB0490}" type="slidenum">
              <a:rPr lang="ru-RU" sz="1800">
                <a:solidFill>
                  <a:schemeClr val="tx1"/>
                </a:solidFill>
                <a:latin typeface="Trebuchet MS"/>
              </a:rPr>
              <a:t>15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011535576" name="Прямоугольник 4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626725030" name="Прямоугольник 5"/>
          <p:cNvSpPr/>
          <p:nvPr/>
        </p:nvSpPr>
        <p:spPr bwMode="auto">
          <a:xfrm>
            <a:off x="0" y="1181590"/>
            <a:ext cx="12201298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86145827" name="Заголовок 1"/>
          <p:cNvSpPr>
            <a:spLocks noGrp="1"/>
          </p:cNvSpPr>
          <p:nvPr>
            <p:ph type="title"/>
          </p:nvPr>
        </p:nvSpPr>
        <p:spPr bwMode="auto">
          <a:xfrm>
            <a:off x="838198" y="1825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Внедрение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834110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59567909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788740094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468456797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478181003" name="Заголовок 1"/>
          <p:cNvSpPr>
            <a:spLocks noGrp="1"/>
          </p:cNvSpPr>
          <p:nvPr>
            <p:ph type="title"/>
          </p:nvPr>
        </p:nvSpPr>
        <p:spPr bwMode="auto">
          <a:xfrm>
            <a:off x="916446" y="174984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Спасибо за внимание!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04479" name="Прямоугольник 3"/>
          <p:cNvSpPr/>
          <p:nvPr/>
        </p:nvSpPr>
        <p:spPr bwMode="auto">
          <a:xfrm flipH="0" flipV="0">
            <a:off x="0" y="246891"/>
            <a:ext cx="12191999" cy="42211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91989968" name="Прямоугольник 4"/>
          <p:cNvSpPr/>
          <p:nvPr/>
        </p:nvSpPr>
        <p:spPr bwMode="auto">
          <a:xfrm flipH="0" flipV="0">
            <a:off x="0" y="5021125"/>
            <a:ext cx="12191999" cy="164637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65050687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644243" y="2028711"/>
            <a:ext cx="8345667" cy="1400287"/>
          </a:xfrm>
        </p:spPr>
        <p:txBody>
          <a:bodyPr>
            <a:noAutofit/>
          </a:bodyPr>
          <a:lstStyle/>
          <a:p>
            <a:pPr algn="ctr">
              <a:defRPr/>
            </a:pPr>
            <a:r>
              <a:rPr lang="ru-RU" sz="3200" b="1">
                <a:solidFill>
                  <a:schemeClr val="bg1"/>
                </a:solidFill>
              </a:rPr>
              <a:t>Разработка </a:t>
            </a:r>
            <a:r>
              <a:rPr lang="ru-RU" sz="3200" b="1">
                <a:solidFill>
                  <a:schemeClr val="bg1"/>
                </a:solidFill>
              </a:rPr>
              <a:t>ядра упрощенного графического ускорителя. Разработка </a:t>
            </a:r>
            <a:r>
              <a:rPr lang="en-US" sz="3200" b="1">
                <a:solidFill>
                  <a:schemeClr val="bg1"/>
                </a:solidFill>
              </a:rPr>
              <a:t>HDL </a:t>
            </a:r>
            <a:r>
              <a:rPr lang="ru-RU" sz="3200" b="1">
                <a:solidFill>
                  <a:schemeClr val="bg1"/>
                </a:solidFill>
              </a:rPr>
              <a:t>модели</a:t>
            </a:r>
            <a:endParaRPr b="1">
              <a:solidFill>
                <a:schemeClr val="bg1"/>
              </a:solidFill>
            </a:endParaRPr>
          </a:p>
        </p:txBody>
      </p:sp>
      <p:sp>
        <p:nvSpPr>
          <p:cNvPr id="658869768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5817078" y="5093157"/>
            <a:ext cx="6051235" cy="124182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55000" lnSpcReduction="9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группы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Руководитель: Авсеева О.В.</a:t>
            </a:r>
            <a:endParaRPr/>
          </a:p>
          <a:p>
            <a:pPr algn="r">
              <a:defRPr/>
            </a:pPr>
            <a:r>
              <a:rPr lang="en-US">
                <a:solidFill>
                  <a:schemeClr val="bg1"/>
                </a:solidFill>
              </a:rPr>
              <a:t>e-mail: staruhind@yandex.ru</a:t>
            </a:r>
            <a:endParaRPr/>
          </a:p>
        </p:txBody>
      </p:sp>
      <p:sp>
        <p:nvSpPr>
          <p:cNvPr id="109138294" name="Заголовок 1"/>
          <p:cNvSpPr>
            <a:spLocks noGrp="1"/>
          </p:cNvSpPr>
          <p:nvPr/>
        </p:nvSpPr>
        <p:spPr bwMode="auto">
          <a:xfrm flipH="0" flipV="0">
            <a:off x="1644243" y="383435"/>
            <a:ext cx="8345667" cy="766221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355553338" name="Заголовок 1"/>
          <p:cNvSpPr>
            <a:spLocks noGrp="1"/>
          </p:cNvSpPr>
          <p:nvPr/>
        </p:nvSpPr>
        <p:spPr bwMode="auto">
          <a:xfrm flipH="0" flipV="0">
            <a:off x="1644243" y="1149656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Факультет прикладной математики, информатики и механики Кафедра вычислительной математики и прикладных информационных технологий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261394047" name="Заголовок 1"/>
          <p:cNvSpPr>
            <a:spLocks noGrp="1"/>
          </p:cNvSpPr>
          <p:nvPr/>
        </p:nvSpPr>
        <p:spPr bwMode="auto">
          <a:xfrm flipH="0" flipV="0">
            <a:off x="1644243" y="3544760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Магистерская диссертация</a:t>
            </a:r>
            <a:endParaRPr lang="ru-RU" sz="1600" b="0" i="0" u="none">
              <a:solidFill>
                <a:schemeClr val="bg1"/>
              </a:solidFill>
              <a:latin typeface="Trebuchet MS"/>
              <a:ea typeface="Trebuchet MS"/>
              <a:cs typeface="Trebuchet MS"/>
            </a:endParaRPr>
          </a:p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Направление 01.04.02 Прикладная математика и информатика</a:t>
            </a:r>
            <a:endParaRPr lang="ru-RU" sz="1600" b="0" i="0" u="none">
              <a:solidFill>
                <a:schemeClr val="bg1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498371073" name="Заголовок 1"/>
          <p:cNvSpPr>
            <a:spLocks noGrp="1"/>
          </p:cNvSpPr>
          <p:nvPr/>
        </p:nvSpPr>
        <p:spPr bwMode="auto">
          <a:xfrm flipH="0" flipV="0">
            <a:off x="5170877" y="5951875"/>
            <a:ext cx="1850245" cy="630957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Воронеж 2026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18</Slides>
  <Notes>18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упрощенного графического ускорителя. Разработка модели упрощенного графического ядра.</dc:title>
  <dc:creator>Ewencen Sicl</dc:creator>
  <cp:lastModifiedBy/>
  <cp:revision>38</cp:revision>
  <dcterms:created xsi:type="dcterms:W3CDTF">2026-06-01T16:03:18Z</dcterms:created>
  <dcterms:modified xsi:type="dcterms:W3CDTF">2026-06-09T13:26:25Z</dcterms:modified>
</cp:coreProperties>
</file>