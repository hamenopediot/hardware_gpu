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slideLayouts/slideLayout25.xml" ContentType="application/vnd.openxmlformats-officedocument.presentationml.slideLayout+xml"/>
  <Override PartName="/ppt/slides/slide1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slideLayouts/slideLayout1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3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s/slide2.xml" ContentType="application/vnd.openxmlformats-officedocument.presentationml.slide+xml"/>
  <Override PartName="/ppt/slideLayouts/slideLayout23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2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6.xml" ContentType="application/vnd.openxmlformats-officedocument.presentationml.slideLayout+xml"/>
  <Override PartName="/ppt/notesSlides/notesSlide6.xml" ContentType="application/vnd.openxmlformats-officedocument.presentationml.notesSlide+xml"/>
  <Override PartName="/ppt/slideLayouts/slideLayout28.xml" ContentType="application/vnd.openxmlformats-officedocument.presentationml.slideLayout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 showSpecialPlsOnTitleSld="0">
  <p:sldMasterIdLst>
    <p:sldMasterId id="2147483648" r:id="rId1"/>
  </p:sldMasterIdLst>
  <p:notesMasterIdLst>
    <p:notesMasterId r:id="rId20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  <p:defaultTextStyle>
    <a:defPPr>
      <a:defRPr lang="ru-RU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54" d="100"/>
          <a:sy n="154" d="100"/>
        </p:scale>
        <p:origin x="534" y="108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 /><Relationship Id="rId22" Type="http://schemas.openxmlformats.org/officeDocument/2006/relationships/tableStyles" Target="tableStyles.xml" /><Relationship Id="rId23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5735315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5313338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0BF8B4CA-290A-45FF-AF47-6D7BC9CA84C9}" type="datetimeFigureOut">
              <a:rPr lang="ru-RU"/>
              <a:t>02.06.2026</a:t>
            </a:fld>
            <a:endParaRPr lang="ru-RU"/>
          </a:p>
        </p:txBody>
      </p:sp>
      <p:sp>
        <p:nvSpPr>
          <p:cNvPr id="1462071746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1029992306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13086466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77271291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BA4505C3-1B66-4F80-910D-E8795C33F31E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4579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25404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9379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9993D39-5D40-723A-B7F6-46DBB08A9A62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146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25784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858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5F5C7D0-D7BE-2C63-050F-1DAFA286B6D7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57980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2024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1553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0EB7B1-6B7D-5CE5-D95F-5ED0A7232503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06566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81201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45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55F3D9-BDFF-EDB5-6FC0-3B806BA109F3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34896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543052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7118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768EC4-D344-67C3-1C24-CF724D34C290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27927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98076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99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FCB82-4ABC-C1C4-5E79-18F3785DD755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6866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08966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8255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A0886C-666E-9836-41C4-83E600BD9668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6451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62434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1018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902816-76A5-4AF4-1E9E-ABAE37AB74E6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4835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887793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356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9DD143-F230-8BE5-DF47-2F712C202B39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69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74051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0384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8E094-64B7-2766-BCC3-6C48145F116B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43025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241639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67920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85B0B4-A097-EC80-6511-5CB349CFD099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8201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5589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3365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FE7883-973B-878E-357F-41AA8BFE4543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6621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217827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872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9BC998-3455-E361-253C-3B87DD69CA9D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3768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26207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5754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3C25AB-F75B-ED55-9B43-2E895322D2B6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8795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94322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734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3B1206-5BC8-D1E1-57C3-7D177AE62E15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2385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8565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58145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8C1104-84A8-CC17-258A-A96B99F9A95E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5219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3376294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/>
          </a:p>
        </p:txBody>
      </p:sp>
      <p:sp>
        <p:nvSpPr>
          <p:cNvPr id="1940400193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64E949B-752F-4A71-A243-047E6613A32E}" type="datetime1">
              <a:rPr lang="ru-RU"/>
              <a:t>02.06.2026</a:t>
            </a:fld>
            <a:endParaRPr lang="ru-RU"/>
          </a:p>
        </p:txBody>
      </p:sp>
      <p:sp>
        <p:nvSpPr>
          <p:cNvPr id="1686587003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57637731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047749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27385587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6557993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B2D18A6-5519-416E-A160-669FC8C75E20}" type="datetime1">
              <a:rPr lang="ru-RU"/>
              <a:t>02.06.2026</a:t>
            </a:fld>
            <a:endParaRPr lang="ru-RU"/>
          </a:p>
        </p:txBody>
      </p:sp>
      <p:sp>
        <p:nvSpPr>
          <p:cNvPr id="1178894900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94752303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127255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1372742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68149412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FDFF63E-A7E5-4C7D-A2C9-DA69D5675040}" type="datetime1">
              <a:rPr lang="ru-RU"/>
              <a:t>02.06.2026</a:t>
            </a:fld>
            <a:endParaRPr lang="ru-RU"/>
          </a:p>
        </p:txBody>
      </p:sp>
      <p:sp>
        <p:nvSpPr>
          <p:cNvPr id="1593237903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9735745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771371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353203105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73353767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8128543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464CDE6-6F92-4C74-BFB3-7167DEA2EA4E}" type="datetime1">
              <a:rPr lang="ru-RU"/>
              <a:t>02.06.2026</a:t>
            </a:fld>
            <a:endParaRPr lang="ru-RU"/>
          </a:p>
        </p:txBody>
      </p:sp>
      <p:sp>
        <p:nvSpPr>
          <p:cNvPr id="104895869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3096411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488978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8536330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81902612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47811363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48436480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63629396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9B7B28A-94DD-44EC-83BF-F9E9490C49B9}" type="datetime1">
              <a:rPr lang="ru-RU"/>
              <a:t>02.06.2026</a:t>
            </a:fld>
            <a:endParaRPr lang="ru-RU"/>
          </a:p>
        </p:txBody>
      </p:sp>
      <p:sp>
        <p:nvSpPr>
          <p:cNvPr id="806557814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60479228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193481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46072064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9CBEF87-A1CE-4AD3-B312-24E4060B669E}" type="datetime1">
              <a:rPr lang="ru-RU"/>
              <a:t>02.06.2026</a:t>
            </a:fld>
            <a:endParaRPr lang="ru-RU"/>
          </a:p>
        </p:txBody>
      </p:sp>
      <p:sp>
        <p:nvSpPr>
          <p:cNvPr id="925760900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44299471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4410390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1A3597E-B3B5-450E-90FE-FB59F904A164}" type="datetime1">
              <a:rPr lang="ru-RU"/>
              <a:t>02.06.2026</a:t>
            </a:fld>
            <a:endParaRPr lang="ru-RU"/>
          </a:p>
        </p:txBody>
      </p:sp>
      <p:sp>
        <p:nvSpPr>
          <p:cNvPr id="865070787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59032338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402276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48433965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556658589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5033494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C926F4-5876-4D6C-B300-7031A7F64CBB}" type="datetime1">
              <a:rPr lang="ru-RU"/>
              <a:t>02.06.2026</a:t>
            </a:fld>
            <a:endParaRPr lang="ru-RU"/>
          </a:p>
        </p:txBody>
      </p:sp>
      <p:sp>
        <p:nvSpPr>
          <p:cNvPr id="1072072449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95929803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4076230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94584814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2024400069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61951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C357E52-6772-44D2-9B1A-046730665B12}" type="datetime1">
              <a:rPr lang="ru-RU"/>
              <a:t>02.06.2026</a:t>
            </a:fld>
            <a:endParaRPr lang="ru-RU"/>
          </a:p>
        </p:txBody>
      </p:sp>
      <p:sp>
        <p:nvSpPr>
          <p:cNvPr id="2023925822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93445368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5576024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75242156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06822787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A5CB82E-191B-43B0-A738-8B9909F88B35}" type="datetime1">
              <a:rPr lang="ru-RU"/>
              <a:t>02.06.2026</a:t>
            </a:fld>
            <a:endParaRPr lang="ru-RU"/>
          </a:p>
        </p:txBody>
      </p:sp>
      <p:sp>
        <p:nvSpPr>
          <p:cNvPr id="21575391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4376644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29311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29385852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989467152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730D1F9-634A-465B-B25E-CF53749F388C}" type="datetime1">
              <a:rPr lang="ru-RU"/>
              <a:t>02.06.2026</a:t>
            </a:fld>
            <a:endParaRPr lang="ru-RU"/>
          </a:p>
        </p:txBody>
      </p:sp>
      <p:sp>
        <p:nvSpPr>
          <p:cNvPr id="1777267971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91189460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1_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7531628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22002329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1651184888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60423919" name="Rectangle 9"/>
          <p:cNvSpPr/>
          <p:nvPr/>
        </p:nvSpPr>
        <p:spPr bwMode="auto"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77816805" name="Title 1"/>
          <p:cNvSpPr>
            <a:spLocks noGrp="1"/>
          </p:cNvSpPr>
          <p:nvPr>
            <p:ph type="ctrTitle"/>
          </p:nvPr>
        </p:nvSpPr>
        <p:spPr bwMode="auto"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537135183" name="Subtitle 2"/>
          <p:cNvSpPr>
            <a:spLocks noGrp="1"/>
          </p:cNvSpPr>
          <p:nvPr>
            <p:ph type="subTitle" idx="1"/>
          </p:nvPr>
        </p:nvSpPr>
        <p:spPr bwMode="auto"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10917902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2D43468-8071-4A79-9713-FA03F2A56FC7}" type="datetime1">
              <a:rPr lang="ru-RU"/>
              <a:t>02.06.2026</a:t>
            </a:fld>
            <a:endParaRPr lang="ru-RU"/>
          </a:p>
        </p:txBody>
      </p:sp>
      <p:sp>
        <p:nvSpPr>
          <p:cNvPr id="7306499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892771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9255346" y="2750337"/>
            <a:ext cx="1171888" cy="1356442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1_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36166365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370824802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136158675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3870765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9458761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76664890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23249849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AAA47A0-2EBA-44E2-BFE5-02832F0BA229}" type="datetime1">
              <a:rPr lang="ru-RU"/>
              <a:t>02.06.2026</a:t>
            </a:fld>
            <a:endParaRPr lang="ru-RU"/>
          </a:p>
        </p:txBody>
      </p:sp>
      <p:sp>
        <p:nvSpPr>
          <p:cNvPr id="61336908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59464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1_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53254116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-1" y="4086906"/>
            <a:ext cx="10437812" cy="321164"/>
          </a:xfrm>
          <a:prstGeom prst="rect">
            <a:avLst/>
          </a:prstGeom>
        </p:spPr>
      </p:pic>
      <p:pic>
        <p:nvPicPr>
          <p:cNvPr id="1575720322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778678633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41099088" name="Rectangle 9"/>
          <p:cNvSpPr/>
          <p:nvPr/>
        </p:nvSpPr>
        <p:spPr bwMode="auto"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60382468" name="Title 1"/>
          <p:cNvSpPr>
            <a:spLocks noGrp="1"/>
          </p:cNvSpPr>
          <p:nvPr>
            <p:ph type="title"/>
          </p:nvPr>
        </p:nvSpPr>
        <p:spPr bwMode="auto"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4444752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6396858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E3FDA68-1834-4C1F-B2CC-B0A0766ED8A5}" type="datetime1">
              <a:rPr lang="ru-RU"/>
              <a:t>02.06.2026</a:t>
            </a:fld>
            <a:endParaRPr lang="ru-RU"/>
          </a:p>
        </p:txBody>
      </p:sp>
      <p:sp>
        <p:nvSpPr>
          <p:cNvPr id="47963352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69262745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286989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1_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8672249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86086892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05060902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76010605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021008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66309745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0319" y="2336873"/>
            <a:ext cx="46983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5063809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594123" y="2336873"/>
            <a:ext cx="47000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27169015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9303EE3-BBFB-41F4-B1FB-4E4CF27ED9D2}" type="datetime1">
              <a:rPr lang="ru-RU"/>
              <a:t>02.06.2026</a:t>
            </a:fld>
            <a:endParaRPr lang="ru-RU"/>
          </a:p>
        </p:txBody>
      </p:sp>
      <p:sp>
        <p:nvSpPr>
          <p:cNvPr id="152802858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1444939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1_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31601874" name="Picture 9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537817575" name="Picture 10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780806100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1187196" name="Rectangle 12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32373780" name="Title 1"/>
          <p:cNvSpPr>
            <a:spLocks noGrp="1"/>
          </p:cNvSpPr>
          <p:nvPr>
            <p:ph type="title"/>
          </p:nvPr>
        </p:nvSpPr>
        <p:spPr bwMode="auto">
          <a:xfrm>
            <a:off x="680319" y="753229"/>
            <a:ext cx="9613863" cy="1080937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4788959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06349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7760271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0322" y="3030008"/>
            <a:ext cx="4698355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79901758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69707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594123" y="3030008"/>
            <a:ext cx="4700059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7438456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96D59AE-5854-4542-9FF1-1EC4E5A530D5}" type="datetime1">
              <a:rPr lang="ru-RU"/>
              <a:t>02.06.2026</a:t>
            </a:fld>
            <a:endParaRPr lang="ru-RU"/>
          </a:p>
        </p:txBody>
      </p:sp>
      <p:sp>
        <p:nvSpPr>
          <p:cNvPr id="29006617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74292724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1_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6801075" name="Picture 5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071491778" name="Picture 6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320681226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53781502" name="Rectangle 8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1773088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07781595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C785264-56B0-460E-A2C2-C886D7CC0782}" type="datetime1">
              <a:rPr lang="ru-RU"/>
              <a:t>02.06.2026</a:t>
            </a:fld>
            <a:endParaRPr lang="ru-RU"/>
          </a:p>
        </p:txBody>
      </p:sp>
      <p:sp>
        <p:nvSpPr>
          <p:cNvPr id="1760348163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3024529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1_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02468815" name="Picture 4" descr="HD-ShadowShort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67466000" name="Rectangle 5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97885031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AAA0283-F641-48C8-BAB7-8AC6BD361923}" type="datetime1">
              <a:rPr lang="ru-RU"/>
              <a:t>02.06.2026</a:t>
            </a:fld>
            <a:endParaRPr lang="ru-RU"/>
          </a:p>
        </p:txBody>
      </p:sp>
      <p:sp>
        <p:nvSpPr>
          <p:cNvPr id="983342965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305160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1_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99832884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378975475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770462109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58624316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55281627" name="Title 1"/>
          <p:cNvSpPr>
            <a:spLocks noGrp="1"/>
          </p:cNvSpPr>
          <p:nvPr>
            <p:ph type="title"/>
          </p:nvPr>
        </p:nvSpPr>
        <p:spPr bwMode="auto"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740228987" name="Content Placeholder 2"/>
          <p:cNvSpPr>
            <a:spLocks noGrp="1"/>
          </p:cNvSpPr>
          <p:nvPr>
            <p:ph idx="1"/>
          </p:nvPr>
        </p:nvSpPr>
        <p:spPr bwMode="auto">
          <a:xfrm>
            <a:off x="4685846" y="2336873"/>
            <a:ext cx="5608336" cy="3599313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88539020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1096161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10133D-16A4-41F1-B8F2-C1B694F00730}" type="datetime1">
              <a:rPr lang="ru-RU"/>
              <a:t>02.06.2026</a:t>
            </a:fld>
            <a:endParaRPr lang="ru-RU"/>
          </a:p>
        </p:txBody>
      </p:sp>
      <p:sp>
        <p:nvSpPr>
          <p:cNvPr id="14152744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841572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1_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19609788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37188809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170122928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45145742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16227685" name="Title 1"/>
          <p:cNvSpPr>
            <a:spLocks noGrp="1"/>
          </p:cNvSpPr>
          <p:nvPr>
            <p:ph type="title"/>
          </p:nvPr>
        </p:nvSpPr>
        <p:spPr bwMode="auto">
          <a:xfrm>
            <a:off x="680323" y="753227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404055384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4868332" y="2336874"/>
            <a:ext cx="5425849" cy="3599312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93358400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067370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65D9257-9E03-404F-95EE-486F8868E3F2}" type="datetime1">
              <a:rPr lang="ru-RU"/>
              <a:t>02.06.2026</a:t>
            </a:fld>
            <a:endParaRPr lang="ru-RU"/>
          </a:p>
        </p:txBody>
      </p:sp>
      <p:sp>
        <p:nvSpPr>
          <p:cNvPr id="145918233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5805934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анорамная фотография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57269967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514993529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561620832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27071138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91470946" name="Title 1"/>
          <p:cNvSpPr>
            <a:spLocks noGrp="1"/>
          </p:cNvSpPr>
          <p:nvPr>
            <p:ph type="title"/>
          </p:nvPr>
        </p:nvSpPr>
        <p:spPr bwMode="auto"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77170769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680322" y="609597"/>
            <a:ext cx="9613859" cy="3589574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6598489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8916027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C6571D8-6559-4269-B7BA-EACD5F8873B8}" type="datetime1">
              <a:rPr lang="ru-RU"/>
              <a:t>02.06.2026</a:t>
            </a:fld>
            <a:endParaRPr lang="ru-RU"/>
          </a:p>
        </p:txBody>
      </p:sp>
      <p:sp>
        <p:nvSpPr>
          <p:cNvPr id="214670262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04121005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309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подпись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0072089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789534247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674330875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49616050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10267981" name="Title 1"/>
          <p:cNvSpPr>
            <a:spLocks noGrp="1"/>
          </p:cNvSpPr>
          <p:nvPr>
            <p:ph type="title"/>
          </p:nvPr>
        </p:nvSpPr>
        <p:spPr bwMode="auto"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26943301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5156237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52607F1-4CB0-4741-B752-77795AAFB6CE}" type="datetime1">
              <a:rPr lang="ru-RU"/>
              <a:t>02.06.2026</a:t>
            </a:fld>
            <a:endParaRPr lang="ru-RU"/>
          </a:p>
        </p:txBody>
      </p:sp>
      <p:sp>
        <p:nvSpPr>
          <p:cNvPr id="65420499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811007699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61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Цитата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10461835" name="Picture 10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214406087" name="Picture 12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95859113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76953341" name="Rectangle 14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33815619" name="Title 1"/>
          <p:cNvSpPr>
            <a:spLocks noGrp="1"/>
          </p:cNvSpPr>
          <p:nvPr>
            <p:ph type="title"/>
          </p:nvPr>
        </p:nvSpPr>
        <p:spPr bwMode="auto"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605049749" name="Text Placeholder 3"/>
          <p:cNvSpPr>
            <a:spLocks noGrp="1"/>
          </p:cNvSpPr>
          <p:nvPr>
            <p:ph type="body" sz="half" idx="13"/>
          </p:nvPr>
        </p:nvSpPr>
        <p:spPr bwMode="auto"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3941033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12488749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D0F2E69-AF6B-4D0C-824F-3DADD254BF95}" type="datetime1">
              <a:rPr lang="ru-RU"/>
              <a:t>02.06.2026</a:t>
            </a:fld>
            <a:endParaRPr lang="ru-RU"/>
          </a:p>
        </p:txBody>
      </p:sp>
      <p:sp>
        <p:nvSpPr>
          <p:cNvPr id="195355478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974195899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  <p:sp>
        <p:nvSpPr>
          <p:cNvPr id="1118551304" name="TextBox 15"/>
          <p:cNvSpPr txBox="1"/>
          <p:nvPr/>
        </p:nvSpPr>
        <p:spPr bwMode="auto">
          <a:xfrm>
            <a:off x="583572" y="748116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 lang="en-US" sz="72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19085042" name="TextBox 16"/>
          <p:cNvSpPr txBox="1"/>
          <p:nvPr/>
        </p:nvSpPr>
        <p:spPr bwMode="auto">
          <a:xfrm>
            <a:off x="9662809" y="3033524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7200">
                <a:solidFill>
                  <a:schemeClr val="tx1"/>
                </a:solidFill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арточка имен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39439821" name="Picture 8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2143220445" name="Picture 9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852080202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60092420" name="Rectangle 11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34024171" name="Title 1"/>
          <p:cNvSpPr>
            <a:spLocks noGrp="1"/>
          </p:cNvSpPr>
          <p:nvPr>
            <p:ph type="title"/>
          </p:nvPr>
        </p:nvSpPr>
        <p:spPr bwMode="auto"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5291665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064030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B61B190-EA0F-465A-8B4C-40AE0FF8CD42}" type="datetime1">
              <a:rPr lang="ru-RU"/>
              <a:t>02.06.2026</a:t>
            </a:fld>
            <a:endParaRPr lang="ru-RU"/>
          </a:p>
        </p:txBody>
      </p:sp>
      <p:sp>
        <p:nvSpPr>
          <p:cNvPr id="144586239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65516657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ри колонк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73433772" name="Picture 12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391421276" name="Picture 13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823159065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33636080" name="Rectangle 16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68189381" name="Title 1"/>
          <p:cNvSpPr>
            <a:spLocks noGrp="1"/>
          </p:cNvSpPr>
          <p:nvPr>
            <p:ph type="title"/>
          </p:nvPr>
        </p:nvSpPr>
        <p:spPr bwMode="auto">
          <a:xfrm>
            <a:off x="669222" y="753227"/>
            <a:ext cx="96249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50130444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73684279" name="Text Placeholder 3"/>
          <p:cNvSpPr>
            <a:spLocks noGrp="1"/>
          </p:cNvSpPr>
          <p:nvPr>
            <p:ph type="body" sz="half" idx="15"/>
          </p:nvPr>
        </p:nvSpPr>
        <p:spPr bwMode="auto"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2357500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53765557" name="Text Placeholder 3"/>
          <p:cNvSpPr>
            <a:spLocks noGrp="1"/>
          </p:cNvSpPr>
          <p:nvPr>
            <p:ph type="body" sz="half" idx="16"/>
          </p:nvPr>
        </p:nvSpPr>
        <p:spPr bwMode="auto"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39120142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00555518" name="Text Placeholder 3"/>
          <p:cNvSpPr>
            <a:spLocks noGrp="1"/>
          </p:cNvSpPr>
          <p:nvPr>
            <p:ph type="body" sz="half" idx="17"/>
          </p:nvPr>
        </p:nvSpPr>
        <p:spPr bwMode="auto"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625815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BFF2AA-51FD-495E-9B6C-53E0CCE8720E}" type="datetime1">
              <a:rPr lang="ru-RU"/>
              <a:t>02.06.2026</a:t>
            </a:fld>
            <a:endParaRPr lang="ru-RU"/>
          </a:p>
        </p:txBody>
      </p:sp>
      <p:sp>
        <p:nvSpPr>
          <p:cNvPr id="89325366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76463983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олбец с тремя рисункам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32212926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044796075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317858430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46377416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40352782" name="Title 1"/>
          <p:cNvSpPr>
            <a:spLocks noGrp="1"/>
          </p:cNvSpPr>
          <p:nvPr>
            <p:ph type="title"/>
          </p:nvPr>
        </p:nvSpPr>
        <p:spPr bwMode="auto">
          <a:xfrm>
            <a:off x="680322" y="753227"/>
            <a:ext cx="96138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28468946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93291533" name="Picture Placeholder 2"/>
          <p:cNvSpPr>
            <a:spLocks noChangeAspect="1" noGrp="1"/>
          </p:cNvSpPr>
          <p:nvPr>
            <p:ph type="pic" idx="15"/>
          </p:nvPr>
        </p:nvSpPr>
        <p:spPr bwMode="auto"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083128881" name="Text Placeholder 3"/>
          <p:cNvSpPr>
            <a:spLocks noGrp="1"/>
          </p:cNvSpPr>
          <p:nvPr>
            <p:ph type="body" sz="half" idx="18"/>
          </p:nvPr>
        </p:nvSpPr>
        <p:spPr bwMode="auto"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1777581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85204971" name="Picture Placeholder 2"/>
          <p:cNvSpPr>
            <a:spLocks noChangeAspect="1" noGrp="1"/>
          </p:cNvSpPr>
          <p:nvPr>
            <p:ph type="pic" idx="21"/>
          </p:nvPr>
        </p:nvSpPr>
        <p:spPr bwMode="auto"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245836772" name="Text Placeholder 3"/>
          <p:cNvSpPr>
            <a:spLocks noGrp="1"/>
          </p:cNvSpPr>
          <p:nvPr>
            <p:ph type="body" sz="half" idx="19"/>
          </p:nvPr>
        </p:nvSpPr>
        <p:spPr bwMode="auto"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19177922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86352940" name="Picture Placeholder 2"/>
          <p:cNvSpPr>
            <a:spLocks noChangeAspect="1" noGrp="1"/>
          </p:cNvSpPr>
          <p:nvPr>
            <p:ph type="pic" idx="22"/>
          </p:nvPr>
        </p:nvSpPr>
        <p:spPr bwMode="auto"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787269023" name="Text Placeholder 3"/>
          <p:cNvSpPr>
            <a:spLocks noGrp="1"/>
          </p:cNvSpPr>
          <p:nvPr>
            <p:ph type="body" sz="half" idx="20"/>
          </p:nvPr>
        </p:nvSpPr>
        <p:spPr bwMode="auto"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1505255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A532452-DB40-464D-817C-83D7743D6F57}" type="datetime1">
              <a:rPr lang="ru-RU"/>
              <a:t>02.06.2026</a:t>
            </a:fld>
            <a:endParaRPr lang="ru-RU"/>
          </a:p>
        </p:txBody>
      </p:sp>
      <p:sp>
        <p:nvSpPr>
          <p:cNvPr id="140006658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4335094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1_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23205717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862895914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123764253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97553061" name="Rectangle 9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5931645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66001316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84661471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87BE9EF-9137-4EC0-A2FE-700F392F3BEF}" type="datetime1">
              <a:rPr lang="ru-RU"/>
              <a:t>02.06.2026</a:t>
            </a:fld>
            <a:endParaRPr lang="ru-RU"/>
          </a:p>
        </p:txBody>
      </p:sp>
      <p:sp>
        <p:nvSpPr>
          <p:cNvPr id="213407223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364331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1_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3162208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48693600" name="Rectangle 7"/>
          <p:cNvSpPr/>
          <p:nvPr/>
        </p:nvSpPr>
        <p:spPr bwMode="auto"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4853569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10129231" y="609597"/>
            <a:ext cx="1073802" cy="4353760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1679544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0322" y="609597"/>
            <a:ext cx="8870004" cy="5326589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330479020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6807126" y="5936187"/>
            <a:ext cx="2743200" cy="365125"/>
          </a:xfrm>
        </p:spPr>
        <p:txBody>
          <a:bodyPr/>
          <a:lstStyle/>
          <a:p>
            <a:pPr>
              <a:defRPr/>
            </a:pPr>
            <a:fld id="{2BF7793B-D180-44C4-B91E-57912C70F4D0}" type="datetime1">
              <a:rPr lang="ru-RU"/>
              <a:t>02.06.2026</a:t>
            </a:fld>
            <a:endParaRPr lang="ru-RU"/>
          </a:p>
        </p:txBody>
      </p:sp>
      <p:sp>
        <p:nvSpPr>
          <p:cNvPr id="872347539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680321" y="5936188"/>
            <a:ext cx="6126805" cy="365125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1739470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2335625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58935789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2054386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01D4F3A-ABC6-43DF-ACA3-965C94B45EAB}" type="datetime1">
              <a:rPr lang="ru-RU"/>
              <a:t>02.06.2026</a:t>
            </a:fld>
            <a:endParaRPr lang="ru-RU"/>
          </a:p>
        </p:txBody>
      </p:sp>
      <p:sp>
        <p:nvSpPr>
          <p:cNvPr id="21351124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6537574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</p:sldLayoutIdLst>
  <p:hf dt="0" ftr="0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media1.svg"/><Relationship Id="rId6" Type="http://schemas.openxmlformats.org/officeDocument/2006/relationships/image" Target="../media/image8.png"/><Relationship Id="rId7" Type="http://schemas.openxmlformats.org/officeDocument/2006/relationships/image" Target="../media/media2.svg"/><Relationship Id="rId8" Type="http://schemas.openxmlformats.org/officeDocument/2006/relationships/image" Target="../media/image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media3.sv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media4.sv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media5.sv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media6.sv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media7.sv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Relationship Id="rId4" Type="http://schemas.openxmlformats.org/officeDocument/2006/relationships/image" Target="../media/media8.sv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241378" name="Прямоугольник 3"/>
          <p:cNvSpPr/>
          <p:nvPr/>
        </p:nvSpPr>
        <p:spPr bwMode="auto">
          <a:xfrm>
            <a:off x="0" y="1381233"/>
            <a:ext cx="12192000" cy="1810533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378292442" name="Прямоугольник 4"/>
          <p:cNvSpPr/>
          <p:nvPr/>
        </p:nvSpPr>
        <p:spPr bwMode="auto">
          <a:xfrm>
            <a:off x="0" y="5021126"/>
            <a:ext cx="12192000" cy="1385894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91927687" name="Заголовок 1"/>
          <p:cNvSpPr>
            <a:spLocks noGrp="1"/>
          </p:cNvSpPr>
          <p:nvPr>
            <p:ph type="ctrTitle"/>
          </p:nvPr>
        </p:nvSpPr>
        <p:spPr bwMode="auto">
          <a:xfrm>
            <a:off x="422988" y="1604865"/>
            <a:ext cx="8345668" cy="1400288"/>
          </a:xfrm>
        </p:spPr>
        <p:txBody>
          <a:bodyPr>
            <a:noAutofit/>
          </a:bodyPr>
          <a:lstStyle/>
          <a:p>
            <a:pPr algn="l">
              <a:defRPr/>
            </a:pPr>
            <a:r>
              <a:rPr lang="ru-RU" sz="3200">
                <a:solidFill>
                  <a:schemeClr val="bg1"/>
                </a:solidFill>
              </a:rPr>
              <a:t>Разработка упрощенного графического ускорителя. Разработка модели упрощенного графического ядра.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9314301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5817078" y="5093158"/>
            <a:ext cx="6051236" cy="124182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55000" lnSpcReduction="9000"/>
          </a:bodyPr>
          <a:lstStyle/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Воронежский Государственный Университет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Сделал: студент 2 курса магистратуры 11 группы Старухин Данила Михайлович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Руководитель: Авсеева О.В.</a:t>
            </a:r>
            <a:endParaRPr/>
          </a:p>
          <a:p>
            <a:pPr algn="r">
              <a:defRPr/>
            </a:pPr>
            <a:r>
              <a:rPr lang="en-US">
                <a:solidFill>
                  <a:schemeClr val="bg1"/>
                </a:solidFill>
              </a:rPr>
              <a:t>e-mail: staruhind@yandex.ru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8834782" name="Прямоугольник 4"/>
          <p:cNvSpPr/>
          <p:nvPr/>
        </p:nvSpPr>
        <p:spPr bwMode="auto">
          <a:xfrm>
            <a:off x="0" y="-1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59084883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178480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Введение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174184765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Графический ускоритель </a:t>
            </a:r>
            <a:r>
              <a:rPr lang="en-US">
                <a:solidFill>
                  <a:schemeClr val="tx1"/>
                </a:solidFill>
              </a:rPr>
              <a:t>(GPU)</a:t>
            </a:r>
            <a:r>
              <a:rPr lang="ru-RU">
                <a:solidFill>
                  <a:schemeClr val="tx1"/>
                </a:solidFill>
              </a:rPr>
              <a:t> – это специализированный процессор, оптимизированный для параллельной обработки вычислительных данных;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Графическое ядро – это специализированный микропроцессор, созданный для математических вычислений, обработки изображений и рендеринга;</a:t>
            </a:r>
            <a:endParaRPr lang="ru-RU">
              <a:solidFill>
                <a:schemeClr val="tx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tx1"/>
                </a:solidFill>
              </a:rPr>
              <a:t>Основные поставщики графических ускорителей: </a:t>
            </a:r>
            <a:r>
              <a:rPr lang="en-US">
                <a:solidFill>
                  <a:schemeClr val="tx1"/>
                </a:solidFill>
              </a:rPr>
              <a:t>AMD </a:t>
            </a:r>
            <a:r>
              <a:rPr lang="ru-RU">
                <a:solidFill>
                  <a:schemeClr val="tx1"/>
                </a:solidFill>
              </a:rPr>
              <a:t>и </a:t>
            </a:r>
            <a:r>
              <a:rPr lang="en-US">
                <a:solidFill>
                  <a:schemeClr val="tx1"/>
                </a:solidFill>
              </a:rPr>
              <a:t>NVIDIA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31806878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2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904787699" name="Прямоугольник 5"/>
          <p:cNvSpPr/>
          <p:nvPr/>
        </p:nvSpPr>
        <p:spPr bwMode="auto">
          <a:xfrm>
            <a:off x="0" y="1220090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3329066" name="Объект 2"/>
          <p:cNvSpPr>
            <a:spLocks noGrp="1"/>
          </p:cNvSpPr>
          <p:nvPr>
            <p:ph idx="1"/>
          </p:nvPr>
        </p:nvSpPr>
        <p:spPr bwMode="auto">
          <a:xfrm>
            <a:off x="4649" y="1635966"/>
            <a:ext cx="12201298" cy="3600467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>
              <a:defRPr/>
            </a:pPr>
            <a:r>
              <a:rPr lang="ru-RU" sz="2400"/>
              <a:t>Цели</a:t>
            </a:r>
            <a:endParaRPr sz="2400"/>
          </a:p>
          <a:p>
            <a:pPr lvl="1">
              <a:defRPr/>
            </a:pPr>
            <a:r>
              <a:rPr lang="ru-RU" sz="2000"/>
              <a:t>Разработать упрощенную модель графического ядра на языке описания аппаратуры </a:t>
            </a:r>
            <a:r>
              <a:rPr lang="en-US" sz="2000"/>
              <a:t>SystemVerilog</a:t>
            </a:r>
            <a:r>
              <a:rPr lang="ru-RU" sz="2000"/>
              <a:t>.</a:t>
            </a:r>
            <a:endParaRPr sz="2000"/>
          </a:p>
          <a:p>
            <a:pPr>
              <a:defRPr/>
            </a:pPr>
            <a:r>
              <a:rPr lang="ru-RU" sz="2400"/>
              <a:t>Задачи</a:t>
            </a:r>
            <a:endParaRPr sz="2400"/>
          </a:p>
          <a:p>
            <a:pPr lvl="1">
              <a:defRPr/>
            </a:pPr>
            <a:r>
              <a:rPr lang="ru-RU" sz="2000"/>
              <a:t>Провести анализ существующих архитектур графических процессоров и ядер;</a:t>
            </a:r>
            <a:endParaRPr sz="2000"/>
          </a:p>
          <a:p>
            <a:pPr lvl="1">
              <a:defRPr/>
            </a:pPr>
            <a:r>
              <a:rPr lang="ru-RU" sz="2000"/>
              <a:t>Спроектировать минимальную необходимую архитектуру набора инструкций (</a:t>
            </a:r>
            <a:r>
              <a:rPr lang="en-US" sz="2000"/>
              <a:t>ISA)</a:t>
            </a:r>
            <a:r>
              <a:rPr lang="ru-RU" sz="2000"/>
              <a:t>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архитектуру упрощенного графического ядра;</a:t>
            </a:r>
            <a:endParaRPr sz="2000"/>
          </a:p>
          <a:p>
            <a:pPr lvl="1">
              <a:defRPr/>
            </a:pPr>
            <a:r>
              <a:rPr lang="ru-RU" sz="2000"/>
              <a:t>Разработать модель упрощенного графического ядра, используя метод поблочной декомпозиции.</a:t>
            </a:r>
            <a:endParaRPr sz="2000"/>
          </a:p>
        </p:txBody>
      </p:sp>
      <p:sp>
        <p:nvSpPr>
          <p:cNvPr id="103358534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3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229186254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22392701" name="Заголовок 1"/>
          <p:cNvSpPr>
            <a:spLocks noGrp="1"/>
          </p:cNvSpPr>
          <p:nvPr>
            <p:ph type="title"/>
          </p:nvPr>
        </p:nvSpPr>
        <p:spPr bwMode="auto">
          <a:xfrm>
            <a:off x="847498" y="5651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Постановка задачи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74419691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0593969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ru-RU">
                <a:solidFill>
                  <a:schemeClr val="tx1"/>
                </a:solidFill>
              </a:rPr>
              <a:t>Реализация модели упрощенного графического ядра </a:t>
            </a:r>
            <a:r>
              <a:rPr>
                <a:solidFill>
                  <a:schemeClr val="tx1"/>
                </a:solidFill>
              </a:rPr>
              <a:t>позволит: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Образовать минимально необходимые требования для графического ядра и минимальный набор инструкций;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Разработать упрощенную модель графического ядра, которую можно модернизировать и изучать;</a:t>
            </a:r>
            <a:endParaRPr>
              <a:solidFill>
                <a:schemeClr val="tx1"/>
              </a:solidFill>
            </a:endParaRPr>
          </a:p>
          <a:p>
            <a:pPr>
              <a:buFont typeface="Arial"/>
              <a:buChar char="–"/>
              <a:defRPr/>
            </a:pPr>
            <a:r>
              <a:rPr>
                <a:solidFill>
                  <a:schemeClr val="tx1"/>
                </a:solidFill>
              </a:rPr>
              <a:t> На разработанной базе модели можно экспериментировать с различными техниками и способами, для получения их эмпирической эффективности в данной архитектуре.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588708495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4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280988965" name="Прямоугольник 4"/>
          <p:cNvSpPr/>
          <p:nvPr/>
        </p:nvSpPr>
        <p:spPr bwMode="auto">
          <a:xfrm>
            <a:off x="0" y="-72479"/>
            <a:ext cx="12192000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662314870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72479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Актуальность работы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234798136" name="Прямоугольник 5"/>
          <p:cNvSpPr/>
          <p:nvPr/>
        </p:nvSpPr>
        <p:spPr bwMode="auto">
          <a:xfrm>
            <a:off x="0" y="1121016"/>
            <a:ext cx="12192000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3982345" name="Прямоугольник 9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05594784" name="Прямоугольник 10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858244658" name="Заголовок 1"/>
          <p:cNvSpPr>
            <a:spLocks noGrp="1"/>
          </p:cNvSpPr>
          <p:nvPr>
            <p:ph type="title"/>
          </p:nvPr>
        </p:nvSpPr>
        <p:spPr bwMode="auto">
          <a:xfrm>
            <a:off x="461983" y="44221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AMD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448765701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42375" y="1835767"/>
            <a:ext cx="3271301" cy="165038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55000" lnSpcReduction="9000"/>
          </a:bodyPr>
          <a:lstStyle/>
          <a:p>
            <a:pPr>
              <a:buFont typeface="Arial"/>
              <a:buChar char="–"/>
              <a:defRPr/>
            </a:pPr>
            <a:r>
              <a:rPr lang="ru-RU"/>
              <a:t>Ядро содержит промежуточные регистры для хранения данных:</a:t>
            </a:r>
            <a:r>
              <a:rPr lang="en-US"/>
              <a:t> GPR</a:t>
            </a:r>
            <a:r>
              <a:rPr lang="ru-RU"/>
              <a:t>;</a:t>
            </a:r>
            <a:endParaRPr lang="en-US"/>
          </a:p>
          <a:p>
            <a:pPr>
              <a:buFont typeface="Arial"/>
              <a:buChar char="–"/>
              <a:defRPr/>
            </a:pPr>
            <a:r>
              <a:rPr lang="ru-RU"/>
              <a:t>Ядро содержит несколько наборов из арифметико-логических элементов для вещественных и целочисленных данных.</a:t>
            </a:r>
            <a:endParaRPr lang="ru-RU"/>
          </a:p>
        </p:txBody>
      </p:sp>
      <p:sp>
        <p:nvSpPr>
          <p:cNvPr id="34690059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9493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785821000" name="Рисунок 7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152516" y="1611910"/>
            <a:ext cx="7854704" cy="4271176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203570584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83823" y="3653740"/>
            <a:ext cx="3576543" cy="2229347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9499262" name="Прямоугольник 9"/>
          <p:cNvSpPr/>
          <p:nvPr/>
        </p:nvSpPr>
        <p:spPr bwMode="auto">
          <a:xfrm>
            <a:off x="-9297" y="-10414"/>
            <a:ext cx="12210595" cy="1160098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303613120" name="Прямоугольник 10"/>
          <p:cNvSpPr/>
          <p:nvPr/>
        </p:nvSpPr>
        <p:spPr bwMode="auto">
          <a:xfrm>
            <a:off x="0" y="1181590"/>
            <a:ext cx="12201297" cy="168582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81994364" name="Заголовок 1"/>
          <p:cNvSpPr>
            <a:spLocks noGrp="1"/>
          </p:cNvSpPr>
          <p:nvPr>
            <p:ph type="title"/>
          </p:nvPr>
        </p:nvSpPr>
        <p:spPr bwMode="auto">
          <a:xfrm>
            <a:off x="461982" y="44220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Обзор существующих архитектур</a:t>
            </a:r>
            <a:r>
              <a:rPr lang="en-US">
                <a:solidFill>
                  <a:schemeClr val="bg1"/>
                </a:solidFill>
              </a:rPr>
              <a:t>: NVIDIA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052301060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285750" y="1444489"/>
            <a:ext cx="3620475" cy="368141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/>
              <a:t>Ядра лишь содержат арифметико-логические блоки для </a:t>
            </a:r>
            <a:r>
              <a:rPr lang="en-US"/>
              <a:t>FP </a:t>
            </a:r>
            <a:r>
              <a:rPr lang="ru-RU"/>
              <a:t>и </a:t>
            </a:r>
            <a:r>
              <a:rPr lang="en-US"/>
              <a:t>INT </a:t>
            </a:r>
            <a:r>
              <a:rPr lang="ru-RU"/>
              <a:t>данных, буферы, порты и простую логику;</a:t>
            </a:r>
            <a:endParaRPr lang="ru-RU"/>
          </a:p>
          <a:p>
            <a:pPr>
              <a:defRPr/>
            </a:pPr>
            <a:r>
              <a:rPr lang="ru-RU"/>
              <a:t>Ядра являются однопоточными, за счёт их количества;</a:t>
            </a:r>
            <a:endParaRPr lang="ru-RU"/>
          </a:p>
        </p:txBody>
      </p:sp>
      <p:sp>
        <p:nvSpPr>
          <p:cNvPr id="126709756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79492"/>
            <a:ext cx="1052507" cy="365124"/>
          </a:xfrm>
        </p:spPr>
        <p:txBody>
          <a:bodyPr/>
          <a:lstStyle/>
          <a:p>
            <a:pPr>
              <a:defRPr/>
            </a:pPr>
            <a:fld id="{4E8A3A8F-0B9D-0C84-2979-0C48658383B8}" type="slidenum">
              <a:rPr lang="ru-RU" sz="1800">
                <a:solidFill>
                  <a:schemeClr val="tx1"/>
                </a:solidFill>
                <a:latin typeface="Trebuchet MS"/>
              </a:rPr>
              <a:t>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953303344" name="Рисунок 5"/>
          <p:cNvPicPr>
            <a:picLocks noChangeAspect="1"/>
          </p:cNvPicPr>
          <p:nvPr/>
        </p:nvPicPr>
        <p:blipFill rotWithShape="1">
          <a:blip r:embed="rId3"/>
          <a:srcRect l="0" t="0" r="33409" b="0"/>
          <a:stretch/>
        </p:blipFill>
        <p:spPr bwMode="auto">
          <a:xfrm flipH="0" flipV="0">
            <a:off x="5114045" y="1444489"/>
            <a:ext cx="4326204" cy="4910622"/>
          </a:xfrm>
          <a:prstGeom prst="rect">
            <a:avLst/>
          </a:prstGeom>
          <a:ln w="1905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2843311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33402" y="1847460"/>
            <a:ext cx="3310846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lang="ru-RU"/>
              <a:t>Минимально необходимый набор инструкций взят с дампа промежуточного представления</a:t>
            </a:r>
            <a:r>
              <a:rPr lang="en-US"/>
              <a:t> VKCUBE</a:t>
            </a:r>
            <a:endParaRPr/>
          </a:p>
          <a:p>
            <a:pPr>
              <a:defRPr/>
            </a:pPr>
            <a:r>
              <a:rPr lang="ru-RU"/>
              <a:t>В качестве основы взята архитектура набора инструкций </a:t>
            </a:r>
            <a:r>
              <a:rPr lang="en-US"/>
              <a:t>RISC-V</a:t>
            </a:r>
            <a:endParaRPr lang="ru-RU"/>
          </a:p>
        </p:txBody>
      </p:sp>
      <p:sp>
        <p:nvSpPr>
          <p:cNvPr id="840677090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65512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6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pic>
        <p:nvPicPr>
          <p:cNvPr id="1048005843" name="Рисунок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234392" y="1543092"/>
            <a:ext cx="4522692" cy="1901649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1990718543" name="Рисунок 1421075015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</p:blipFill>
        <p:spPr bwMode="auto">
          <a:xfrm>
            <a:off x="3083953" y="4363986"/>
            <a:ext cx="2915269" cy="2101525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82030701" name="Прямоугольник 10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54627379" name="Прямоугольник 11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574792027" name="Заголовок 1"/>
          <p:cNvSpPr>
            <a:spLocks noGrp="1"/>
          </p:cNvSpPr>
          <p:nvPr>
            <p:ph type="title"/>
          </p:nvPr>
        </p:nvSpPr>
        <p:spPr bwMode="auto">
          <a:xfrm>
            <a:off x="387637" y="-116036"/>
            <a:ext cx="11223171" cy="1325563"/>
          </a:xfrm>
        </p:spPr>
        <p:txBody>
          <a:bodyPr>
            <a:normAutofit fontScale="90000"/>
          </a:bodyPr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Разработка модели графического ядра: разработка архитектуры набора инструкций </a:t>
            </a:r>
            <a:r>
              <a:rPr lang="en-US">
                <a:solidFill>
                  <a:schemeClr val="bg1"/>
                </a:solidFill>
              </a:rPr>
              <a:t>(ISA)</a:t>
            </a:r>
            <a:endParaRPr lang="ru-RU">
              <a:solidFill>
                <a:schemeClr val="bg1"/>
              </a:solidFill>
            </a:endParaRPr>
          </a:p>
        </p:txBody>
      </p:sp>
      <p:pic>
        <p:nvPicPr>
          <p:cNvPr id="2023348104" name="Рисунок 2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 bwMode="auto">
          <a:xfrm flipH="0" flipV="0">
            <a:off x="3344249" y="1847460"/>
            <a:ext cx="3574672" cy="1166471"/>
          </a:xfrm>
          <a:prstGeom prst="rect">
            <a:avLst/>
          </a:prstGeom>
        </p:spPr>
      </p:pic>
      <p:pic>
        <p:nvPicPr>
          <p:cNvPr id="1032567309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6227977" y="3573342"/>
            <a:ext cx="5529106" cy="3009811"/>
          </a:xfrm>
          <a:prstGeom prst="rect">
            <a:avLst/>
          </a:prstGeom>
          <a:ln w="19050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398658" name="Объект 2"/>
          <p:cNvSpPr>
            <a:spLocks noGrp="1"/>
          </p:cNvSpPr>
          <p:nvPr>
            <p:ph idx="1"/>
          </p:nvPr>
        </p:nvSpPr>
        <p:spPr bwMode="auto">
          <a:xfrm>
            <a:off x="568954" y="2054142"/>
            <a:ext cx="4176516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65000" lnSpcReduction="7000"/>
          </a:bodyPr>
          <a:lstStyle/>
          <a:p>
            <a:pPr>
              <a:defRPr/>
            </a:pPr>
            <a:r>
              <a:rPr lang="en-US"/>
              <a:t>Fetcher</a:t>
            </a:r>
            <a:r>
              <a:rPr lang="ru-RU"/>
              <a:t> захватывает инструкцию из памяти;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декодирует инструкцию для передачи </a:t>
            </a:r>
            <a:r>
              <a:rPr lang="en-US"/>
              <a:t>LSU</a:t>
            </a:r>
            <a:r>
              <a:rPr lang="ru-RU"/>
              <a:t> и </a:t>
            </a:r>
            <a:r>
              <a:rPr lang="en-US"/>
              <a:t>TU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en-US"/>
              <a:t>TU</a:t>
            </a:r>
            <a:r>
              <a:rPr lang="ru-RU"/>
              <a:t> и</a:t>
            </a:r>
            <a:r>
              <a:rPr lang="en-US"/>
              <a:t>/</a:t>
            </a:r>
            <a:r>
              <a:rPr lang="ru-RU"/>
              <a:t>или </a:t>
            </a:r>
            <a:r>
              <a:rPr lang="en-US"/>
              <a:t>LSU</a:t>
            </a:r>
            <a:r>
              <a:rPr lang="ru-RU"/>
              <a:t> выполняют инструкцию;</a:t>
            </a:r>
            <a:endParaRPr/>
          </a:p>
          <a:p>
            <a:pPr>
              <a:defRPr/>
            </a:pPr>
            <a:r>
              <a:rPr lang="ru-RU"/>
              <a:t>Результаты работы сохраняются во внешней памяти или памяти ядра;</a:t>
            </a:r>
            <a:endParaRPr/>
          </a:p>
          <a:p>
            <a:pPr>
              <a:defRPr/>
            </a:pPr>
            <a:r>
              <a:rPr lang="en-US"/>
              <a:t>CSR </a:t>
            </a:r>
            <a:r>
              <a:rPr lang="ru-RU"/>
              <a:t>(контрольно-статусные регистры) </a:t>
            </a:r>
            <a:r>
              <a:rPr lang="ru-RU"/>
              <a:t>содержат статусные и управляющие сигналы связанные с самим графическим ядром.</a:t>
            </a:r>
            <a:endParaRPr lang="en-US"/>
          </a:p>
        </p:txBody>
      </p:sp>
      <p:sp>
        <p:nvSpPr>
          <p:cNvPr id="120846508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78335"/>
            <a:ext cx="1052508" cy="365125"/>
          </a:xfrm>
        </p:spPr>
        <p:txBody>
          <a:bodyPr/>
          <a:lstStyle/>
          <a:p>
            <a:pPr>
              <a:defRPr/>
            </a:pPr>
            <a:fld id="{ED02CFB1-EEA1-CD3C-8AAA-9D8034B9CDE8}" type="slidenum">
              <a:rPr lang="ru-RU" sz="1800">
                <a:solidFill>
                  <a:schemeClr val="tx1"/>
                </a:solidFill>
                <a:latin typeface="Trebuchet MS"/>
              </a:rPr>
              <a:t>7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857069577" name="Прямоугольник 5"/>
          <p:cNvSpPr/>
          <p:nvPr/>
        </p:nvSpPr>
        <p:spPr bwMode="auto">
          <a:xfrm>
            <a:off x="0" y="0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44765801" name="Прямоугольник 6"/>
          <p:cNvSpPr/>
          <p:nvPr/>
        </p:nvSpPr>
        <p:spPr bwMode="auto">
          <a:xfrm>
            <a:off x="9298" y="1192006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5281339" name="Заголовок 1"/>
          <p:cNvSpPr>
            <a:spLocks noGrp="1"/>
          </p:cNvSpPr>
          <p:nvPr>
            <p:ph type="title"/>
          </p:nvPr>
        </p:nvSpPr>
        <p:spPr bwMode="auto">
          <a:xfrm>
            <a:off x="568954" y="0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>
                <a:solidFill>
                  <a:schemeClr val="bg1"/>
                </a:solidFill>
              </a:rPr>
              <a:t>: Общая структура ядра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1829737820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4849200" y="1876424"/>
            <a:ext cx="6576037" cy="41952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3563393" name="Объект 2"/>
          <p:cNvSpPr>
            <a:spLocks noGrp="1"/>
          </p:cNvSpPr>
          <p:nvPr>
            <p:ph idx="1"/>
          </p:nvPr>
        </p:nvSpPr>
        <p:spPr bwMode="auto">
          <a:xfrm>
            <a:off x="615398" y="1944098"/>
            <a:ext cx="3500036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lang="ru-RU"/>
              <a:t>Вычислительный элемент </a:t>
            </a:r>
            <a:r>
              <a:rPr lang="en-US"/>
              <a:t>(Tread Unit) </a:t>
            </a:r>
            <a:r>
              <a:rPr lang="ru-RU"/>
              <a:t>обрабатывает вещественные и целочисленные данные и хранит в промежуточной памяти </a:t>
            </a:r>
            <a:r>
              <a:rPr lang="en-US"/>
              <a:t>– </a:t>
            </a:r>
            <a:r>
              <a:rPr lang="ru-RU"/>
              <a:t>регистровой карте - </a:t>
            </a:r>
            <a:r>
              <a:rPr lang="en-US"/>
              <a:t>Regfile</a:t>
            </a:r>
            <a:r>
              <a:rPr lang="ru-RU"/>
              <a:t>.</a:t>
            </a:r>
            <a:endParaRPr/>
          </a:p>
          <a:p>
            <a:pPr>
              <a:defRPr/>
            </a:pPr>
            <a:r>
              <a:rPr lang="ru-RU"/>
              <a:t>Основные компоненты: </a:t>
            </a:r>
            <a:r>
              <a:rPr lang="en-US"/>
              <a:t>FPU, ALU, </a:t>
            </a:r>
            <a:r>
              <a:rPr lang="en-US"/>
              <a:t>Regfile</a:t>
            </a:r>
            <a:endParaRPr lang="ru-RU"/>
          </a:p>
        </p:txBody>
      </p:sp>
      <p:sp>
        <p:nvSpPr>
          <p:cNvPr id="1059568745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8C44681A-2184-8FE6-7CA2-B2F449D07AD3}" type="slidenum">
              <a:rPr lang="ru-RU" sz="1800">
                <a:solidFill>
                  <a:schemeClr val="tx1"/>
                </a:solidFill>
                <a:latin typeface="Trebuchet MS"/>
              </a:rPr>
              <a:t>8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840929692" name="Прямоугольник 6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482067498" name="Прямоугольник 7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410570347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37878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Разработка вычислительного блока модели упрощенного графического ядра: общая структура</a:t>
            </a:r>
            <a:endParaRPr/>
          </a:p>
        </p:txBody>
      </p:sp>
      <p:pic>
        <p:nvPicPr>
          <p:cNvPr id="792293840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4370128" y="2224087"/>
            <a:ext cx="6825791" cy="345281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597146" name="Объект 2"/>
          <p:cNvSpPr>
            <a:spLocks noGrp="1"/>
          </p:cNvSpPr>
          <p:nvPr>
            <p:ph idx="1"/>
          </p:nvPr>
        </p:nvSpPr>
        <p:spPr bwMode="auto">
          <a:xfrm>
            <a:off x="456385" y="2059377"/>
            <a:ext cx="4736811" cy="3599316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ru-RU"/>
              <a:t>Предназначен для передачи данных между внешней памятью и потоками;</a:t>
            </a:r>
            <a:endParaRPr/>
          </a:p>
          <a:p>
            <a:pPr>
              <a:defRPr/>
            </a:pPr>
            <a:r>
              <a:rPr lang="ru-RU"/>
              <a:t>Может только загружать</a:t>
            </a:r>
            <a:r>
              <a:rPr lang="en-US"/>
              <a:t> (LOAD)</a:t>
            </a:r>
            <a:r>
              <a:rPr lang="ru-RU"/>
              <a:t> или сохранять</a:t>
            </a:r>
            <a:r>
              <a:rPr lang="en-US"/>
              <a:t> (STORE)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ru-RU"/>
              <a:t>Работает по приходящей инструкции.</a:t>
            </a:r>
            <a:endParaRPr/>
          </a:p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1420563746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3268CEBC-6C76-D4A5-843E-7A9602BB4FE0}" type="slidenum">
              <a:rPr lang="ru-RU" sz="1800">
                <a:solidFill>
                  <a:schemeClr val="tx1"/>
                </a:solidFill>
                <a:latin typeface="Trebuchet MS"/>
              </a:rPr>
              <a:t>9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858570174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9050207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80862825" name="Заголовок 1"/>
          <p:cNvSpPr>
            <a:spLocks noGrp="1"/>
          </p:cNvSpPr>
          <p:nvPr>
            <p:ph type="title"/>
          </p:nvPr>
        </p:nvSpPr>
        <p:spPr bwMode="auto">
          <a:xfrm>
            <a:off x="680319" y="-45985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>
                <a:solidFill>
                  <a:schemeClr val="bg1"/>
                </a:solidFill>
              </a:rPr>
              <a:t>Разработка модели упрощенного графического ядра: Блок загрузки и сохранения</a:t>
            </a:r>
            <a:endParaRPr/>
          </a:p>
        </p:txBody>
      </p:sp>
      <p:pic>
        <p:nvPicPr>
          <p:cNvPr id="60031363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4862512" y="2376487"/>
            <a:ext cx="6550581" cy="23383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0795611" name="Объект 2"/>
          <p:cNvSpPr>
            <a:spLocks noGrp="1"/>
          </p:cNvSpPr>
          <p:nvPr>
            <p:ph idx="1"/>
          </p:nvPr>
        </p:nvSpPr>
        <p:spPr bwMode="auto">
          <a:xfrm>
            <a:off x="680319" y="2336872"/>
            <a:ext cx="4409973" cy="3599316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ru-RU"/>
              <a:t>Арбитр собирает с потоков данные и</a:t>
            </a:r>
            <a:r>
              <a:rPr lang="en-US"/>
              <a:t>/</a:t>
            </a:r>
            <a:r>
              <a:rPr lang="ru-RU"/>
              <a:t>или адреса;</a:t>
            </a:r>
            <a:endParaRPr/>
          </a:p>
          <a:p>
            <a:pPr>
              <a:defRPr/>
            </a:pPr>
            <a:r>
              <a:rPr lang="en-US"/>
              <a:t>LSU</a:t>
            </a:r>
            <a:r>
              <a:rPr lang="ru-RU"/>
              <a:t> выполняет запросы  с данными и адресами поочередно;</a:t>
            </a:r>
            <a:endParaRPr/>
          </a:p>
          <a:p>
            <a:pPr>
              <a:defRPr/>
            </a:pPr>
            <a:r>
              <a:rPr lang="ru-RU"/>
              <a:t>Арбитр выдаёт результаты потокам и</a:t>
            </a:r>
            <a:r>
              <a:rPr lang="en-US"/>
              <a:t>/</a:t>
            </a:r>
            <a:r>
              <a:rPr lang="ru-RU"/>
              <a:t>или статус готовности.</a:t>
            </a:r>
            <a:endParaRPr/>
          </a:p>
        </p:txBody>
      </p:sp>
      <p:sp>
        <p:nvSpPr>
          <p:cNvPr id="845970412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9687AD8-1A48-903E-417E-81FF292386D7}" type="slidenum">
              <a:rPr lang="ru-RU" sz="1800">
                <a:solidFill>
                  <a:schemeClr val="tx1"/>
                </a:solidFill>
                <a:latin typeface="Trebuchet MS"/>
              </a:rPr>
              <a:t>10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155104533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889037058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334745503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10415"/>
            <a:ext cx="10515600" cy="132556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compatLnSpc="0">
            <a:normAutofit/>
          </a:bodyPr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>
                <a:solidFill>
                  <a:schemeClr val="bg1"/>
                </a:solidFill>
              </a:rPr>
              <a:t>: </a:t>
            </a:r>
            <a:r>
              <a:rPr lang="ru-RU" sz="3600">
                <a:solidFill>
                  <a:schemeClr val="bg1"/>
                </a:solidFill>
              </a:rPr>
              <a:t>Интерконнект</a:t>
            </a:r>
            <a:r>
              <a:rPr lang="ru-RU" sz="3600">
                <a:solidFill>
                  <a:schemeClr val="bg1"/>
                </a:solidFill>
              </a:rPr>
              <a:t> между </a:t>
            </a:r>
            <a:r>
              <a:rPr lang="en-US" sz="3600">
                <a:solidFill>
                  <a:schemeClr val="bg1"/>
                </a:solidFill>
              </a:rPr>
              <a:t>LSU </a:t>
            </a:r>
            <a:r>
              <a:rPr lang="ru-RU" sz="3600">
                <a:solidFill>
                  <a:schemeClr val="bg1"/>
                </a:solidFill>
              </a:rPr>
              <a:t>и потоками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1086724144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6083555" y="1685925"/>
            <a:ext cx="5527252" cy="45815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4456525" name="Объект 2"/>
          <p:cNvSpPr>
            <a:spLocks noGrp="1"/>
          </p:cNvSpPr>
          <p:nvPr>
            <p:ph idx="1"/>
          </p:nvPr>
        </p:nvSpPr>
        <p:spPr bwMode="auto">
          <a:xfrm>
            <a:off x="680319" y="2336872"/>
            <a:ext cx="5044972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en-US"/>
              <a:t>Fetcher – </a:t>
            </a:r>
            <a:r>
              <a:rPr lang="ru-RU"/>
              <a:t>блок захвата инструкций из памяти;</a:t>
            </a:r>
            <a:endParaRPr/>
          </a:p>
          <a:p>
            <a:pPr>
              <a:defRPr/>
            </a:pPr>
            <a:r>
              <a:rPr lang="en-US"/>
              <a:t>Decoder</a:t>
            </a:r>
            <a:r>
              <a:rPr lang="ru-RU"/>
              <a:t> – преобразование инструкций в структуры для передачи исполняемым блокам;</a:t>
            </a:r>
            <a:endParaRPr/>
          </a:p>
          <a:p>
            <a:pPr>
              <a:defRPr/>
            </a:pPr>
            <a:r>
              <a:rPr lang="ru-RU"/>
              <a:t>По программному счётчику </a:t>
            </a:r>
            <a:r>
              <a:rPr lang="en-US"/>
              <a:t>(PC)</a:t>
            </a:r>
            <a:r>
              <a:rPr lang="ru-RU"/>
              <a:t> </a:t>
            </a:r>
            <a:r>
              <a:rPr lang="en-US"/>
              <a:t>Fetcher</a:t>
            </a:r>
            <a:r>
              <a:rPr lang="ru-RU"/>
              <a:t> делает смещение по адресу и получает адрес.</a:t>
            </a:r>
            <a:endParaRPr/>
          </a:p>
        </p:txBody>
      </p:sp>
      <p:sp>
        <p:nvSpPr>
          <p:cNvPr id="180277093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6E0C4E4E-F03C-EE6B-08CF-E8796A069A1F}" type="slidenum">
              <a:rPr lang="ru-RU" sz="1800">
                <a:solidFill>
                  <a:schemeClr val="tx1"/>
                </a:solidFill>
                <a:latin typeface="Trebuchet MS"/>
              </a:rPr>
              <a:t>11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847998918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126307737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969491247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10415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>
                <a:solidFill>
                  <a:schemeClr val="bg1"/>
                </a:solidFill>
              </a:rPr>
              <a:t>: </a:t>
            </a:r>
            <a:r>
              <a:rPr lang="en-US" sz="3600">
                <a:solidFill>
                  <a:schemeClr val="bg1"/>
                </a:solidFill>
              </a:rPr>
              <a:t>Fetcher &amp; Decoder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711475362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7420950" y="1624012"/>
            <a:ext cx="3747112" cy="48459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811791" name="Объект 2"/>
          <p:cNvSpPr>
            <a:spLocks noGrp="1"/>
          </p:cNvSpPr>
          <p:nvPr>
            <p:ph idx="1"/>
          </p:nvPr>
        </p:nvSpPr>
        <p:spPr bwMode="auto">
          <a:xfrm>
            <a:off x="680319" y="2336872"/>
            <a:ext cx="5269090" cy="3599316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ru-RU"/>
              <a:t>Необходимы высокоскоростные интерфейсы;</a:t>
            </a:r>
            <a:endParaRPr/>
          </a:p>
          <a:p>
            <a:pPr>
              <a:defRPr/>
            </a:pPr>
            <a:r>
              <a:rPr lang="ru-RU"/>
              <a:t>В качестве интерфейсов взяты</a:t>
            </a:r>
            <a:r>
              <a:rPr lang="en-US"/>
              <a:t>: AMBA APB,  AMBA AHB</a:t>
            </a:r>
            <a:r>
              <a:rPr lang="ru-RU"/>
              <a:t>;</a:t>
            </a:r>
            <a:endParaRPr/>
          </a:p>
          <a:p>
            <a:pPr>
              <a:defRPr/>
            </a:pPr>
            <a:r>
              <a:rPr lang="ru-RU"/>
              <a:t>Для </a:t>
            </a:r>
            <a:r>
              <a:rPr lang="en-US"/>
              <a:t>Regmap</a:t>
            </a:r>
            <a:r>
              <a:rPr lang="ru-RU"/>
              <a:t> интерфейс </a:t>
            </a:r>
            <a:r>
              <a:rPr lang="en-US"/>
              <a:t>APB</a:t>
            </a:r>
            <a:r>
              <a:rPr lang="ru-RU"/>
              <a:t>, где </a:t>
            </a:r>
            <a:r>
              <a:rPr lang="en-US"/>
              <a:t>Regmap</a:t>
            </a:r>
            <a:r>
              <a:rPr lang="en-US"/>
              <a:t> - </a:t>
            </a:r>
            <a:r>
              <a:rPr lang="ru-RU"/>
              <a:t>ведомый;</a:t>
            </a:r>
            <a:endParaRPr/>
          </a:p>
          <a:p>
            <a:pPr>
              <a:defRPr/>
            </a:pPr>
            <a:r>
              <a:rPr lang="ru-RU"/>
              <a:t>Для </a:t>
            </a:r>
            <a:r>
              <a:rPr lang="en-US"/>
              <a:t>Fetcher </a:t>
            </a:r>
            <a:r>
              <a:rPr lang="ru-RU"/>
              <a:t>и </a:t>
            </a:r>
            <a:r>
              <a:rPr lang="en-US"/>
              <a:t>LSU</a:t>
            </a:r>
            <a:r>
              <a:rPr lang="ru-RU"/>
              <a:t> интерфейс </a:t>
            </a:r>
            <a:r>
              <a:rPr lang="en-US"/>
              <a:t>AHB</a:t>
            </a:r>
            <a:r>
              <a:rPr lang="ru-RU"/>
              <a:t>, где они - ведущие.</a:t>
            </a:r>
            <a:endParaRPr lang="en-US"/>
          </a:p>
        </p:txBody>
      </p:sp>
      <p:sp>
        <p:nvSpPr>
          <p:cNvPr id="688327277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BE2ADD01-EDAB-891B-508A-6962AD7A2457}" type="slidenum">
              <a:rPr lang="ru-RU" sz="1800">
                <a:solidFill>
                  <a:schemeClr val="tx1"/>
                </a:solidFill>
                <a:latin typeface="Trebuchet MS"/>
              </a:rPr>
              <a:t>12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345763988" name="Прямоугольник 5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600092281" name="Прямоугольник 6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277913887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-59681"/>
            <a:ext cx="10515600" cy="13255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 sz="3600">
                <a:solidFill>
                  <a:schemeClr val="bg1"/>
                </a:solidFill>
              </a:rPr>
              <a:t>: Интерфейсы</a:t>
            </a:r>
            <a:endParaRPr sz="3600">
              <a:solidFill>
                <a:schemeClr val="bg1"/>
              </a:solidFill>
            </a:endParaRPr>
          </a:p>
        </p:txBody>
      </p:sp>
      <p:pic>
        <p:nvPicPr>
          <p:cNvPr id="710391347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485251" y="1755279"/>
            <a:ext cx="5599302" cy="42856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3887746" name="Объект 2"/>
          <p:cNvSpPr>
            <a:spLocks noGrp="1"/>
          </p:cNvSpPr>
          <p:nvPr>
            <p:ph idx="1"/>
          </p:nvPr>
        </p:nvSpPr>
        <p:spPr bwMode="auto">
          <a:xfrm>
            <a:off x="680321" y="2336873"/>
            <a:ext cx="11753144" cy="3599316"/>
          </a:xfrm>
        </p:spPr>
        <p:txBody>
          <a:bodyPr/>
          <a:lstStyle/>
          <a:p>
            <a:pPr>
              <a:defRPr/>
            </a:pPr>
            <a:r>
              <a:rPr lang="ru-RU"/>
              <a:t>В результате работы:</a:t>
            </a:r>
            <a:endParaRPr/>
          </a:p>
          <a:p>
            <a:pPr lvl="1">
              <a:defRPr/>
            </a:pPr>
            <a:r>
              <a:rPr lang="ru-RU"/>
              <a:t>Проведен анализ существующих архитектур графических процессоров и ядер</a:t>
            </a:r>
            <a:r>
              <a:rPr lang="en-US"/>
              <a:t>;</a:t>
            </a:r>
            <a:endParaRPr lang="ru-RU"/>
          </a:p>
          <a:p>
            <a:pPr lvl="1">
              <a:defRPr/>
            </a:pPr>
            <a:r>
              <a:rPr lang="ru-RU"/>
              <a:t>Спроектирована минимально необходимая архитектура набора инструкций </a:t>
            </a:r>
            <a:r>
              <a:rPr lang="en-US"/>
              <a:t>(ISA);</a:t>
            </a:r>
            <a:endParaRPr/>
          </a:p>
          <a:p>
            <a:pPr lvl="1">
              <a:defRPr/>
            </a:pPr>
            <a:r>
              <a:rPr lang="ru-RU"/>
              <a:t>Разработана архитектура упрощенного графического ядра с использованием метода поблочной декомпозиции;</a:t>
            </a:r>
            <a:endParaRPr/>
          </a:p>
          <a:p>
            <a:pPr lvl="1">
              <a:defRPr/>
            </a:pPr>
            <a:r>
              <a:rPr lang="ru-RU"/>
              <a:t>Разработана упрощенная модель графического ядра</a:t>
            </a:r>
            <a:r>
              <a:rPr lang="en-US"/>
              <a:t> </a:t>
            </a:r>
            <a:r>
              <a:rPr lang="ru-RU"/>
              <a:t>на языке описания аппаратуры </a:t>
            </a:r>
            <a:r>
              <a:rPr lang="en-US"/>
              <a:t>SystemVerilog</a:t>
            </a:r>
            <a:r>
              <a:rPr lang="ru-RU"/>
              <a:t>.</a:t>
            </a:r>
            <a:endParaRPr/>
          </a:p>
        </p:txBody>
      </p:sp>
      <p:sp>
        <p:nvSpPr>
          <p:cNvPr id="1180608762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4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13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2106704317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973952013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028995553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0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Заключение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992934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Обзор аналогов 2D графических ускорителей во встроенных системах / И.А. Дудкин, Д.М. Старухин, В.В. Черкасов \/\/ Математика, информационные технологии, приложения : сборник материалов Межвузовской научной конференции «Математика, информационные технологии, приложения» (Воронеж, 24-25 апреля 2025 г.). -- Воронеж : Издательско-полиграфический центр «Научная книга», 2025. -- С.209-216</a:t>
            </a:r>
            <a:endParaRPr sz="4800">
              <a:solidFill>
                <a:schemeClr val="bg1"/>
              </a:solidFill>
              <a:latin typeface="Trebuchet MS"/>
              <a:cs typeface="Trebuchet MS"/>
            </a:endParaRPr>
          </a:p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</a:t>
            </a:r>
            <a: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Разработка архитектуры аппаратной реализации 2D графического ускорителя / И.А. Дудкин, Д.М. Старухин, В.В. Черкасов \/\/ Актуальные проблемы прикладной математики, информатики и механики : сборник материалов Международной научной конференции «Актуальные проблемы прикладной математики, информатики и механики» (Воронеж, 1-3 декабря 2025 г.). -- Воронеж : ООО «Издательство Прометей», 2026. -- С.1584-1588.</a:t>
            </a:r>
            <a:b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</a:br>
            <a:endParaRPr lang="ru-RU">
              <a:solidFill>
                <a:schemeClr val="bg1"/>
              </a:solidFill>
            </a:endParaRPr>
          </a:p>
        </p:txBody>
      </p:sp>
      <p:sp>
        <p:nvSpPr>
          <p:cNvPr id="133681853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14</a:t>
            </a:fld>
            <a:endParaRPr lang="ru-RU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2047500724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712986061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943569084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1825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Публикация статьи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0225731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939329748" name="Номер слайда 3"/>
          <p:cNvSpPr>
            <a:spLocks noGrp="1"/>
          </p:cNvSpPr>
          <p:nvPr>
            <p:ph type="sldNum" sz="quarter" idx="12"/>
          </p:nvPr>
        </p:nvSpPr>
        <p:spPr bwMode="auto">
          <a:xfrm>
            <a:off x="11084553" y="6492875"/>
            <a:ext cx="1052508" cy="365125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 sz="1800">
                <a:solidFill>
                  <a:schemeClr val="tx1"/>
                </a:solidFill>
                <a:latin typeface="Trebuchet MS"/>
              </a:rPr>
              <a:t>15</a:t>
            </a:fld>
            <a:endParaRPr lang="ru-RU" sz="1800">
              <a:solidFill>
                <a:schemeClr val="tx1"/>
              </a:solidFill>
              <a:latin typeface="Trebuchet MS"/>
            </a:endParaRPr>
          </a:p>
        </p:txBody>
      </p:sp>
      <p:sp>
        <p:nvSpPr>
          <p:cNvPr id="532143714" name="Прямоугольник 4"/>
          <p:cNvSpPr/>
          <p:nvPr/>
        </p:nvSpPr>
        <p:spPr bwMode="auto">
          <a:xfrm>
            <a:off x="-9298" y="-10415"/>
            <a:ext cx="12210596" cy="1160099"/>
          </a:xfrm>
          <a:prstGeom prst="rect">
            <a:avLst/>
          </a:prstGeom>
          <a:solidFill>
            <a:srgbClr val="1A326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259117277" name="Прямоугольник 5"/>
          <p:cNvSpPr/>
          <p:nvPr/>
        </p:nvSpPr>
        <p:spPr bwMode="auto">
          <a:xfrm>
            <a:off x="0" y="1181591"/>
            <a:ext cx="12201298" cy="168583"/>
          </a:xfrm>
          <a:prstGeom prst="rect">
            <a:avLst/>
          </a:prstGeom>
          <a:solidFill>
            <a:srgbClr val="000000">
              <a:alpha val="6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718174798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78986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Спасибо за внимание!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упрощенного графического ускорителя. Разработка модели упрощенного графического ядра.</dc:title>
  <dc:creator>Ewencen Sicl</dc:creator>
  <cp:lastModifiedBy/>
  <cp:revision>36</cp:revision>
  <dcterms:created xsi:type="dcterms:W3CDTF">2026-06-01T16:03:18Z</dcterms:created>
  <dcterms:modified xsi:type="dcterms:W3CDTF">2026-06-03T11:23:24Z</dcterms:modified>
</cp:coreProperties>
</file>