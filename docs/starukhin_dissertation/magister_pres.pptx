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2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729014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36104561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23.06.2026</a:t>
            </a:fld>
            <a:endParaRPr lang="ru-RU"/>
          </a:p>
        </p:txBody>
      </p:sp>
      <p:sp>
        <p:nvSpPr>
          <p:cNvPr id="1820111621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500008442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8996421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09303888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39903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5678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7939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7754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2514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84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3919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026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2643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5490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27482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3726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76000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29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7990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C2A48-3D77-7BE2-EE5A-0222396F1E07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1170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5928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55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3475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72907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347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97679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6092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759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309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7343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30450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8921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75392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9937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2718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080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5729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8856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42096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67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25135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7421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00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495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9598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9968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0457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81598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0833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3340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3532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5104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11C26-A18A-CE56-9368-8EAD053C4851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8465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52505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6083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9134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402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245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00006-DE8E-E061-C9AE-0E64162B086A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168400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556291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109423044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23.06.2026</a:t>
            </a:fld>
            <a:endParaRPr lang="ru-RU"/>
          </a:p>
        </p:txBody>
      </p:sp>
      <p:sp>
        <p:nvSpPr>
          <p:cNvPr id="25893092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6044923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62738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2561698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89231737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23.06.2026</a:t>
            </a:fld>
            <a:endParaRPr lang="ru-RU"/>
          </a:p>
        </p:txBody>
      </p:sp>
      <p:sp>
        <p:nvSpPr>
          <p:cNvPr id="119265199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9800538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391200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40718460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597814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23.06.2026</a:t>
            </a:fld>
            <a:endParaRPr lang="ru-RU"/>
          </a:p>
        </p:txBody>
      </p:sp>
      <p:sp>
        <p:nvSpPr>
          <p:cNvPr id="14385955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9402491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26372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50845831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43705506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4089539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23.06.2026</a:t>
            </a:fld>
            <a:endParaRPr lang="ru-RU"/>
          </a:p>
        </p:txBody>
      </p:sp>
      <p:sp>
        <p:nvSpPr>
          <p:cNvPr id="61507260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5201406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586859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5986296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47917228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90247977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4910115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77713900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23.06.2026</a:t>
            </a:fld>
            <a:endParaRPr lang="ru-RU"/>
          </a:p>
        </p:txBody>
      </p:sp>
      <p:sp>
        <p:nvSpPr>
          <p:cNvPr id="690410290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7500057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35282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8528078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23.06.2026</a:t>
            </a:fld>
            <a:endParaRPr lang="ru-RU"/>
          </a:p>
        </p:txBody>
      </p:sp>
      <p:sp>
        <p:nvSpPr>
          <p:cNvPr id="162075049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30950128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58861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23.06.2026</a:t>
            </a:fld>
            <a:endParaRPr lang="ru-RU"/>
          </a:p>
        </p:txBody>
      </p:sp>
      <p:sp>
        <p:nvSpPr>
          <p:cNvPr id="117647499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5585276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886020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917372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604502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4267723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23.06.2026</a:t>
            </a:fld>
            <a:endParaRPr lang="ru-RU"/>
          </a:p>
        </p:txBody>
      </p:sp>
      <p:sp>
        <p:nvSpPr>
          <p:cNvPr id="19636453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87761785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829099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735988524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4470967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72991834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23.06.2026</a:t>
            </a:fld>
            <a:endParaRPr lang="ru-RU"/>
          </a:p>
        </p:txBody>
      </p:sp>
      <p:sp>
        <p:nvSpPr>
          <p:cNvPr id="19529957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7571544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00917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47463132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74157802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23.06.2026</a:t>
            </a:fld>
            <a:endParaRPr lang="ru-RU"/>
          </a:p>
        </p:txBody>
      </p:sp>
      <p:sp>
        <p:nvSpPr>
          <p:cNvPr id="74419431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6764341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47646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5341324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7948966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23.06.2026</a:t>
            </a:fld>
            <a:endParaRPr lang="ru-RU"/>
          </a:p>
        </p:txBody>
      </p:sp>
      <p:sp>
        <p:nvSpPr>
          <p:cNvPr id="32078898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2027806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326578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651782835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072951864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8607240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97490875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23525712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8861772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23.06.2026</a:t>
            </a:fld>
            <a:endParaRPr lang="ru-RU"/>
          </a:p>
        </p:txBody>
      </p:sp>
      <p:sp>
        <p:nvSpPr>
          <p:cNvPr id="12553249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2848499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6271052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71822979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41123968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75311174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20066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200257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791029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23.06.2026</a:t>
            </a:fld>
            <a:endParaRPr lang="ru-RU"/>
          </a:p>
        </p:txBody>
      </p:sp>
      <p:sp>
        <p:nvSpPr>
          <p:cNvPr id="200134808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052679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93659924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563711507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669502740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8891066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5913394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548824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7465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23.06.2026</a:t>
            </a:fld>
            <a:endParaRPr lang="ru-RU"/>
          </a:p>
        </p:txBody>
      </p:sp>
      <p:sp>
        <p:nvSpPr>
          <p:cNvPr id="16299872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5528944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2187413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0821044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766165719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9285334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062847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3929738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82524387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93113527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23.06.2026</a:t>
            </a:fld>
            <a:endParaRPr lang="ru-RU"/>
          </a:p>
        </p:txBody>
      </p:sp>
      <p:sp>
        <p:nvSpPr>
          <p:cNvPr id="1211919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6176127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97753000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73481190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13247394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91608533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4401756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166311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698792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11327294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246154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668429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23.06.2026</a:t>
            </a:fld>
            <a:endParaRPr lang="ru-RU"/>
          </a:p>
        </p:txBody>
      </p:sp>
      <p:sp>
        <p:nvSpPr>
          <p:cNvPr id="72483672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6922666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6744993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84767527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790945289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1997261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025760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29988726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23.06.2026</a:t>
            </a:fld>
            <a:endParaRPr lang="ru-RU"/>
          </a:p>
        </p:txBody>
      </p:sp>
      <p:sp>
        <p:nvSpPr>
          <p:cNvPr id="87696647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5320270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7485471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07181730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733870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23.06.2026</a:t>
            </a:fld>
            <a:endParaRPr lang="ru-RU"/>
          </a:p>
        </p:txBody>
      </p:sp>
      <p:sp>
        <p:nvSpPr>
          <p:cNvPr id="29376174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8901766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0007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218234431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58352719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37916395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84816786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32713882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9480167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0502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23.06.2026</a:t>
            </a:fld>
            <a:endParaRPr lang="ru-RU"/>
          </a:p>
        </p:txBody>
      </p:sp>
      <p:sp>
        <p:nvSpPr>
          <p:cNvPr id="3787841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5862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779161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57413056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413802975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57312384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5046546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6705531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2932427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29014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23.06.2026</a:t>
            </a:fld>
            <a:endParaRPr lang="ru-RU"/>
          </a:p>
        </p:txBody>
      </p:sp>
      <p:sp>
        <p:nvSpPr>
          <p:cNvPr id="2393619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0992297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459838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430630601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962917616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88762503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56992913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5211612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52401789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24966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23.06.2026</a:t>
            </a:fld>
            <a:endParaRPr lang="ru-RU"/>
          </a:p>
        </p:txBody>
      </p:sp>
      <p:sp>
        <p:nvSpPr>
          <p:cNvPr id="7251572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08207295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36673965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622248004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936001588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11471511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5076329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746905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050730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23.06.2026</a:t>
            </a:fld>
            <a:endParaRPr lang="ru-RU"/>
          </a:p>
        </p:txBody>
      </p:sp>
      <p:sp>
        <p:nvSpPr>
          <p:cNvPr id="8607075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2717763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68271355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269699171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80723316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21566896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92448675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57020191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92106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987464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23.06.2026</a:t>
            </a:fld>
            <a:endParaRPr lang="ru-RU"/>
          </a:p>
        </p:txBody>
      </p:sp>
      <p:sp>
        <p:nvSpPr>
          <p:cNvPr id="19218879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11015711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624798212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548019932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3174758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686124449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368355333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7671795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8036369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5858344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393660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23.06.2026</a:t>
            </a:fld>
            <a:endParaRPr lang="ru-RU"/>
          </a:p>
        </p:txBody>
      </p:sp>
      <p:sp>
        <p:nvSpPr>
          <p:cNvPr id="33288228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5908569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4838700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77912091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59867467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10320599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1297991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068224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23030382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2610493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4409231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3106969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4248054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021352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23.06.2026</a:t>
            </a:fld>
            <a:endParaRPr lang="ru-RU"/>
          </a:p>
        </p:txBody>
      </p:sp>
      <p:sp>
        <p:nvSpPr>
          <p:cNvPr id="163346365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2379711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88713854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22757646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51867910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2443185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22278962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7936588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00846752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415442122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5246316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7317149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415478634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403366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3560419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949649326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0549183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23.06.2026</a:t>
            </a:fld>
            <a:endParaRPr lang="ru-RU"/>
          </a:p>
        </p:txBody>
      </p:sp>
      <p:sp>
        <p:nvSpPr>
          <p:cNvPr id="65289620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776257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44574888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100147449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10159027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1334191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89774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0608369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749249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23.06.2026</a:t>
            </a:fld>
            <a:endParaRPr lang="ru-RU"/>
          </a:p>
        </p:txBody>
      </p:sp>
      <p:sp>
        <p:nvSpPr>
          <p:cNvPr id="18017233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777916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300568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7789535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294760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4839148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52182027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23.06.2026</a:t>
            </a:fld>
            <a:endParaRPr lang="ru-RU"/>
          </a:p>
        </p:txBody>
      </p:sp>
      <p:sp>
        <p:nvSpPr>
          <p:cNvPr id="186250438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5119683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48810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76429946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8921076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23.06.2026</a:t>
            </a:fld>
            <a:endParaRPr lang="ru-RU"/>
          </a:p>
        </p:txBody>
      </p:sp>
      <p:sp>
        <p:nvSpPr>
          <p:cNvPr id="11768717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15276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media2.svg"/><Relationship Id="rId7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3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4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5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6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7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6679605" name="Прямоугольник 3"/>
          <p:cNvSpPr/>
          <p:nvPr/>
        </p:nvSpPr>
        <p:spPr bwMode="auto">
          <a:xfrm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03356251" name="Прямоугольник 4"/>
          <p:cNvSpPr/>
          <p:nvPr/>
        </p:nvSpPr>
        <p:spPr bwMode="auto">
          <a:xfrm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86770963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8" cy="1400288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ядра упрощенного графического ускорителя: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модель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410311750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62500" lnSpcReduction="1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1413628805" name="Заголовок 1"/>
          <p:cNvSpPr>
            <a:spLocks noGrp="1"/>
          </p:cNvSpPr>
          <p:nvPr/>
        </p:nvSpPr>
        <p:spPr bwMode="auto">
          <a:xfrm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772690287" name="Заголовок 1"/>
          <p:cNvSpPr>
            <a:spLocks noGrp="1"/>
          </p:cNvSpPr>
          <p:nvPr/>
        </p:nvSpPr>
        <p:spPr bwMode="auto">
          <a:xfrm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801507079" name="Заголовок 1"/>
          <p:cNvSpPr>
            <a:spLocks noGrp="1"/>
          </p:cNvSpPr>
          <p:nvPr/>
        </p:nvSpPr>
        <p:spPr bwMode="auto">
          <a:xfrm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/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/>
          </a:p>
        </p:txBody>
      </p:sp>
      <p:sp>
        <p:nvSpPr>
          <p:cNvPr id="1973563900" name="Заголовок 1"/>
          <p:cNvSpPr>
            <a:spLocks noGrp="1"/>
          </p:cNvSpPr>
          <p:nvPr/>
        </p:nvSpPr>
        <p:spPr bwMode="auto">
          <a:xfrm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01619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3348022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-2118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17325514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/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/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/>
          </a:p>
        </p:txBody>
      </p:sp>
      <p:sp>
        <p:nvSpPr>
          <p:cNvPr id="33702378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131610167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288421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/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 требования для построения минимального графического ядра и минимальный набор инструкций;</a:t>
            </a:r>
            <a:endParaRPr/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/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/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/>
          </a:p>
        </p:txBody>
      </p:sp>
      <p:sp>
        <p:nvSpPr>
          <p:cNvPr id="200365618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88431946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638122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9969674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891503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127197934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38525317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00108300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98869182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3516850" name="Объект 2"/>
          <p:cNvSpPr>
            <a:spLocks noGrp="1"/>
          </p:cNvSpPr>
          <p:nvPr>
            <p:ph idx="1"/>
          </p:nvPr>
        </p:nvSpPr>
        <p:spPr bwMode="auto">
          <a:xfrm>
            <a:off x="320620" y="1628766"/>
            <a:ext cx="2592336" cy="48641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20000"/>
          </a:bodyPr>
          <a:lstStyle/>
          <a:p>
            <a:pPr>
              <a:defRPr/>
            </a:pPr>
            <a:r>
              <a:rPr/>
              <a:t>Работа является общим проектом по теме: разработка ядра упрощенного графического ускорителя;</a:t>
            </a:r>
            <a:endParaRPr/>
          </a:p>
          <a:p>
            <a:pPr>
              <a:defRPr/>
            </a:pPr>
            <a:r>
              <a:rPr/>
              <a:t>В данной работе выполнена конкретная часть проекта: </a:t>
            </a:r>
            <a:r>
              <a:rPr lang="en-US"/>
              <a:t>RTL-</a:t>
            </a:r>
            <a:r>
              <a:rPr lang="ru-RU"/>
              <a:t>описание ядра упрощенного графического ускорителя.</a:t>
            </a:r>
            <a:endParaRPr/>
          </a:p>
        </p:txBody>
      </p:sp>
      <p:sp>
        <p:nvSpPr>
          <p:cNvPr id="143751263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2C3BA63A-6FFD-E575-38C0-7BEA8FDEC7FB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281608059" name="Прямоугольник 5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6498649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7" y="5651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Комплексная структура проекта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25830183" name="Прямоугольник 6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411013976" name="Рисунок 543394342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3328593" y="2135569"/>
            <a:ext cx="8156721" cy="3575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1328885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30985859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28273799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80780232" name="Объект 2"/>
          <p:cNvSpPr>
            <a:spLocks noGrp="1"/>
          </p:cNvSpPr>
          <p:nvPr>
            <p:ph idx="1"/>
          </p:nvPr>
        </p:nvSpPr>
        <p:spPr bwMode="auto">
          <a:xfrm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2500" lnSpcReduction="20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(INT </a:t>
            </a:r>
            <a:r>
              <a:rPr lang="ru-RU" sz="2000"/>
              <a:t>и </a:t>
            </a:r>
            <a:r>
              <a:rPr lang="en-US" sz="2000"/>
              <a:t>FP);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88517046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703888944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624566044" name="Рисунок 29648411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390992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50401640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76385755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18801559" name="Объект 2"/>
          <p:cNvSpPr>
            <a:spLocks noGrp="1"/>
          </p:cNvSpPr>
          <p:nvPr>
            <p:ph idx="1"/>
          </p:nvPr>
        </p:nvSpPr>
        <p:spPr bwMode="auto">
          <a:xfrm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функций.</a:t>
            </a:r>
            <a:endParaRPr/>
          </a:p>
        </p:txBody>
      </p:sp>
      <p:sp>
        <p:nvSpPr>
          <p:cNvPr id="63209283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836341489" name="Рисунок 5"/>
          <p:cNvPicPr>
            <a:picLocks noChangeAspect="1"/>
          </p:cNvPicPr>
          <p:nvPr/>
        </p:nvPicPr>
        <p:blipFill rotWithShape="1">
          <a:blip r:embed="rId3"/>
          <a:srcRect l="0" t="0" r="33408" b="0"/>
          <a:stretch/>
        </p:blipFill>
        <p:spPr bwMode="auto">
          <a:xfrm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870512" name="Объект 2"/>
          <p:cNvSpPr>
            <a:spLocks noGrp="1"/>
          </p:cNvSpPr>
          <p:nvPr>
            <p:ph idx="1"/>
          </p:nvPr>
        </p:nvSpPr>
        <p:spPr bwMode="auto">
          <a:xfrm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7500" lnSpcReduction="1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/>
          </a:p>
        </p:txBody>
      </p:sp>
      <p:sp>
        <p:nvSpPr>
          <p:cNvPr id="88009459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183040509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56290" y="4580893"/>
            <a:ext cx="4981510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381976786" name="Рисунок 1421075015"/>
          <p:cNvPicPr>
            <a:picLocks noChangeAspect="1"/>
          </p:cNvPicPr>
          <p:nvPr/>
        </p:nvPicPr>
        <p:blipFill rotWithShape="1">
          <a:blip r:embed="rId4"/>
        </p:blipFill>
        <p:spPr bwMode="auto">
          <a:xfrm>
            <a:off x="9272601" y="1593351"/>
            <a:ext cx="2688029" cy="20359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815220649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41335699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12973417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411701265" name="Рисунок 2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8672115" y="5206830"/>
            <a:ext cx="3164607" cy="1376882"/>
          </a:xfrm>
          <a:prstGeom prst="rect">
            <a:avLst/>
          </a:prstGeom>
        </p:spPr>
      </p:pic>
      <p:pic>
        <p:nvPicPr>
          <p:cNvPr id="1968189078" name="Рисунок 1736709909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3122609" y="1415540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1346800815" name="Прямая соединительная линия 1511808801"/>
          <p:cNvCxnSpPr>
            <a:stCxn id="1183040509" idx="3"/>
            <a:endCxn id="1411701265" idx="1"/>
          </p:cNvCxnSpPr>
          <p:nvPr/>
        </p:nvCxnSpPr>
        <p:spPr bwMode="auto">
          <a:xfrm>
            <a:off x="7837799" y="5628176"/>
            <a:ext cx="642272" cy="26709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0258634" name="Прямая соединительная линия 873958202"/>
          <p:cNvCxnSpPr>
            <a:stCxn id="1183040509" idx="3"/>
            <a:endCxn id="1381976786" idx="2"/>
          </p:cNvCxnSpPr>
          <p:nvPr/>
        </p:nvCxnSpPr>
        <p:spPr bwMode="auto">
          <a:xfrm flipV="1">
            <a:off x="7837801" y="3629299"/>
            <a:ext cx="2778814" cy="199887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993982" name="Прямая соединительная линия 1473911928"/>
          <p:cNvCxnSpPr>
            <a:stCxn id="1968189078" idx="3"/>
            <a:endCxn id="1381976786" idx="1"/>
          </p:cNvCxnSpPr>
          <p:nvPr/>
        </p:nvCxnSpPr>
        <p:spPr bwMode="auto">
          <a:xfrm flipV="1">
            <a:off x="8651715" y="2611325"/>
            <a:ext cx="552751" cy="30912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338968" name="Прямая соединительная линия 120675868"/>
          <p:cNvCxnSpPr>
            <a:stCxn id="1968189078" idx="3"/>
            <a:endCxn id="1411701265" idx="0"/>
          </p:cNvCxnSpPr>
          <p:nvPr/>
        </p:nvCxnSpPr>
        <p:spPr bwMode="auto">
          <a:xfrm>
            <a:off x="8651714" y="2920445"/>
            <a:ext cx="1602704" cy="228638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120060" name="Объект 2"/>
          <p:cNvSpPr>
            <a:spLocks noGrp="1"/>
          </p:cNvSpPr>
          <p:nvPr>
            <p:ph idx="1"/>
          </p:nvPr>
        </p:nvSpPr>
        <p:spPr bwMode="auto">
          <a:xfrm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0000" lnSpcReduction="1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Содержат статусные и управляющие сигналы связанные с самим графическим ядром;</a:t>
            </a:r>
            <a:endParaRPr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инструкций.</a:t>
            </a:r>
            <a:endParaRPr lang="en-US"/>
          </a:p>
        </p:txBody>
      </p:sp>
      <p:sp>
        <p:nvSpPr>
          <p:cNvPr id="10412455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377576508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87421315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80285273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667381587" name="Рисунок 1840874630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5603317" y="1477684"/>
            <a:ext cx="5766954" cy="52409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133036" name="Объект 2"/>
          <p:cNvSpPr>
            <a:spLocks noGrp="1"/>
          </p:cNvSpPr>
          <p:nvPr>
            <p:ph idx="1"/>
          </p:nvPr>
        </p:nvSpPr>
        <p:spPr bwMode="auto">
          <a:xfrm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 (</a:t>
            </a:r>
            <a:r>
              <a:rPr lang="en-US" sz="1600"/>
              <a:t>Regfile</a:t>
            </a:r>
            <a:r>
              <a:rPr lang="ru-RU" sz="1600"/>
              <a:t>) и сохраняет их обратно;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189324965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83193310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41785969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13016831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1817295405" name="Рисунок 672231899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5207840" y="1443556"/>
            <a:ext cx="5541424" cy="5157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731716" name="Объект 2"/>
          <p:cNvSpPr>
            <a:spLocks noGrp="1"/>
          </p:cNvSpPr>
          <p:nvPr>
            <p:ph idx="1"/>
          </p:nvPr>
        </p:nvSpPr>
        <p:spPr bwMode="auto">
          <a:xfrm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данные;</a:t>
            </a:r>
            <a:endParaRPr/>
          </a:p>
          <a:p>
            <a:pPr>
              <a:defRPr/>
            </a:pPr>
            <a:r>
              <a:rPr lang="ru-RU"/>
              <a:t>Работает только при получении </a:t>
            </a:r>
            <a:r>
              <a:rPr lang="en-US"/>
              <a:t>LD/ST </a:t>
            </a:r>
            <a:r>
              <a:rPr lang="ru-RU"/>
              <a:t>инструкции.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205473035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5556113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18840909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3920099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1779796541" name="Рисунок 184092973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5025437" y="1481884"/>
            <a:ext cx="7175859" cy="5010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0962094" name="Объект 2"/>
          <p:cNvSpPr>
            <a:spLocks noGrp="1"/>
          </p:cNvSpPr>
          <p:nvPr>
            <p:ph idx="1"/>
          </p:nvPr>
        </p:nvSpPr>
        <p:spPr bwMode="auto">
          <a:xfrm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/>
              <a:t>Арбитр 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управляет 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17014775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47897150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08294374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3744924" name="Заголовок 1"/>
          <p:cNvSpPr>
            <a:spLocks noGrp="1"/>
          </p:cNvSpPr>
          <p:nvPr>
            <p:ph type="title"/>
          </p:nvPr>
        </p:nvSpPr>
        <p:spPr bwMode="auto">
          <a:xfrm>
            <a:off x="842848" y="-10414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733705025" name="Рисунок 1014880009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6868500" y="1437959"/>
            <a:ext cx="5268560" cy="52374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273868" name="Объект 2"/>
          <p:cNvSpPr>
            <a:spLocks noGrp="1"/>
          </p:cNvSpPr>
          <p:nvPr>
            <p:ph idx="1"/>
          </p:nvPr>
        </p:nvSpPr>
        <p:spPr bwMode="auto">
          <a:xfrm>
            <a:off x="77173" y="1350172"/>
            <a:ext cx="4826355" cy="550782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49316419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615054843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54107717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3933235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2071236123" name="Рисунок 1786174537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996910" y="1396865"/>
            <a:ext cx="6875366" cy="513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003361" name="Объект 2"/>
          <p:cNvSpPr>
            <a:spLocks noGrp="1"/>
          </p:cNvSpPr>
          <p:nvPr>
            <p:ph idx="1"/>
          </p:nvPr>
        </p:nvSpPr>
        <p:spPr bwMode="auto">
          <a:xfrm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165313896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960239869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94397997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8334134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35057873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069018" y="1476374"/>
            <a:ext cx="6800252" cy="43243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070608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129476637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345183864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888728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5709928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5006120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По результатам текущей работы получен акт о внедрении разработки в деятельность АО «ПКК Миландр» №04-3 от 04.06.2026</a:t>
            </a:r>
            <a:endParaRPr sz="10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33398583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6737BC9E-E183-A7EE-0C01-BA6DD5EB0490}" type="slidenum">
              <a:rPr lang="ru-RU" sz="1800">
                <a:solidFill>
                  <a:schemeClr val="tx1"/>
                </a:solidFill>
                <a:latin typeface="Trebuchet MS"/>
              </a:rPr>
              <a:t>16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719032198" name="Прямоугольник 4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28320396" name="Прямоугольник 5"/>
          <p:cNvSpPr/>
          <p:nvPr/>
        </p:nvSpPr>
        <p:spPr bwMode="auto">
          <a:xfrm>
            <a:off x="0" y="1181590"/>
            <a:ext cx="12201298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8481165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1825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Внедрение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574557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60161393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04108049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11122415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8413175" name="Заголовок 1"/>
          <p:cNvSpPr>
            <a:spLocks noGrp="1"/>
          </p:cNvSpPr>
          <p:nvPr>
            <p:ph type="title"/>
          </p:nvPr>
        </p:nvSpPr>
        <p:spPr bwMode="auto">
          <a:xfrm>
            <a:off x="916446" y="17498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461080" name="Прямоугольник 3"/>
          <p:cNvSpPr/>
          <p:nvPr/>
        </p:nvSpPr>
        <p:spPr bwMode="auto">
          <a:xfrm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71253766" name="Прямоугольник 4"/>
          <p:cNvSpPr/>
          <p:nvPr/>
        </p:nvSpPr>
        <p:spPr bwMode="auto">
          <a:xfrm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66843148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7" cy="140028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1599626335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7"/>
            <a:ext cx="6051235" cy="124182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62500" lnSpcReduction="1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1712820784" name="Заголовок 1"/>
          <p:cNvSpPr>
            <a:spLocks noGrp="1"/>
          </p:cNvSpPr>
          <p:nvPr/>
        </p:nvSpPr>
        <p:spPr bwMode="auto">
          <a:xfrm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508354879" name="Заголовок 1"/>
          <p:cNvSpPr>
            <a:spLocks noGrp="1"/>
          </p:cNvSpPr>
          <p:nvPr/>
        </p:nvSpPr>
        <p:spPr bwMode="auto">
          <a:xfrm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897184099" name="Заголовок 1"/>
          <p:cNvSpPr>
            <a:spLocks noGrp="1"/>
          </p:cNvSpPr>
          <p:nvPr/>
        </p:nvSpPr>
        <p:spPr bwMode="auto">
          <a:xfrm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/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/>
          </a:p>
        </p:txBody>
      </p:sp>
      <p:sp>
        <p:nvSpPr>
          <p:cNvPr id="141429685" name="Заголовок 1"/>
          <p:cNvSpPr>
            <a:spLocks noGrp="1"/>
          </p:cNvSpPr>
          <p:nvPr/>
        </p:nvSpPr>
        <p:spPr bwMode="auto">
          <a:xfrm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42</cp:revision>
  <dcterms:created xsi:type="dcterms:W3CDTF">2026-06-01T16:03:18Z</dcterms:created>
  <dcterms:modified xsi:type="dcterms:W3CDTF">2026-06-24T10:06:56Z</dcterms:modified>
</cp:coreProperties>
</file>