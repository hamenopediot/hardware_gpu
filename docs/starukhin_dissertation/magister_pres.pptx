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25.xml" ContentType="application/vnd.openxmlformats-officedocument.presentationml.slideLayout+xml"/>
  <Override PartName="/ppt/slides/slide1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23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2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6.xml" ContentType="application/vnd.openxmlformats-officedocument.presentationml.slideLayout+xml"/>
  <Override PartName="/ppt/notesSlides/notesSlide6.xml" ContentType="application/vnd.openxmlformats-officedocument.presentationml.notesSlide+xml"/>
  <Override PartName="/ppt/slideLayouts/slideLayout28.xml" ContentType="application/vnd.openxmlformats-officedocument.presentationml.slideLayout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 showSpecialPlsOnTitleSld="0">
  <p:sldMasterIdLst>
    <p:sldMasterId id="2147483648" r:id="rId1"/>
  </p:sldMasterIdLst>
  <p:notesMasterIdLst>
    <p:notesMasterId r:id="rId19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ru-R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54" d="100"/>
          <a:sy n="154" d="100"/>
        </p:scale>
        <p:origin x="534" y="108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 /><Relationship Id="rId21" Type="http://schemas.openxmlformats.org/officeDocument/2006/relationships/tableStyles" Target="tableStyles.xml" /><Relationship Id="rId2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5784802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02153904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0BF8B4CA-290A-45FF-AF47-6D7BC9CA84C9}" type="datetimeFigureOut">
              <a:rPr lang="ru-RU"/>
              <a:t>02.06.2026</a:t>
            </a:fld>
            <a:endParaRPr lang="ru-RU"/>
          </a:p>
        </p:txBody>
      </p:sp>
      <p:sp>
        <p:nvSpPr>
          <p:cNvPr id="466935396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1013768272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62652176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28335279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BA4505C3-1B66-4F80-910D-E8795C33F31E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65548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1776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767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993D39-5D40-723A-B7F6-46DBB08A9A62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2615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4860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3272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F5C7D0-D7BE-2C63-050F-1DAFA286B6D7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67084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08926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381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0EB7B1-6B7D-5CE5-D95F-5ED0A723250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86138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755013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314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55F3D9-BDFF-EDB5-6FC0-3B806BA109F3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985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31983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747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768EC4-D344-67C3-1C24-CF724D34C290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27927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98076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99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FCB82-4ABC-C1C4-5E79-18F3785DD755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4162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43909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3067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A0886C-666E-9836-41C4-83E600BD9668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9428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59875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4813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902816-76A5-4AF4-1E9E-ABAE37AB74E6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7172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63714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576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9DD143-F230-8BE5-DF47-2F712C202B39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25858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1722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8988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8E094-64B7-2766-BCC3-6C48145F116B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5869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83745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32871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85B0B4-A097-EC80-6511-5CB349CFD099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6562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775154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6812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FE7883-973B-878E-357F-41AA8BFE454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98852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64845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95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3C25AB-F75B-ED55-9B43-2E895322D2B6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868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26051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3308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3B1206-5BC8-D1E1-57C3-7D177AE62E15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5164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77450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12616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8C1104-84A8-CC17-258A-A96B99F9A95E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6901129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75423288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1799980486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64E949B-752F-4A71-A243-047E6613A32E}" type="datetime1">
              <a:rPr lang="ru-RU"/>
              <a:t>02.06.2026</a:t>
            </a:fld>
            <a:endParaRPr lang="ru-RU"/>
          </a:p>
        </p:txBody>
      </p:sp>
      <p:sp>
        <p:nvSpPr>
          <p:cNvPr id="351623302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99808733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0095094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8645854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44812020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B2D18A6-5519-416E-A160-669FC8C75E20}" type="datetime1">
              <a:rPr lang="ru-RU"/>
              <a:t>02.06.2026</a:t>
            </a:fld>
            <a:endParaRPr lang="ru-RU"/>
          </a:p>
        </p:txBody>
      </p:sp>
      <p:sp>
        <p:nvSpPr>
          <p:cNvPr id="1034901801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79621729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063446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72128535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654043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FDFF63E-A7E5-4C7D-A2C9-DA69D5675040}" type="datetime1">
              <a:rPr lang="ru-RU"/>
              <a:t>02.06.2026</a:t>
            </a:fld>
            <a:endParaRPr lang="ru-RU"/>
          </a:p>
        </p:txBody>
      </p:sp>
      <p:sp>
        <p:nvSpPr>
          <p:cNvPr id="2142046034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09469930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60331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792332139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46961568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585844048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4CDE6-6F92-4C74-BFB3-7167DEA2EA4E}" type="datetime1">
              <a:rPr lang="ru-RU"/>
              <a:t>02.06.2026</a:t>
            </a:fld>
            <a:endParaRPr lang="ru-RU"/>
          </a:p>
        </p:txBody>
      </p:sp>
      <p:sp>
        <p:nvSpPr>
          <p:cNvPr id="1068117565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4990761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15149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5589892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1906400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13068489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458545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95858790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9B7B28A-94DD-44EC-83BF-F9E9490C49B9}" type="datetime1">
              <a:rPr lang="ru-RU"/>
              <a:t>02.06.2026</a:t>
            </a:fld>
            <a:endParaRPr lang="ru-RU"/>
          </a:p>
        </p:txBody>
      </p:sp>
      <p:sp>
        <p:nvSpPr>
          <p:cNvPr id="42027271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3464571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665008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25544685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9CBEF87-A1CE-4AD3-B312-24E4060B669E}" type="datetime1">
              <a:rPr lang="ru-RU"/>
              <a:t>02.06.2026</a:t>
            </a:fld>
            <a:endParaRPr lang="ru-RU"/>
          </a:p>
        </p:txBody>
      </p:sp>
      <p:sp>
        <p:nvSpPr>
          <p:cNvPr id="289092037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3648122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900850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1A3597E-B3B5-450E-90FE-FB59F904A164}" type="datetime1">
              <a:rPr lang="ru-RU"/>
              <a:t>02.06.2026</a:t>
            </a:fld>
            <a:endParaRPr lang="ru-RU"/>
          </a:p>
        </p:txBody>
      </p:sp>
      <p:sp>
        <p:nvSpPr>
          <p:cNvPr id="1727297342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30201838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5671696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59081648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7723798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5755618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C926F4-5876-4D6C-B300-7031A7F64CBB}" type="datetime1">
              <a:rPr lang="ru-RU"/>
              <a:t>02.06.2026</a:t>
            </a:fld>
            <a:endParaRPr lang="ru-RU"/>
          </a:p>
        </p:txBody>
      </p:sp>
      <p:sp>
        <p:nvSpPr>
          <p:cNvPr id="1646582499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81438441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577845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9025110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101257365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5504078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C357E52-6772-44D2-9B1A-046730665B12}" type="datetime1">
              <a:rPr lang="ru-RU"/>
              <a:t>02.06.2026</a:t>
            </a:fld>
            <a:endParaRPr lang="ru-RU"/>
          </a:p>
        </p:txBody>
      </p:sp>
      <p:sp>
        <p:nvSpPr>
          <p:cNvPr id="1572777110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05840253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690698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56860841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55484900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5CB82E-191B-43B0-A738-8B9909F88B35}" type="datetime1">
              <a:rPr lang="ru-RU"/>
              <a:t>02.06.2026</a:t>
            </a:fld>
            <a:endParaRPr lang="ru-RU"/>
          </a:p>
        </p:txBody>
      </p:sp>
      <p:sp>
        <p:nvSpPr>
          <p:cNvPr id="1132563909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2619902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925044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28144964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39621655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730D1F9-634A-465B-B25E-CF53749F388C}" type="datetime1">
              <a:rPr lang="ru-RU"/>
              <a:t>02.06.2026</a:t>
            </a:fld>
            <a:endParaRPr lang="ru-RU"/>
          </a:p>
        </p:txBody>
      </p:sp>
      <p:sp>
        <p:nvSpPr>
          <p:cNvPr id="1143992548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83984544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1_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36185939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1247918679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402950752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98095893" name="Rectangle 9"/>
          <p:cNvSpPr/>
          <p:nvPr/>
        </p:nvSpPr>
        <p:spPr bwMode="auto"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87201703" name="Title 1"/>
          <p:cNvSpPr>
            <a:spLocks noGrp="1"/>
          </p:cNvSpPr>
          <p:nvPr>
            <p:ph type="ctrTitle"/>
          </p:nvPr>
        </p:nvSpPr>
        <p:spPr bwMode="auto"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850342436" name="Subtitle 2"/>
          <p:cNvSpPr>
            <a:spLocks noGrp="1"/>
          </p:cNvSpPr>
          <p:nvPr>
            <p:ph type="subTitle" idx="1"/>
          </p:nvPr>
        </p:nvSpPr>
        <p:spPr bwMode="auto"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88664632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2D43468-8071-4A79-9713-FA03F2A56FC7}" type="datetime1">
              <a:rPr lang="ru-RU"/>
              <a:t>02.06.2026</a:t>
            </a:fld>
            <a:endParaRPr lang="ru-RU"/>
          </a:p>
        </p:txBody>
      </p:sp>
      <p:sp>
        <p:nvSpPr>
          <p:cNvPr id="4609593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75612141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9255346" y="2750337"/>
            <a:ext cx="1171888" cy="1356442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1_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07753634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003838153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92410333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46899879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7851715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75986356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67192858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AAA47A0-2EBA-44E2-BFE5-02832F0BA229}" type="datetime1">
              <a:rPr lang="ru-RU"/>
              <a:t>02.06.2026</a:t>
            </a:fld>
            <a:endParaRPr lang="ru-RU"/>
          </a:p>
        </p:txBody>
      </p:sp>
      <p:sp>
        <p:nvSpPr>
          <p:cNvPr id="116804229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846005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1_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37382204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-1" y="4086906"/>
            <a:ext cx="10437812" cy="321164"/>
          </a:xfrm>
          <a:prstGeom prst="rect">
            <a:avLst/>
          </a:prstGeom>
        </p:spPr>
      </p:pic>
      <p:pic>
        <p:nvPicPr>
          <p:cNvPr id="1190450147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1221017168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03945555" name="Rectangle 9"/>
          <p:cNvSpPr/>
          <p:nvPr/>
        </p:nvSpPr>
        <p:spPr bwMode="auto"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09329292" name="Title 1"/>
          <p:cNvSpPr>
            <a:spLocks noGrp="1"/>
          </p:cNvSpPr>
          <p:nvPr>
            <p:ph type="title"/>
          </p:nvPr>
        </p:nvSpPr>
        <p:spPr bwMode="auto"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9051404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12247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E3FDA68-1834-4C1F-B2CC-B0A0766ED8A5}" type="datetime1">
              <a:rPr lang="ru-RU"/>
              <a:t>02.06.2026</a:t>
            </a:fld>
            <a:endParaRPr lang="ru-RU"/>
          </a:p>
        </p:txBody>
      </p:sp>
      <p:sp>
        <p:nvSpPr>
          <p:cNvPr id="159292185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93365710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286989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1_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91580090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600494288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37707837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88389718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2443355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5096666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0319" y="2336873"/>
            <a:ext cx="46983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38798684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594123" y="2336873"/>
            <a:ext cx="47000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32772205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9303EE3-BBFB-41F4-B1FB-4E4CF27ED9D2}" type="datetime1">
              <a:rPr lang="ru-RU"/>
              <a:t>02.06.2026</a:t>
            </a:fld>
            <a:endParaRPr lang="ru-RU"/>
          </a:p>
        </p:txBody>
      </p:sp>
      <p:sp>
        <p:nvSpPr>
          <p:cNvPr id="18015357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55007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1_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09004653" name="Picture 9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590442368" name="Picture 10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44265866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51190140" name="Rectangle 12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70404257" name="Title 1"/>
          <p:cNvSpPr>
            <a:spLocks noGrp="1"/>
          </p:cNvSpPr>
          <p:nvPr>
            <p:ph type="title"/>
          </p:nvPr>
        </p:nvSpPr>
        <p:spPr bwMode="auto">
          <a:xfrm>
            <a:off x="680319" y="753229"/>
            <a:ext cx="9613863" cy="1080937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79790997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06349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095101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0322" y="3030008"/>
            <a:ext cx="4698355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09137770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132929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594123" y="3030008"/>
            <a:ext cx="4700059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44906870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96D59AE-5854-4542-9FF1-1EC4E5A530D5}" type="datetime1">
              <a:rPr lang="ru-RU"/>
              <a:t>02.06.2026</a:t>
            </a:fld>
            <a:endParaRPr lang="ru-RU"/>
          </a:p>
        </p:txBody>
      </p:sp>
      <p:sp>
        <p:nvSpPr>
          <p:cNvPr id="147448254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64821374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1_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75117219" name="Picture 5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9902175" name="Picture 6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540113404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51167115" name="Rectangle 8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33833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1224937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C785264-56B0-460E-A2C2-C886D7CC0782}" type="datetime1">
              <a:rPr lang="ru-RU"/>
              <a:t>02.06.2026</a:t>
            </a:fld>
            <a:endParaRPr lang="ru-RU"/>
          </a:p>
        </p:txBody>
      </p:sp>
      <p:sp>
        <p:nvSpPr>
          <p:cNvPr id="149978125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3909991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1_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6914306" name="Picture 4" descr="HD-ShadowShort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72852698" name="Rectangle 5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178252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AAA0283-F641-48C8-BAB7-8AC6BD361923}" type="datetime1">
              <a:rPr lang="ru-RU"/>
              <a:t>02.06.2026</a:t>
            </a:fld>
            <a:endParaRPr lang="ru-RU"/>
          </a:p>
        </p:txBody>
      </p:sp>
      <p:sp>
        <p:nvSpPr>
          <p:cNvPr id="126090529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271916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1_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8099507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20221782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8259992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42019449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77992475" name="Title 1"/>
          <p:cNvSpPr>
            <a:spLocks noGrp="1"/>
          </p:cNvSpPr>
          <p:nvPr>
            <p:ph type="title"/>
          </p:nvPr>
        </p:nvSpPr>
        <p:spPr bwMode="auto"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796634667" name="Content Placeholder 2"/>
          <p:cNvSpPr>
            <a:spLocks noGrp="1"/>
          </p:cNvSpPr>
          <p:nvPr>
            <p:ph idx="1"/>
          </p:nvPr>
        </p:nvSpPr>
        <p:spPr bwMode="auto">
          <a:xfrm>
            <a:off x="4685846" y="2336873"/>
            <a:ext cx="5608336" cy="3599313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87382989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8764152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10133D-16A4-41F1-B8F2-C1B694F00730}" type="datetime1">
              <a:rPr lang="ru-RU"/>
              <a:t>02.06.2026</a:t>
            </a:fld>
            <a:endParaRPr lang="ru-RU"/>
          </a:p>
        </p:txBody>
      </p:sp>
      <p:sp>
        <p:nvSpPr>
          <p:cNvPr id="185080714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041518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1_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2048872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027145045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02857924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49198225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26401395" name="Title 1"/>
          <p:cNvSpPr>
            <a:spLocks noGrp="1"/>
          </p:cNvSpPr>
          <p:nvPr>
            <p:ph type="title"/>
          </p:nvPr>
        </p:nvSpPr>
        <p:spPr bwMode="auto">
          <a:xfrm>
            <a:off x="680323" y="753227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491304985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4868332" y="2336874"/>
            <a:ext cx="5425849" cy="3599312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45600425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1198858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65D9257-9E03-404F-95EE-486F8868E3F2}" type="datetime1">
              <a:rPr lang="ru-RU"/>
              <a:t>02.06.2026</a:t>
            </a:fld>
            <a:endParaRPr lang="ru-RU"/>
          </a:p>
        </p:txBody>
      </p:sp>
      <p:sp>
        <p:nvSpPr>
          <p:cNvPr id="138577061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9174445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анорамная фотография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97028298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23754564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510818368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84539152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72169962" name="Title 1"/>
          <p:cNvSpPr>
            <a:spLocks noGrp="1"/>
          </p:cNvSpPr>
          <p:nvPr>
            <p:ph type="title"/>
          </p:nvPr>
        </p:nvSpPr>
        <p:spPr bwMode="auto"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63216149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680322" y="609597"/>
            <a:ext cx="9613859" cy="3589574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76387318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821547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6571D8-6559-4269-B7BA-EACD5F8873B8}" type="datetime1">
              <a:rPr lang="ru-RU"/>
              <a:t>02.06.2026</a:t>
            </a:fld>
            <a:endParaRPr lang="ru-RU"/>
          </a:p>
        </p:txBody>
      </p:sp>
      <p:sp>
        <p:nvSpPr>
          <p:cNvPr id="141278673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652261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309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подпис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20935841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463594036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72315444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50679545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38424554" name="Title 1"/>
          <p:cNvSpPr>
            <a:spLocks noGrp="1"/>
          </p:cNvSpPr>
          <p:nvPr>
            <p:ph type="title"/>
          </p:nvPr>
        </p:nvSpPr>
        <p:spPr bwMode="auto"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0831633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0726805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52607F1-4CB0-4741-B752-77795AAFB6CE}" type="datetime1">
              <a:rPr lang="ru-RU"/>
              <a:t>02.06.2026</a:t>
            </a:fld>
            <a:endParaRPr lang="ru-RU"/>
          </a:p>
        </p:txBody>
      </p:sp>
      <p:sp>
        <p:nvSpPr>
          <p:cNvPr id="136945634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76686985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61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Цитата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96754741" name="Picture 10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41503441" name="Picture 12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304718076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16928808" name="Rectangle 14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75541030" name="Title 1"/>
          <p:cNvSpPr>
            <a:spLocks noGrp="1"/>
          </p:cNvSpPr>
          <p:nvPr>
            <p:ph type="title"/>
          </p:nvPr>
        </p:nvSpPr>
        <p:spPr bwMode="auto"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135855805" name="Text Placeholder 3"/>
          <p:cNvSpPr>
            <a:spLocks noGrp="1"/>
          </p:cNvSpPr>
          <p:nvPr>
            <p:ph type="body" sz="half" idx="13"/>
          </p:nvPr>
        </p:nvSpPr>
        <p:spPr bwMode="auto"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0642171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226158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D0F2E69-AF6B-4D0C-824F-3DADD254BF95}" type="datetime1">
              <a:rPr lang="ru-RU"/>
              <a:t>02.06.2026</a:t>
            </a:fld>
            <a:endParaRPr lang="ru-RU"/>
          </a:p>
        </p:txBody>
      </p:sp>
      <p:sp>
        <p:nvSpPr>
          <p:cNvPr id="208702563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35820119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  <p:sp>
        <p:nvSpPr>
          <p:cNvPr id="1666182973" name="TextBox 15"/>
          <p:cNvSpPr txBox="1"/>
          <p:nvPr/>
        </p:nvSpPr>
        <p:spPr bwMode="auto">
          <a:xfrm>
            <a:off x="583572" y="748116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 sz="72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383860639" name="TextBox 16"/>
          <p:cNvSpPr txBox="1"/>
          <p:nvPr/>
        </p:nvSpPr>
        <p:spPr bwMode="auto">
          <a:xfrm>
            <a:off x="9662809" y="3033524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7200">
                <a:solidFill>
                  <a:schemeClr val="tx1"/>
                </a:solidFill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арточка имен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4125989" name="Picture 8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161818354" name="Picture 9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862985469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33650176" name="Rectangle 11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04329327" name="Title 1"/>
          <p:cNvSpPr>
            <a:spLocks noGrp="1"/>
          </p:cNvSpPr>
          <p:nvPr>
            <p:ph type="title"/>
          </p:nvPr>
        </p:nvSpPr>
        <p:spPr bwMode="auto"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0751227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0331166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B61B190-EA0F-465A-8B4C-40AE0FF8CD42}" type="datetime1">
              <a:rPr lang="ru-RU"/>
              <a:t>02.06.2026</a:t>
            </a:fld>
            <a:endParaRPr lang="ru-RU"/>
          </a:p>
        </p:txBody>
      </p:sp>
      <p:sp>
        <p:nvSpPr>
          <p:cNvPr id="67497188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67435798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ри колонк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8865815" name="Picture 12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947179426" name="Picture 13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129433219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48121149" name="Rectangle 16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55876716" name="Title 1"/>
          <p:cNvSpPr>
            <a:spLocks noGrp="1"/>
          </p:cNvSpPr>
          <p:nvPr>
            <p:ph type="title"/>
          </p:nvPr>
        </p:nvSpPr>
        <p:spPr bwMode="auto">
          <a:xfrm>
            <a:off x="669222" y="753227"/>
            <a:ext cx="96249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40985318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9074468" name="Text Placeholder 3"/>
          <p:cNvSpPr>
            <a:spLocks noGrp="1"/>
          </p:cNvSpPr>
          <p:nvPr>
            <p:ph type="body" sz="half" idx="15"/>
          </p:nvPr>
        </p:nvSpPr>
        <p:spPr bwMode="auto"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6374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37582074" name="Text Placeholder 3"/>
          <p:cNvSpPr>
            <a:spLocks noGrp="1"/>
          </p:cNvSpPr>
          <p:nvPr>
            <p:ph type="body" sz="half" idx="16"/>
          </p:nvPr>
        </p:nvSpPr>
        <p:spPr bwMode="auto"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16215726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8305960" name="Text Placeholder 3"/>
          <p:cNvSpPr>
            <a:spLocks noGrp="1"/>
          </p:cNvSpPr>
          <p:nvPr>
            <p:ph type="body" sz="half" idx="17"/>
          </p:nvPr>
        </p:nvSpPr>
        <p:spPr bwMode="auto"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0667609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BFF2AA-51FD-495E-9B6C-53E0CCE8720E}" type="datetime1">
              <a:rPr lang="ru-RU"/>
              <a:t>02.06.2026</a:t>
            </a:fld>
            <a:endParaRPr lang="ru-RU"/>
          </a:p>
        </p:txBody>
      </p:sp>
      <p:sp>
        <p:nvSpPr>
          <p:cNvPr id="37087586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8291229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олбец с тремя рисункам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9188249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530966511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43578474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22713893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45938604" name="Title 1"/>
          <p:cNvSpPr>
            <a:spLocks noGrp="1"/>
          </p:cNvSpPr>
          <p:nvPr>
            <p:ph type="title"/>
          </p:nvPr>
        </p:nvSpPr>
        <p:spPr bwMode="auto">
          <a:xfrm>
            <a:off x="680322" y="753227"/>
            <a:ext cx="96138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3261941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39950" name="Picture Placeholder 2"/>
          <p:cNvSpPr>
            <a:spLocks noChangeAspect="1" noGrp="1"/>
          </p:cNvSpPr>
          <p:nvPr>
            <p:ph type="pic" idx="15"/>
          </p:nvPr>
        </p:nvSpPr>
        <p:spPr bwMode="auto"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407022285" name="Text Placeholder 3"/>
          <p:cNvSpPr>
            <a:spLocks noGrp="1"/>
          </p:cNvSpPr>
          <p:nvPr>
            <p:ph type="body" sz="half" idx="18"/>
          </p:nvPr>
        </p:nvSpPr>
        <p:spPr bwMode="auto"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387595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122385" name="Picture Placeholder 2"/>
          <p:cNvSpPr>
            <a:spLocks noChangeAspect="1" noGrp="1"/>
          </p:cNvSpPr>
          <p:nvPr>
            <p:ph type="pic" idx="21"/>
          </p:nvPr>
        </p:nvSpPr>
        <p:spPr bwMode="auto"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484205128" name="Text Placeholder 3"/>
          <p:cNvSpPr>
            <a:spLocks noGrp="1"/>
          </p:cNvSpPr>
          <p:nvPr>
            <p:ph type="body" sz="half" idx="19"/>
          </p:nvPr>
        </p:nvSpPr>
        <p:spPr bwMode="auto"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8428637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538774" name="Picture Placeholder 2"/>
          <p:cNvSpPr>
            <a:spLocks noChangeAspect="1" noGrp="1"/>
          </p:cNvSpPr>
          <p:nvPr>
            <p:ph type="pic" idx="22"/>
          </p:nvPr>
        </p:nvSpPr>
        <p:spPr bwMode="auto"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116566358" name="Text Placeholder 3"/>
          <p:cNvSpPr>
            <a:spLocks noGrp="1"/>
          </p:cNvSpPr>
          <p:nvPr>
            <p:ph type="body" sz="half" idx="20"/>
          </p:nvPr>
        </p:nvSpPr>
        <p:spPr bwMode="auto"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1083566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32452-DB40-464D-817C-83D7743D6F57}" type="datetime1">
              <a:rPr lang="ru-RU"/>
              <a:t>02.06.2026</a:t>
            </a:fld>
            <a:endParaRPr lang="ru-RU"/>
          </a:p>
        </p:txBody>
      </p:sp>
      <p:sp>
        <p:nvSpPr>
          <p:cNvPr id="98949601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870894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1_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34643743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778943405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92766167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62701914" name="Rectangle 9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999206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9045660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33182093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7BE9EF-9137-4EC0-A2FE-700F392F3BEF}" type="datetime1">
              <a:rPr lang="ru-RU"/>
              <a:t>02.06.2026</a:t>
            </a:fld>
            <a:endParaRPr lang="ru-RU"/>
          </a:p>
        </p:txBody>
      </p:sp>
      <p:sp>
        <p:nvSpPr>
          <p:cNvPr id="186162741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035024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1_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859990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1070386" name="Rectangle 7"/>
          <p:cNvSpPr/>
          <p:nvPr/>
        </p:nvSpPr>
        <p:spPr bwMode="auto"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4466026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10129231" y="609597"/>
            <a:ext cx="1073802" cy="4353760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09816672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0322" y="609597"/>
            <a:ext cx="8870004" cy="5326589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2082713330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6807126" y="5936187"/>
            <a:ext cx="2743200" cy="365125"/>
          </a:xfrm>
        </p:spPr>
        <p:txBody>
          <a:bodyPr/>
          <a:lstStyle/>
          <a:p>
            <a:pPr>
              <a:defRPr/>
            </a:pPr>
            <a:fld id="{2BF7793B-D180-44C4-B91E-57912C70F4D0}" type="datetime1">
              <a:rPr lang="ru-RU"/>
              <a:t>02.06.2026</a:t>
            </a:fld>
            <a:endParaRPr lang="ru-RU"/>
          </a:p>
        </p:txBody>
      </p:sp>
      <p:sp>
        <p:nvSpPr>
          <p:cNvPr id="1627636278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680321" y="5936188"/>
            <a:ext cx="6126805" cy="365125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317675565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738045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7395239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4398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01D4F3A-ABC6-43DF-ACA3-965C94B45EAB}" type="datetime1">
              <a:rPr lang="ru-RU"/>
              <a:t>02.06.2026</a:t>
            </a:fld>
            <a:endParaRPr lang="ru-RU"/>
          </a:p>
        </p:txBody>
      </p:sp>
      <p:sp>
        <p:nvSpPr>
          <p:cNvPr id="4418022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926208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hf dt="0" ftr="0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media1.svg"/><Relationship Id="rId6" Type="http://schemas.openxmlformats.org/officeDocument/2006/relationships/image" Target="../media/image8.png"/><Relationship Id="rId7" Type="http://schemas.openxmlformats.org/officeDocument/2006/relationships/image" Target="../media/media2.svg"/><Relationship Id="rId8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media3.sv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media4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media5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media6.sv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media7.sv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6773983" name="Прямоугольник 3"/>
          <p:cNvSpPr/>
          <p:nvPr/>
        </p:nvSpPr>
        <p:spPr bwMode="auto">
          <a:xfrm>
            <a:off x="0" y="1381233"/>
            <a:ext cx="12192000" cy="1810533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75062187" name="Прямоугольник 4"/>
          <p:cNvSpPr/>
          <p:nvPr/>
        </p:nvSpPr>
        <p:spPr bwMode="auto">
          <a:xfrm>
            <a:off x="0" y="5021126"/>
            <a:ext cx="12192000" cy="1385894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627004354" name="Заголовок 1"/>
          <p:cNvSpPr>
            <a:spLocks noGrp="1"/>
          </p:cNvSpPr>
          <p:nvPr>
            <p:ph type="ctrTitle"/>
          </p:nvPr>
        </p:nvSpPr>
        <p:spPr bwMode="auto">
          <a:xfrm>
            <a:off x="422988" y="1604865"/>
            <a:ext cx="8345668" cy="1400288"/>
          </a:xfrm>
        </p:spPr>
        <p:txBody>
          <a:bodyPr>
            <a:noAutofit/>
          </a:bodyPr>
          <a:lstStyle/>
          <a:p>
            <a:pPr algn="l">
              <a:defRPr/>
            </a:pPr>
            <a:r>
              <a:rPr lang="ru-RU" sz="3200">
                <a:solidFill>
                  <a:schemeClr val="bg1"/>
                </a:solidFill>
              </a:rPr>
              <a:t>Разработка </a:t>
            </a:r>
            <a:r>
              <a:rPr lang="ru-RU" sz="3200">
                <a:solidFill>
                  <a:schemeClr val="bg1"/>
                </a:solidFill>
              </a:rPr>
              <a:t>ядра упрощенного графического ускорителя. Разработка </a:t>
            </a:r>
            <a:r>
              <a:rPr lang="en-US" sz="3200">
                <a:solidFill>
                  <a:schemeClr val="bg1"/>
                </a:solidFill>
              </a:rPr>
              <a:t>HDL </a:t>
            </a:r>
            <a:r>
              <a:rPr lang="ru-RU" sz="3200">
                <a:solidFill>
                  <a:schemeClr val="bg1"/>
                </a:solidFill>
              </a:rPr>
              <a:t>модели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100245361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5817078" y="5093158"/>
            <a:ext cx="6051236" cy="124182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55000" lnSpcReduction="9000"/>
          </a:bodyPr>
          <a:lstStyle/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Воронежский Государственный Университет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Сделал: студент 2 курса магистратуры 11 группы Старухин Данила Михайлович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Руководитель: Авсеева О.В.</a:t>
            </a:r>
            <a:endParaRPr/>
          </a:p>
          <a:p>
            <a:pPr algn="r">
              <a:defRPr/>
            </a:pPr>
            <a:r>
              <a:rPr lang="en-US">
                <a:solidFill>
                  <a:schemeClr val="bg1"/>
                </a:solidFill>
              </a:rPr>
              <a:t>e-mail: staruhind@yandex.ru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420831" name="Прямоугольник 4"/>
          <p:cNvSpPr/>
          <p:nvPr/>
        </p:nvSpPr>
        <p:spPr bwMode="auto">
          <a:xfrm>
            <a:off x="0" y="-1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34414186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178480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Введение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66902840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Графический ускоритель </a:t>
            </a:r>
            <a:r>
              <a:rPr lang="en-US">
                <a:solidFill>
                  <a:schemeClr val="tx1"/>
                </a:solidFill>
              </a:rPr>
              <a:t>(GPU)</a:t>
            </a:r>
            <a:r>
              <a:rPr lang="ru-RU">
                <a:solidFill>
                  <a:schemeClr val="tx1"/>
                </a:solidFill>
              </a:rPr>
              <a:t> – это специализированный процессор, оптимизированный для параллельной обработки данных;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Графическое ядро – это специализированный микропроцессор, созданный для математических вычислений, обработки изображений и рендеринга;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Основные компании-разработчики дискретных графических ускорителей: </a:t>
            </a:r>
            <a:r>
              <a:rPr lang="en-US">
                <a:solidFill>
                  <a:schemeClr val="tx1"/>
                </a:solidFill>
              </a:rPr>
              <a:t>AMD,</a:t>
            </a:r>
            <a:r>
              <a:rPr lang="ru-RU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NVIDIA, Intel (c </a:t>
            </a:r>
            <a:r>
              <a:rPr lang="ru-RU">
                <a:solidFill>
                  <a:schemeClr val="tx1"/>
                </a:solidFill>
              </a:rPr>
              <a:t>недавних пор</a:t>
            </a:r>
            <a:r>
              <a:rPr lang="en-US">
                <a:solidFill>
                  <a:schemeClr val="tx1"/>
                </a:solidFill>
              </a:rPr>
              <a:t>)</a:t>
            </a:r>
            <a:r>
              <a:rPr lang="ru-RU">
                <a:solidFill>
                  <a:schemeClr val="tx1"/>
                </a:solidFill>
              </a:rPr>
              <a:t>.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645700091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2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778515660" name="Прямоугольник 5"/>
          <p:cNvSpPr/>
          <p:nvPr/>
        </p:nvSpPr>
        <p:spPr bwMode="auto">
          <a:xfrm>
            <a:off x="0" y="1220090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331314" name="Объект 2"/>
          <p:cNvSpPr>
            <a:spLocks noGrp="1"/>
          </p:cNvSpPr>
          <p:nvPr>
            <p:ph idx="1"/>
          </p:nvPr>
        </p:nvSpPr>
        <p:spPr bwMode="auto">
          <a:xfrm>
            <a:off x="4649" y="1635966"/>
            <a:ext cx="12201298" cy="3600467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defRPr/>
            </a:pPr>
            <a:r>
              <a:rPr lang="ru-RU" sz="2400"/>
              <a:t>Цели</a:t>
            </a:r>
            <a:endParaRPr sz="2400"/>
          </a:p>
          <a:p>
            <a:pPr lvl="1">
              <a:defRPr/>
            </a:pPr>
            <a:r>
              <a:rPr lang="ru-RU" sz="2000"/>
              <a:t>Разработать модель упрощённого графического ядра на языке описания аппаратуры </a:t>
            </a:r>
            <a:r>
              <a:rPr lang="en-US" sz="2000"/>
              <a:t>SystemVerilog</a:t>
            </a:r>
            <a:r>
              <a:rPr lang="ru-RU" sz="2000"/>
              <a:t>.</a:t>
            </a:r>
            <a:endParaRPr sz="2000"/>
          </a:p>
          <a:p>
            <a:pPr>
              <a:defRPr/>
            </a:pPr>
            <a:r>
              <a:rPr lang="ru-RU" sz="2400"/>
              <a:t>Задачи</a:t>
            </a:r>
            <a:endParaRPr sz="2400"/>
          </a:p>
          <a:p>
            <a:pPr lvl="1">
              <a:defRPr/>
            </a:pPr>
            <a:r>
              <a:rPr lang="ru-RU" sz="2000"/>
              <a:t>Провести анализ существующих архитектур графических процессоров и ядер;</a:t>
            </a:r>
            <a:endParaRPr sz="2000"/>
          </a:p>
          <a:p>
            <a:pPr lvl="1">
              <a:defRPr/>
            </a:pPr>
            <a:r>
              <a:rPr lang="ru-RU" sz="2000"/>
              <a:t>Спроектировать минимально необходимую архитектуру набора инструкций (</a:t>
            </a:r>
            <a:r>
              <a:rPr lang="en-US" sz="2000"/>
              <a:t>ISA)</a:t>
            </a:r>
            <a:r>
              <a:rPr lang="ru-RU" sz="2000"/>
              <a:t>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архитектуру упрощенного графического ядра;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модель упрощенного графического ядра, используя метод поблочной декомпозиции.</a:t>
            </a:r>
            <a:endParaRPr sz="2000"/>
          </a:p>
        </p:txBody>
      </p:sp>
      <p:sp>
        <p:nvSpPr>
          <p:cNvPr id="67287745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3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052467105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614169718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8" y="5651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Постановка задачи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618619112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514325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>
              <a:buFont typeface="Arial"/>
              <a:buNone/>
              <a:defRPr/>
            </a:pPr>
            <a:r>
              <a:rPr lang="ru-RU">
                <a:solidFill>
                  <a:schemeClr val="tx1"/>
                </a:solidFill>
              </a:rPr>
              <a:t>Реализация модели упрощенного графического ядра </a:t>
            </a:r>
            <a:r>
              <a:rPr>
                <a:solidFill>
                  <a:schemeClr val="tx1"/>
                </a:solidFill>
              </a:rPr>
              <a:t>позволит: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Определить</a:t>
            </a:r>
            <a:r>
              <a:rPr>
                <a:solidFill>
                  <a:schemeClr val="tx1"/>
                </a:solidFill>
              </a:rPr>
              <a:t> требования для построения минимального графического ядра и минимальный набор инструкций;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Разработать модель упрощенного графического ядра, которую можно модернизировать и изучать;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На базе разработанной модели можно экспериментировать с различными техниками и способами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ru-RU">
                <a:solidFill>
                  <a:schemeClr val="tx1"/>
                </a:solidFill>
              </a:rPr>
              <a:t>построения </a:t>
            </a:r>
            <a:r>
              <a:rPr lang="ru-RU">
                <a:solidFill>
                  <a:schemeClr val="tx1"/>
                </a:solidFill>
              </a:rPr>
              <a:t>архитектур процессорных систем</a:t>
            </a:r>
            <a:r>
              <a:rPr>
                <a:solidFill>
                  <a:schemeClr val="tx1"/>
                </a:solidFill>
              </a:rPr>
              <a:t>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Приблизиться к реализации полноценного графического ядра, а в перспективе и полноценного графического ускорителя.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757514086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157378375" name="Прямоугольник 4"/>
          <p:cNvSpPr/>
          <p:nvPr/>
        </p:nvSpPr>
        <p:spPr bwMode="auto">
          <a:xfrm>
            <a:off x="0" y="-72479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869618670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7247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Актуальность работы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023920784" name="Прямоугольник 5"/>
          <p:cNvSpPr/>
          <p:nvPr/>
        </p:nvSpPr>
        <p:spPr bwMode="auto">
          <a:xfrm>
            <a:off x="0" y="1121016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9270170" name="Прямоугольник 9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881265108" name="Прямоугольник 10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896901441" name="Заголовок 1"/>
          <p:cNvSpPr>
            <a:spLocks noGrp="1"/>
          </p:cNvSpPr>
          <p:nvPr>
            <p:ph type="title"/>
          </p:nvPr>
        </p:nvSpPr>
        <p:spPr bwMode="auto">
          <a:xfrm>
            <a:off x="383823" y="-10414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AMD</a:t>
            </a:r>
            <a:br>
              <a:rPr lang="en-US">
                <a:solidFill>
                  <a:schemeClr val="bg1"/>
                </a:solidFill>
              </a:rPr>
            </a:br>
            <a:r>
              <a:rPr lang="en-US">
                <a:solidFill>
                  <a:schemeClr val="bg1"/>
                </a:solidFill>
              </a:rPr>
              <a:t>Souther Islands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531733712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383823" y="1350173"/>
            <a:ext cx="3684326" cy="280272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>
              <a:buFont typeface="Arial"/>
              <a:buNone/>
              <a:defRPr/>
            </a:pPr>
            <a:r>
              <a:rPr lang="ru-RU" sz="2000"/>
              <a:t>Ядро (</a:t>
            </a:r>
            <a:r>
              <a:rPr lang="en-US" sz="2000"/>
              <a:t>CU</a:t>
            </a:r>
            <a:r>
              <a:rPr lang="ru-RU" sz="2000"/>
              <a:t>) содержит</a:t>
            </a:r>
            <a:r>
              <a:rPr lang="en-US" sz="2000"/>
              <a:t>: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v/sGPR - </a:t>
            </a:r>
            <a:r>
              <a:rPr lang="ru-RU" sz="2000"/>
              <a:t>векторный/скалярный регистровый файл</a:t>
            </a:r>
            <a:r>
              <a:rPr lang="en-US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LSU – </a:t>
            </a:r>
            <a:r>
              <a:rPr lang="ru-RU" sz="2000"/>
              <a:t>блок загузки/сохранения</a:t>
            </a:r>
            <a:r>
              <a:rPr lang="en-US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en-US" sz="2000"/>
              <a:t>vALU – </a:t>
            </a:r>
            <a:r>
              <a:rPr lang="ru-RU" sz="2000"/>
              <a:t>векторное арифметико-логическое устройство</a:t>
            </a:r>
            <a:r>
              <a:rPr lang="en-US" sz="2000"/>
              <a:t> (</a:t>
            </a:r>
            <a:r>
              <a:rPr lang="en-US" sz="2000"/>
              <a:t>INT </a:t>
            </a:r>
            <a:r>
              <a:rPr lang="ru-RU" sz="2000"/>
              <a:t>и </a:t>
            </a:r>
            <a:r>
              <a:rPr lang="en-US" sz="2000"/>
              <a:t>FP</a:t>
            </a:r>
            <a:r>
              <a:rPr lang="en-US" sz="2000"/>
              <a:t>);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ru-RU" sz="2000"/>
              <a:t>Блок получения, декодирования и планирования инструкций</a:t>
            </a:r>
            <a:r>
              <a:rPr lang="ru-RU" sz="2000"/>
              <a:t>;</a:t>
            </a:r>
            <a:endParaRPr sz="2000"/>
          </a:p>
          <a:p>
            <a:pPr>
              <a:buFont typeface="Arial"/>
              <a:buChar char="–"/>
              <a:defRPr/>
            </a:pPr>
            <a:r>
              <a:rPr lang="ru-RU" sz="2000"/>
              <a:t>Локальная общая память.</a:t>
            </a:r>
            <a:endParaRPr sz="2000"/>
          </a:p>
        </p:txBody>
      </p:sp>
      <p:sp>
        <p:nvSpPr>
          <p:cNvPr id="462629056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9493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796255708" name="Рисунок 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52516" y="2208315"/>
            <a:ext cx="7854704" cy="4271176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203570584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83823" y="4250145"/>
            <a:ext cx="3576543" cy="222934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9499262" name="Прямоугольник 9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303613120" name="Прямоугольник 10"/>
          <p:cNvSpPr/>
          <p:nvPr/>
        </p:nvSpPr>
        <p:spPr bwMode="auto">
          <a:xfrm>
            <a:off x="0" y="1181590"/>
            <a:ext cx="12201297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81994364" name="Заголовок 1"/>
          <p:cNvSpPr>
            <a:spLocks noGrp="1"/>
          </p:cNvSpPr>
          <p:nvPr>
            <p:ph type="title"/>
          </p:nvPr>
        </p:nvSpPr>
        <p:spPr bwMode="auto">
          <a:xfrm>
            <a:off x="461982" y="-1041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NVIDIA</a:t>
            </a:r>
            <a:br>
              <a:rPr>
                <a:solidFill>
                  <a:schemeClr val="bg1"/>
                </a:solidFill>
              </a:rPr>
            </a:br>
            <a:r>
              <a:rPr lang="en-US">
                <a:solidFill>
                  <a:schemeClr val="bg1"/>
                </a:solidFill>
              </a:rPr>
              <a:t>Fermi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052301060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285750" y="1444489"/>
            <a:ext cx="6925649" cy="503500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Общий регистровый файл большого размера для множества ядер;</a:t>
            </a:r>
            <a:endParaRPr lang="ru-RU"/>
          </a:p>
          <a:p>
            <a:pPr>
              <a:defRPr/>
            </a:pPr>
            <a:r>
              <a:rPr lang="ru-RU"/>
              <a:t>Каждому ядру в регистровом файле выделена своя область;</a:t>
            </a:r>
            <a:endParaRPr lang="ru-RU"/>
          </a:p>
          <a:p>
            <a:pPr>
              <a:defRPr/>
            </a:pPr>
            <a:r>
              <a:rPr lang="ru-RU"/>
              <a:t>Каждое ядро </a:t>
            </a:r>
            <a:r>
              <a:rPr lang="en-US"/>
              <a:t>CUDA </a:t>
            </a:r>
            <a:r>
              <a:rPr lang="ru-RU"/>
              <a:t>является однопоточным;</a:t>
            </a:r>
            <a:endParaRPr lang="ru-RU"/>
          </a:p>
          <a:p>
            <a:pPr>
              <a:defRPr/>
            </a:pPr>
            <a:r>
              <a:rPr lang="ru-RU"/>
              <a:t>Каждое ядро содержит вычислительные блоки для </a:t>
            </a:r>
            <a:r>
              <a:rPr lang="en-US"/>
              <a:t>INT </a:t>
            </a:r>
            <a:r>
              <a:rPr lang="ru-RU"/>
              <a:t>и </a:t>
            </a:r>
            <a:r>
              <a:rPr lang="en-US"/>
              <a:t>FP</a:t>
            </a:r>
            <a:r>
              <a:rPr lang="ru-RU"/>
              <a:t>;</a:t>
            </a:r>
            <a:endParaRPr lang="en-US"/>
          </a:p>
          <a:p>
            <a:pPr>
              <a:defRPr/>
            </a:pPr>
            <a:r>
              <a:rPr lang="en-US"/>
              <a:t>SFU – </a:t>
            </a:r>
            <a:r>
              <a:rPr lang="ru-RU"/>
              <a:t>специализированный ускоритель, в частности для тригонометрических функций</a:t>
            </a:r>
            <a:r>
              <a:rPr lang="ru-RU"/>
              <a:t>.</a:t>
            </a:r>
            <a:endParaRPr/>
          </a:p>
        </p:txBody>
      </p:sp>
      <p:sp>
        <p:nvSpPr>
          <p:cNvPr id="126709756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79492"/>
            <a:ext cx="1052507" cy="365124"/>
          </a:xfrm>
        </p:spPr>
        <p:txBody>
          <a:bodyPr/>
          <a:lstStyle/>
          <a:p>
            <a:pPr>
              <a:defRPr/>
            </a:pPr>
            <a:fld id="{4E8A3A8F-0B9D-0C84-2979-0C48658383B8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953303344" name="Рисунок 5"/>
          <p:cNvPicPr>
            <a:picLocks noChangeAspect="1"/>
          </p:cNvPicPr>
          <p:nvPr/>
        </p:nvPicPr>
        <p:blipFill rotWithShape="1">
          <a:blip r:embed="rId3"/>
          <a:srcRect l="0" t="0" r="33409" b="0"/>
          <a:stretch/>
        </p:blipFill>
        <p:spPr bwMode="auto">
          <a:xfrm flipH="0" flipV="0">
            <a:off x="7284603" y="1568869"/>
            <a:ext cx="4326204" cy="4910622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7276575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-9297" y="1350173"/>
            <a:ext cx="3310846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/>
              <a:t>Набор инструкций взят с дампа промежуточного представления</a:t>
            </a:r>
            <a:r>
              <a:rPr lang="en-US"/>
              <a:t> </a:t>
            </a:r>
            <a:r>
              <a:rPr lang="ru-RU"/>
              <a:t>шейдера </a:t>
            </a:r>
            <a:r>
              <a:rPr lang="ru-RU"/>
              <a:t>из </a:t>
            </a:r>
            <a:r>
              <a:rPr lang="en-US"/>
              <a:t>VKCUBE</a:t>
            </a:r>
            <a:r>
              <a:rPr/>
              <a:t>;</a:t>
            </a:r>
            <a:endParaRPr/>
          </a:p>
          <a:p>
            <a:pPr>
              <a:defRPr/>
            </a:pPr>
            <a:r>
              <a:rPr lang="ru-RU"/>
              <a:t>В качестве основы взята архитектура набора инструкций </a:t>
            </a:r>
            <a:r>
              <a:rPr lang="en-US"/>
              <a:t>RISC-V</a:t>
            </a:r>
            <a:r>
              <a:rPr lang="ru-RU"/>
              <a:t>.</a:t>
            </a:r>
            <a:endParaRPr lang="ru-RU"/>
          </a:p>
        </p:txBody>
      </p:sp>
      <p:sp>
        <p:nvSpPr>
          <p:cNvPr id="572819494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65512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6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269082523" name="Рисунок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595387" y="4634649"/>
            <a:ext cx="4981511" cy="209456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130952141" name="Рисунок 1421075015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</p:blipFill>
        <p:spPr bwMode="auto">
          <a:xfrm>
            <a:off x="9048129" y="1683548"/>
            <a:ext cx="2915269" cy="2101525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97876584" name="Прямоугольник 10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7229540" name="Прямоугольник 11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713862053" name="Заголовок 1"/>
          <p:cNvSpPr>
            <a:spLocks noGrp="1"/>
          </p:cNvSpPr>
          <p:nvPr>
            <p:ph type="title"/>
          </p:nvPr>
        </p:nvSpPr>
        <p:spPr bwMode="auto">
          <a:xfrm>
            <a:off x="387637" y="-116036"/>
            <a:ext cx="11223171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Разработка модели графического ядра: разработка архитектуры набора инструкций </a:t>
            </a:r>
            <a:r>
              <a:rPr lang="en-US">
                <a:solidFill>
                  <a:schemeClr val="bg1"/>
                </a:solidFill>
              </a:rPr>
              <a:t>(ISA)</a:t>
            </a:r>
            <a:endParaRPr lang="ru-RU">
              <a:solidFill>
                <a:schemeClr val="bg1"/>
              </a:solidFill>
            </a:endParaRPr>
          </a:p>
        </p:txBody>
      </p:sp>
      <p:pic>
        <p:nvPicPr>
          <p:cNvPr id="1125678989" name="Рисунок 2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 flipH="0" flipV="0">
            <a:off x="7184853" y="4882815"/>
            <a:ext cx="4489170" cy="1464886"/>
          </a:xfrm>
          <a:prstGeom prst="rect">
            <a:avLst/>
          </a:prstGeom>
        </p:spPr>
      </p:pic>
      <p:pic>
        <p:nvPicPr>
          <p:cNvPr id="1032567309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3234668" y="1350173"/>
            <a:ext cx="5529106" cy="3009811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908699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153374" y="1523999"/>
            <a:ext cx="5067299" cy="47624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/>
              <a:t>Fetcher</a:t>
            </a:r>
            <a:r>
              <a:rPr lang="ru-RU"/>
              <a:t> - захватывает инструкцию из памяти;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- декодирует инструкцию, управляет </a:t>
            </a:r>
            <a:r>
              <a:rPr lang="en-US"/>
              <a:t>LSU</a:t>
            </a:r>
            <a:r>
              <a:rPr lang="ru-RU"/>
              <a:t> и </a:t>
            </a:r>
            <a:r>
              <a:rPr lang="en-US"/>
              <a:t>TU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en-US"/>
              <a:t>TU</a:t>
            </a:r>
            <a:r>
              <a:rPr lang="ru-RU"/>
              <a:t> </a:t>
            </a:r>
            <a:r>
              <a:rPr lang="ru-RU"/>
              <a:t>– вычислительный блок;</a:t>
            </a:r>
            <a:endParaRPr/>
          </a:p>
          <a:p>
            <a:pPr>
              <a:defRPr/>
            </a:pPr>
            <a:r>
              <a:rPr lang="en-US"/>
              <a:t>LSU -  </a:t>
            </a:r>
            <a:r>
              <a:rPr lang="ru-RU"/>
              <a:t>блок загрузки/сохранения данных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en-US"/>
              <a:t>CSR </a:t>
            </a:r>
            <a:r>
              <a:rPr lang="ru-RU"/>
              <a:t>- контрольно-статусные регистры. </a:t>
            </a:r>
            <a:r>
              <a:rPr lang="ru-RU"/>
              <a:t>Содержат статусные и управляющие сигналы связанные с самим графическим ядром;</a:t>
            </a:r>
            <a:endParaRPr lang="ru-RU"/>
          </a:p>
          <a:p>
            <a:pPr>
              <a:defRPr/>
            </a:pPr>
            <a:r>
              <a:rPr lang="en-US"/>
              <a:t>PC – </a:t>
            </a:r>
            <a:r>
              <a:rPr lang="ru-RU"/>
              <a:t>счётчик инструкций</a:t>
            </a:r>
            <a:r>
              <a:rPr lang="ru-RU"/>
              <a:t>.</a:t>
            </a:r>
            <a:endParaRPr lang="en-US"/>
          </a:p>
        </p:txBody>
      </p:sp>
      <p:sp>
        <p:nvSpPr>
          <p:cNvPr id="112667014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8335"/>
            <a:ext cx="1052508" cy="365125"/>
          </a:xfrm>
        </p:spPr>
        <p:txBody>
          <a:bodyPr/>
          <a:lstStyle/>
          <a:p>
            <a:pPr>
              <a:defRPr/>
            </a:pPr>
            <a:fld id="{ED02CFB1-EEA1-CD3C-8AAA-9D8034B9CDE8}" type="slidenum">
              <a:rPr lang="ru-RU" sz="1800">
                <a:solidFill>
                  <a:schemeClr val="tx1"/>
                </a:solidFill>
                <a:latin typeface="Trebuchet MS"/>
              </a:rPr>
              <a:t>7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814906234" name="Прямоугольник 5"/>
          <p:cNvSpPr/>
          <p:nvPr/>
        </p:nvSpPr>
        <p:spPr bwMode="auto">
          <a:xfrm>
            <a:off x="0" y="0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662558537" name="Прямоугольник 6"/>
          <p:cNvSpPr/>
          <p:nvPr/>
        </p:nvSpPr>
        <p:spPr bwMode="auto">
          <a:xfrm>
            <a:off x="9298" y="1192006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33818903" name="Заголовок 1"/>
          <p:cNvSpPr>
            <a:spLocks noGrp="1"/>
          </p:cNvSpPr>
          <p:nvPr>
            <p:ph type="title"/>
          </p:nvPr>
        </p:nvSpPr>
        <p:spPr bwMode="auto">
          <a:xfrm>
            <a:off x="568954" y="0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>
                <a:solidFill>
                  <a:schemeClr val="bg1"/>
                </a:solidFill>
              </a:rPr>
              <a:t>: Общая структура ядра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829737820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034770" y="1876424"/>
            <a:ext cx="6576037" cy="41952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8686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6674" y="1350173"/>
            <a:ext cx="4134825" cy="51427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1600"/>
              <a:t>Вычислительный </a:t>
            </a:r>
            <a:r>
              <a:rPr lang="ru-RU" sz="1600"/>
              <a:t>блок </a:t>
            </a:r>
            <a:r>
              <a:rPr lang="en-US" sz="1600"/>
              <a:t>(Tread Unit) </a:t>
            </a:r>
            <a:r>
              <a:rPr lang="ru-RU" sz="1600"/>
              <a:t>обрабатывает вещественные и целочисленные данные из регистрового файла</a:t>
            </a:r>
            <a:r>
              <a:rPr lang="ru-RU" sz="1600"/>
              <a:t> (</a:t>
            </a:r>
            <a:r>
              <a:rPr lang="en-US" sz="1600"/>
              <a:t>Regfile</a:t>
            </a:r>
            <a:r>
              <a:rPr lang="ru-RU" sz="1600"/>
              <a:t>) и сохраняет их обратно</a:t>
            </a:r>
            <a:r>
              <a:rPr lang="ru-RU" sz="1600"/>
              <a:t>;</a:t>
            </a:r>
            <a:endParaRPr sz="1600"/>
          </a:p>
          <a:p>
            <a:pPr>
              <a:defRPr/>
            </a:pPr>
            <a:r>
              <a:rPr lang="ru-RU" sz="1600"/>
              <a:t>Основные компоненты: </a:t>
            </a:r>
            <a:endParaRPr sz="1600"/>
          </a:p>
          <a:p>
            <a:pPr lvl="1">
              <a:defRPr/>
            </a:pPr>
            <a:r>
              <a:rPr lang="en-US" sz="1600"/>
              <a:t>FPU – </a:t>
            </a:r>
            <a:r>
              <a:rPr lang="ru-RU" sz="1600"/>
              <a:t>блок операций с плавающей запятой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en-US" sz="1600"/>
              <a:t>ALU – </a:t>
            </a:r>
            <a:r>
              <a:rPr lang="ru-RU" sz="1600"/>
              <a:t>целочисленное арифметико-логическое устройство (в основном используется для расчёта адресов и смещений)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en-US" sz="1600"/>
              <a:t>Regfile – </a:t>
            </a:r>
            <a:r>
              <a:rPr lang="ru-RU" sz="1600"/>
              <a:t>регистровый файл, хранит операнды и результаты операций. 30 регистров общего назначения, 2 специализированных регистра (индекс вычислительного блока и константный нуль).</a:t>
            </a:r>
            <a:endParaRPr sz="1600"/>
          </a:p>
        </p:txBody>
      </p:sp>
      <p:sp>
        <p:nvSpPr>
          <p:cNvPr id="1832140326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8C44681A-2184-8FE6-7CA2-B2F449D07AD3}" type="slidenum">
              <a:rPr lang="ru-RU" sz="1800">
                <a:solidFill>
                  <a:schemeClr val="tx1"/>
                </a:solidFill>
                <a:latin typeface="Trebuchet MS"/>
              </a:rPr>
              <a:t>8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304249789" name="Прямоугольник 6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41254918" name="Прямоугольник 7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612281607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37878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Разработка вычислительного блока:</a:t>
            </a:r>
            <a:br>
              <a:rPr lang="ru-RU" sz="3600">
                <a:solidFill>
                  <a:schemeClr val="bg1"/>
                </a:solidFill>
              </a:rPr>
            </a:br>
            <a:r>
              <a:rPr lang="ru-RU" sz="3600">
                <a:solidFill>
                  <a:schemeClr val="bg1"/>
                </a:solidFill>
              </a:rPr>
              <a:t>общая структура</a:t>
            </a:r>
            <a:endParaRPr/>
          </a:p>
        </p:txBody>
      </p:sp>
      <p:pic>
        <p:nvPicPr>
          <p:cNvPr id="792293840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057989" y="1944097"/>
            <a:ext cx="7983821" cy="40385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920620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208734" y="1552574"/>
            <a:ext cx="4736810" cy="49402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Предназначен для передачи данных между внешней памятью и вычислительными блоками;</a:t>
            </a:r>
            <a:endParaRPr/>
          </a:p>
          <a:p>
            <a:pPr>
              <a:defRPr/>
            </a:pPr>
            <a:r>
              <a:rPr lang="ru-RU"/>
              <a:t>Может только загружать</a:t>
            </a:r>
            <a:r>
              <a:rPr lang="en-US"/>
              <a:t> (LOAD)</a:t>
            </a:r>
            <a:r>
              <a:rPr lang="ru-RU"/>
              <a:t> или сохранять</a:t>
            </a:r>
            <a:r>
              <a:rPr lang="en-US"/>
              <a:t> (STORE)</a:t>
            </a:r>
            <a:r>
              <a:rPr lang="ru-RU"/>
              <a:t> данные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ru-RU"/>
              <a:t>Работает </a:t>
            </a:r>
            <a:r>
              <a:rPr lang="ru-RU"/>
              <a:t>только при получении </a:t>
            </a:r>
            <a:r>
              <a:rPr lang="en-US"/>
              <a:t>LD/ST </a:t>
            </a:r>
            <a:r>
              <a:rPr lang="ru-RU"/>
              <a:t>инструкции</a:t>
            </a:r>
            <a:r>
              <a:rPr lang="ru-RU"/>
              <a:t>.</a:t>
            </a:r>
            <a:endParaRPr/>
          </a:p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32915043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3268CEBC-6C76-D4A5-843E-7A9602BB4FE0}" type="slidenum">
              <a:rPr lang="ru-RU" sz="1800">
                <a:solidFill>
                  <a:schemeClr val="tx1"/>
                </a:solidFill>
                <a:latin typeface="Trebuchet MS"/>
              </a:rPr>
              <a:t>9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2058404542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12630877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035598514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45985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Блок загрузки и сохранения</a:t>
            </a:r>
            <a:endParaRPr/>
          </a:p>
        </p:txBody>
      </p:sp>
      <p:pic>
        <p:nvPicPr>
          <p:cNvPr id="60031363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862512" y="2376487"/>
            <a:ext cx="6550581" cy="23383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5841711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0" y="1350173"/>
            <a:ext cx="5668349" cy="550782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/>
              <a:t>Арбитр </a:t>
            </a:r>
            <a:r>
              <a:rPr lang="ru-RU"/>
              <a:t>отслеживает запросы к памяти данных от вычислительных блоков;</a:t>
            </a:r>
            <a:endParaRPr/>
          </a:p>
          <a:p>
            <a:pPr>
              <a:defRPr/>
            </a:pPr>
            <a:r>
              <a:rPr lang="en-US"/>
              <a:t>LSU</a:t>
            </a:r>
            <a:r>
              <a:rPr lang="ru-RU"/>
              <a:t> выполняет запросы в порядке очереди (</a:t>
            </a:r>
            <a:r>
              <a:rPr lang="en-US"/>
              <a:t>round-robin</a:t>
            </a:r>
            <a:r>
              <a:rPr lang="ru-RU"/>
              <a:t>);</a:t>
            </a:r>
            <a:endParaRPr lang="ru-RU"/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Арбитр 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управляет 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демультиплексором считанных данных и мультиплексором записываемых данных.</a:t>
            </a:r>
            <a:endParaRPr/>
          </a:p>
        </p:txBody>
      </p:sp>
      <p:sp>
        <p:nvSpPr>
          <p:cNvPr id="213354558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9687AD8-1A48-903E-417E-81FF292386D7}" type="slidenum">
              <a:rPr lang="ru-RU" sz="1800">
                <a:solidFill>
                  <a:schemeClr val="tx1"/>
                </a:solidFill>
                <a:latin typeface="Trebuchet MS"/>
              </a:rPr>
              <a:t>10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063521747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96588799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34403629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10415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Интерконнект</a:t>
            </a:r>
            <a:r>
              <a:rPr lang="ru-RU" sz="3600">
                <a:solidFill>
                  <a:schemeClr val="bg1"/>
                </a:solidFill>
              </a:rPr>
              <a:t> между </a:t>
            </a:r>
            <a:r>
              <a:rPr lang="en-US" sz="3600">
                <a:solidFill>
                  <a:schemeClr val="bg1"/>
                </a:solidFill>
              </a:rPr>
              <a:t>LSU </a:t>
            </a:r>
            <a:r>
              <a:rPr lang="ru-RU" sz="3600">
                <a:solidFill>
                  <a:schemeClr val="bg1"/>
                </a:solidFill>
              </a:rPr>
              <a:t>и потоками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035594074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534024" y="1452562"/>
            <a:ext cx="5706450" cy="47698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941245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77174" y="1350173"/>
            <a:ext cx="6838949" cy="550782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/>
              <a:t>Fetcher – </a:t>
            </a:r>
            <a:r>
              <a:rPr lang="ru-RU"/>
              <a:t>блок загрузки инструкций из памяти программ. Вычитывает инструкцию на которую указывает счётчик инструкций (</a:t>
            </a:r>
            <a:r>
              <a:rPr lang="en-US"/>
              <a:t>PC – program counter</a:t>
            </a:r>
            <a:r>
              <a:rPr lang="ru-RU"/>
              <a:t>);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– преобразование инструкций в </a:t>
            </a:r>
            <a:r>
              <a:rPr lang="ru-RU"/>
              <a:t>управляющие сигналы для исполнительных блоков (</a:t>
            </a:r>
            <a:r>
              <a:rPr lang="en-US"/>
              <a:t>TU, LSU</a:t>
            </a:r>
            <a:r>
              <a:rPr lang="ru-RU"/>
              <a:t>)</a:t>
            </a:r>
            <a:r>
              <a:rPr lang="en-US"/>
              <a:t>.</a:t>
            </a:r>
            <a:endParaRPr/>
          </a:p>
        </p:txBody>
      </p:sp>
      <p:sp>
        <p:nvSpPr>
          <p:cNvPr id="1083974936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6E0C4E4E-F03C-EE6B-08CF-E8796A069A1F}" type="slidenum">
              <a:rPr lang="ru-RU" sz="1800">
                <a:solidFill>
                  <a:schemeClr val="tx1"/>
                </a:solidFill>
                <a:latin typeface="Trebuchet MS"/>
              </a:rPr>
              <a:t>11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511801505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388520019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66017754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10415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600">
                <a:solidFill>
                  <a:schemeClr val="bg1"/>
                </a:solidFill>
              </a:rPr>
              <a:t>Fetcher &amp; Decoder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711475362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7068524" y="1646902"/>
            <a:ext cx="3747112" cy="48459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8353479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156445" y="1959773"/>
            <a:ext cx="4816578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1600"/>
              <a:t>В результате работы:</a:t>
            </a:r>
            <a:endParaRPr sz="1600"/>
          </a:p>
          <a:p>
            <a:pPr lvl="1">
              <a:defRPr/>
            </a:pPr>
            <a:r>
              <a:rPr lang="ru-RU" sz="1600"/>
              <a:t>Проведен анализ существующих архитектур графических процессоров и ядер</a:t>
            </a:r>
            <a:r>
              <a:rPr lang="en-US" sz="1600"/>
              <a:t>;</a:t>
            </a:r>
            <a:endParaRPr sz="1600"/>
          </a:p>
          <a:p>
            <a:pPr lvl="1">
              <a:defRPr/>
            </a:pPr>
            <a:r>
              <a:rPr lang="ru-RU" sz="1600"/>
              <a:t>Спроектирована минимально необходимая архитектура набора инструкций </a:t>
            </a:r>
            <a:r>
              <a:rPr lang="en-US" sz="1600"/>
              <a:t>(ISA);</a:t>
            </a:r>
            <a:endParaRPr sz="1600"/>
          </a:p>
          <a:p>
            <a:pPr lvl="1">
              <a:defRPr/>
            </a:pPr>
            <a:r>
              <a:rPr lang="ru-RU" sz="1600"/>
              <a:t>Разработана архитектура упрощенного графического ядра с использованием метода поблочной декомпозиции;</a:t>
            </a:r>
            <a:endParaRPr sz="1600"/>
          </a:p>
          <a:p>
            <a:pPr lvl="1">
              <a:defRPr/>
            </a:pPr>
            <a:r>
              <a:rPr lang="ru-RU" sz="1600"/>
              <a:t>Разработана упрощенная модель графического ядра</a:t>
            </a:r>
            <a:r>
              <a:rPr lang="en-US" sz="1600"/>
              <a:t> </a:t>
            </a:r>
            <a:r>
              <a:rPr lang="ru-RU" sz="1600"/>
              <a:t>на языке описания аппаратуры </a:t>
            </a:r>
            <a:r>
              <a:rPr lang="en-US" sz="1600"/>
              <a:t>SystemVerilog</a:t>
            </a:r>
            <a:r>
              <a:rPr lang="ru-RU" sz="1600"/>
              <a:t>.</a:t>
            </a:r>
            <a:endParaRPr sz="1600"/>
          </a:p>
        </p:txBody>
      </p:sp>
      <p:sp>
        <p:nvSpPr>
          <p:cNvPr id="176050996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13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640739623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335280813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774046090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0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Заключение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53511336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952470" y="1438274"/>
            <a:ext cx="7184591" cy="49053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4651927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Обзор аналогов 2D графических ускорителей во встроенных системах / И.А. Дудкин, Д.М. Старухин, В.В. Черкасов \/\/ Математика, информационные технологии, приложения : сборник материалов Межвузовской научной конференции «Математика, информационные технологии, приложения» (Воронеж, 24-25 апреля 2025 г.). -- Воронеж : Издательско-полиграфический центр «Научная книга», 2025. -- С.209-216</a:t>
            </a:r>
            <a:endParaRPr sz="4800">
              <a:solidFill>
                <a:schemeClr val="bg1"/>
              </a:solidFill>
              <a:latin typeface="Trebuchet MS"/>
              <a:cs typeface="Trebuchet MS"/>
            </a:endParaRPr>
          </a:p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</a:t>
            </a:r>
            <a: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Разработка архитектуры аппаратной реализации 2D графического ускорителя / И.А. Дудкин, Д.М. Старухин, В.В. Черкасов \/\/ Актуальные проблемы прикладной математики, информатики и механики : сборник материалов Международной научной конференции «Актуальные проблемы прикладной математики, информатики и механики» (Воронеж, 1-3 декабря 2025 г.). -- Воронеж : ООО «Издательство Прометей», 2026. -- С.1584-1588.</a:t>
            </a:r>
            <a:b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</a:br>
            <a:endParaRPr lang="ru-RU">
              <a:solidFill>
                <a:schemeClr val="bg1"/>
              </a:solidFill>
            </a:endParaRPr>
          </a:p>
        </p:txBody>
      </p:sp>
      <p:sp>
        <p:nvSpPr>
          <p:cNvPr id="200876724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438935459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04451494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723042891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1825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Публикация статьи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45670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4492722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279456680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607240024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0931380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78986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Спасибо за внимание!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15</Slides>
  <Notes>15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упрощенного графического ускорителя. Разработка модели упрощенного графического ядра.</dc:title>
  <dc:creator>Ewencen Sicl</dc:creator>
  <cp:lastModifiedBy/>
  <cp:revision>36</cp:revision>
  <dcterms:created xsi:type="dcterms:W3CDTF">2026-06-01T16:03:18Z</dcterms:created>
  <dcterms:modified xsi:type="dcterms:W3CDTF">2026-06-03T13:29:17Z</dcterms:modified>
</cp:coreProperties>
</file>