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Layouts/slideLayout12.xml" ContentType="application/vnd.openxmlformats-officedocument.presentationml.slideLayout+xml"/>
  <Override PartName="/ppt/notesSlides/notesSlide3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19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61" d="100"/>
          <a:sy n="161" d="100"/>
        </p:scale>
        <p:origin x="150" y="180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600042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20215679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BF8B4CA-290A-45FF-AF47-6D7BC9CA84C9}" type="datetimeFigureOut">
              <a:rPr lang="ru-RU"/>
              <a:t>01.06.2026</a:t>
            </a:fld>
            <a:endParaRPr lang="ru-RU"/>
          </a:p>
        </p:txBody>
      </p:sp>
      <p:sp>
        <p:nvSpPr>
          <p:cNvPr id="810129978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369944346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7417343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89613254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A4505C3-1B66-4F80-910D-E8795C33F31E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993D39-5D40-723A-B7F6-46DBB08A9A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F5C7D0-D7BE-2C63-050F-1DAFA286B6D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0EB7B1-6B7D-5CE5-D95F-5ED0A723250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55F3D9-BDFF-EDB5-6FC0-3B806BA109F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768EC4-D344-67C3-1C24-CF724D34C29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A0886C-666E-9836-41C4-83E600BD96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137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407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643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902816-76A5-4AF4-1E9E-ABAE37AB74E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170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120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399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9DD143-F230-8BE5-DF47-2F712C202B3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1121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83486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910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8E094-64B7-2766-BCC3-6C48145F116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67599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47496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1699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B0B4-A097-EC80-6511-5CB349CFD09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1104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23588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4978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FE7883-973B-878E-357F-41AA8BFE454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93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2391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850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9BC998-3455-E361-253C-3B87DD69CA9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3C25AB-F75B-ED55-9B43-2E895322D2B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3B1206-5BC8-D1E1-57C3-7D177AE62E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8C1104-84A8-CC17-258A-A96B99F9A9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09211206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1050962785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365040855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21629349" name="Rectangle 9"/>
          <p:cNvSpPr/>
          <p:nvPr/>
        </p:nvSpPr>
        <p:spPr bwMode="auto"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12896447" name="Title 1"/>
          <p:cNvSpPr>
            <a:spLocks noGrp="1"/>
          </p:cNvSpPr>
          <p:nvPr>
            <p:ph type="ctrTitle"/>
          </p:nvPr>
        </p:nvSpPr>
        <p:spPr bwMode="auto"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28725798" name="Subtitle 2"/>
          <p:cNvSpPr>
            <a:spLocks noGrp="1"/>
          </p:cNvSpPr>
          <p:nvPr>
            <p:ph type="subTitle" idx="1"/>
          </p:nvPr>
        </p:nvSpPr>
        <p:spPr bwMode="auto"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2421084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C87845-B621-4B17-903D-93BF1A821425}" type="datetime1">
              <a:rPr lang="ru-RU"/>
              <a:t>01.06.2026</a:t>
            </a:fld>
            <a:endParaRPr lang="ru-RU"/>
          </a:p>
        </p:txBody>
      </p:sp>
      <p:sp>
        <p:nvSpPr>
          <p:cNvPr id="16045404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02498814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134059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346934239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43553658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46760464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581889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0679286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16525002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C1A837A-CDC3-4DC4-B265-8ABB10AE13E8}" type="datetime1">
              <a:rPr lang="ru-RU"/>
              <a:t>01.06.2026</a:t>
            </a:fld>
            <a:endParaRPr lang="ru-RU"/>
          </a:p>
        </p:txBody>
      </p:sp>
      <p:sp>
        <p:nvSpPr>
          <p:cNvPr id="12681080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4022686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529768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-1" y="4086906"/>
            <a:ext cx="10437812" cy="321164"/>
          </a:xfrm>
          <a:prstGeom prst="rect">
            <a:avLst/>
          </a:prstGeom>
        </p:spPr>
      </p:pic>
      <p:pic>
        <p:nvPicPr>
          <p:cNvPr id="1666246801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771321538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6525487" name="Rectangle 9"/>
          <p:cNvSpPr/>
          <p:nvPr/>
        </p:nvSpPr>
        <p:spPr bwMode="auto"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66024620" name="Title 1"/>
          <p:cNvSpPr>
            <a:spLocks noGrp="1"/>
          </p:cNvSpPr>
          <p:nvPr>
            <p:ph type="title"/>
          </p:nvPr>
        </p:nvSpPr>
        <p:spPr bwMode="auto"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147325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943075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7BEA492-B2C1-4654-A294-884459A9115A}" type="datetime1">
              <a:rPr lang="ru-RU"/>
              <a:t>01.06.2026</a:t>
            </a:fld>
            <a:endParaRPr lang="ru-RU"/>
          </a:p>
        </p:txBody>
      </p:sp>
      <p:sp>
        <p:nvSpPr>
          <p:cNvPr id="141010472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96154127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19548034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920338069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8033058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41279721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4644811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5856490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0319" y="2336873"/>
            <a:ext cx="46983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5628943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594123" y="2336873"/>
            <a:ext cx="47000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20749186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2AAC8AC-D59C-4FBB-8E84-366B4D8176D0}" type="datetime1">
              <a:rPr lang="ru-RU"/>
              <a:t>01.06.2026</a:t>
            </a:fld>
            <a:endParaRPr lang="ru-RU"/>
          </a:p>
        </p:txBody>
      </p:sp>
      <p:sp>
        <p:nvSpPr>
          <p:cNvPr id="127298294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9615523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42211627" name="Picture 9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58991798" name="Picture 10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892305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33220948" name="Rectangle 12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07038339" name="Title 1"/>
          <p:cNvSpPr>
            <a:spLocks noGrp="1"/>
          </p:cNvSpPr>
          <p:nvPr>
            <p:ph type="title"/>
          </p:nvPr>
        </p:nvSpPr>
        <p:spPr bwMode="auto">
          <a:xfrm>
            <a:off x="680319" y="753229"/>
            <a:ext cx="9613863" cy="1080937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2877343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06349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315980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0322" y="3030008"/>
            <a:ext cx="4698355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21262744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953118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594123" y="3030008"/>
            <a:ext cx="4700059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05525940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9D85BA6-F490-4E1F-A117-2CC302D5F467}" type="datetime1">
              <a:rPr lang="ru-RU"/>
              <a:t>01.06.2026</a:t>
            </a:fld>
            <a:endParaRPr lang="ru-RU"/>
          </a:p>
        </p:txBody>
      </p:sp>
      <p:sp>
        <p:nvSpPr>
          <p:cNvPr id="110264390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1278376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2245974" name="Picture 5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85598967" name="Picture 6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432628426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85589091" name="Rectangle 8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390695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27575949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29ED90D-AFD6-42C1-85C6-CF99FBC4C833}" type="datetime1">
              <a:rPr lang="ru-RU"/>
              <a:t>01.06.2026</a:t>
            </a:fld>
            <a:endParaRPr lang="ru-RU"/>
          </a:p>
        </p:txBody>
      </p:sp>
      <p:sp>
        <p:nvSpPr>
          <p:cNvPr id="146323628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3410347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87658235" name="Picture 4" descr="HD-ShadowShort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12259942" name="Rectangle 5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0460049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ED0C28E-1AAB-4940-A618-82A4AEEBD04E}" type="datetime1">
              <a:rPr lang="ru-RU"/>
              <a:t>01.06.2026</a:t>
            </a:fld>
            <a:endParaRPr lang="ru-RU"/>
          </a:p>
        </p:txBody>
      </p:sp>
      <p:sp>
        <p:nvSpPr>
          <p:cNvPr id="192867952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6903032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4990275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279894507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043073624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1696836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26398279" name="Title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8288078" name="Content Placeholder 2"/>
          <p:cNvSpPr>
            <a:spLocks noGrp="1"/>
          </p:cNvSpPr>
          <p:nvPr>
            <p:ph idx="1"/>
          </p:nvPr>
        </p:nvSpPr>
        <p:spPr bwMode="auto">
          <a:xfrm>
            <a:off x="4685846" y="2336873"/>
            <a:ext cx="5608336" cy="3599313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3190883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73156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D33F6C0-CC67-46E7-A4C1-44185FCC4C9F}" type="datetime1">
              <a:rPr lang="ru-RU"/>
              <a:t>01.06.2026</a:t>
            </a:fld>
            <a:endParaRPr lang="ru-RU"/>
          </a:p>
        </p:txBody>
      </p:sp>
      <p:sp>
        <p:nvSpPr>
          <p:cNvPr id="213966707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2202188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75428653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342011102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842717191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73730678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22164944" name="Title 1"/>
          <p:cNvSpPr>
            <a:spLocks noGrp="1"/>
          </p:cNvSpPr>
          <p:nvPr>
            <p:ph type="title"/>
          </p:nvPr>
        </p:nvSpPr>
        <p:spPr bwMode="auto">
          <a:xfrm>
            <a:off x="680323" y="753227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95134722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4868332" y="2336874"/>
            <a:ext cx="5425849" cy="3599312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37111769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8347686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7C135C7-FEC2-4E72-B7AE-897AE27E5904}" type="datetime1">
              <a:rPr lang="ru-RU"/>
              <a:t>01.06.2026</a:t>
            </a:fld>
            <a:endParaRPr lang="ru-RU"/>
          </a:p>
        </p:txBody>
      </p:sp>
      <p:sp>
        <p:nvSpPr>
          <p:cNvPr id="81251195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2899974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анорамная фотография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1372903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613257239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5781675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39881770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45690459" name="Title 1"/>
          <p:cNvSpPr>
            <a:spLocks noGrp="1"/>
          </p:cNvSpPr>
          <p:nvPr>
            <p:ph type="title"/>
          </p:nvPr>
        </p:nvSpPr>
        <p:spPr bwMode="auto"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393216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680322" y="609597"/>
            <a:ext cx="9613859" cy="3589574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45520034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2668745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4EFA2AB-F839-4A44-950B-95EA003533DF}" type="datetime1">
              <a:rPr lang="ru-RU"/>
              <a:t>01.06.2026</a:t>
            </a:fld>
            <a:endParaRPr lang="ru-RU"/>
          </a:p>
        </p:txBody>
      </p:sp>
      <p:sp>
        <p:nvSpPr>
          <p:cNvPr id="191477591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591859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подпис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64341191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395590212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295152757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78457107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04919064" name="Title 1"/>
          <p:cNvSpPr>
            <a:spLocks noGrp="1"/>
          </p:cNvSpPr>
          <p:nvPr>
            <p:ph type="title"/>
          </p:nvPr>
        </p:nvSpPr>
        <p:spPr bwMode="auto"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33698719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7867371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24A0CC5-B245-472E-AF57-AEB0B807CF20}" type="datetime1">
              <a:rPr lang="ru-RU"/>
              <a:t>01.06.2026</a:t>
            </a:fld>
            <a:endParaRPr lang="ru-RU"/>
          </a:p>
        </p:txBody>
      </p:sp>
      <p:sp>
        <p:nvSpPr>
          <p:cNvPr id="114067796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7775505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Цитата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98309954" name="Picture 10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566185227" name="Picture 12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720301802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78297690" name="Rectangle 14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62823921" name="Title 1"/>
          <p:cNvSpPr>
            <a:spLocks noGrp="1"/>
          </p:cNvSpPr>
          <p:nvPr>
            <p:ph type="title"/>
          </p:nvPr>
        </p:nvSpPr>
        <p:spPr bwMode="auto"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509123735" name="Text Placeholder 3"/>
          <p:cNvSpPr>
            <a:spLocks noGrp="1"/>
          </p:cNvSpPr>
          <p:nvPr>
            <p:ph type="body" sz="half" idx="13"/>
          </p:nvPr>
        </p:nvSpPr>
        <p:spPr bwMode="auto"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2789416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318163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EAFB361-7216-413F-80CA-9CAE525DAE41}" type="datetime1">
              <a:rPr lang="ru-RU"/>
              <a:t>01.06.2026</a:t>
            </a:fld>
            <a:endParaRPr lang="ru-RU"/>
          </a:p>
        </p:txBody>
      </p:sp>
      <p:sp>
        <p:nvSpPr>
          <p:cNvPr id="212327382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22435892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  <p:sp>
        <p:nvSpPr>
          <p:cNvPr id="964732029" name="TextBox 15"/>
          <p:cNvSpPr txBox="1"/>
          <p:nvPr/>
        </p:nvSpPr>
        <p:spPr bwMode="auto">
          <a:xfrm>
            <a:off x="583572" y="748116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72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1583924282" name="TextBox 16"/>
          <p:cNvSpPr txBox="1"/>
          <p:nvPr/>
        </p:nvSpPr>
        <p:spPr bwMode="auto">
          <a:xfrm>
            <a:off x="9662809" y="3033524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7200">
                <a:solidFill>
                  <a:schemeClr val="tx1"/>
                </a:solidFill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арточка имен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1943642" name="Picture 8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988248187" name="Picture 9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545825747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55113912" name="Rectangle 11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96869761" name="Title 1"/>
          <p:cNvSpPr>
            <a:spLocks noGrp="1"/>
          </p:cNvSpPr>
          <p:nvPr>
            <p:ph type="title"/>
          </p:nvPr>
        </p:nvSpPr>
        <p:spPr bwMode="auto"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5578098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9944983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0C319CB-0B23-4CFE-96CE-45AA0E5B0BBA}" type="datetime1">
              <a:rPr lang="ru-RU"/>
              <a:t>01.06.2026</a:t>
            </a:fld>
            <a:endParaRPr lang="ru-RU"/>
          </a:p>
        </p:txBody>
      </p:sp>
      <p:sp>
        <p:nvSpPr>
          <p:cNvPr id="195751255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71711154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ри колонк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797715" name="Picture 12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265163642" name="Picture 13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356387955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40101535" name="Rectangle 16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5775338" name="Title 1"/>
          <p:cNvSpPr>
            <a:spLocks noGrp="1"/>
          </p:cNvSpPr>
          <p:nvPr>
            <p:ph type="title"/>
          </p:nvPr>
        </p:nvSpPr>
        <p:spPr bwMode="auto">
          <a:xfrm>
            <a:off x="669222" y="753227"/>
            <a:ext cx="96249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77753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1948938" name="Text Placeholder 3"/>
          <p:cNvSpPr>
            <a:spLocks noGrp="1"/>
          </p:cNvSpPr>
          <p:nvPr>
            <p:ph type="body" sz="half" idx="15"/>
          </p:nvPr>
        </p:nvSpPr>
        <p:spPr bwMode="auto"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14535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838856" name="Text Placeholder 3"/>
          <p:cNvSpPr>
            <a:spLocks noGrp="1"/>
          </p:cNvSpPr>
          <p:nvPr>
            <p:ph type="body" sz="half" idx="16"/>
          </p:nvPr>
        </p:nvSpPr>
        <p:spPr bwMode="auto"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838342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8975096" name="Text Placeholder 3"/>
          <p:cNvSpPr>
            <a:spLocks noGrp="1"/>
          </p:cNvSpPr>
          <p:nvPr>
            <p:ph type="body" sz="half" idx="17"/>
          </p:nvPr>
        </p:nvSpPr>
        <p:spPr bwMode="auto"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831138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3D50390-CEDD-4FD5-B155-435C15905F75}" type="datetime1">
              <a:rPr lang="ru-RU"/>
              <a:t>01.06.2026</a:t>
            </a:fld>
            <a:endParaRPr lang="ru-RU"/>
          </a:p>
        </p:txBody>
      </p:sp>
      <p:sp>
        <p:nvSpPr>
          <p:cNvPr id="34125432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8851813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олбец с тремя рисункам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5116697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41189257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54090862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43203097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17889252" name="Title 1"/>
          <p:cNvSpPr>
            <a:spLocks noGrp="1"/>
          </p:cNvSpPr>
          <p:nvPr>
            <p:ph type="title"/>
          </p:nvPr>
        </p:nvSpPr>
        <p:spPr bwMode="auto">
          <a:xfrm>
            <a:off x="680322" y="753227"/>
            <a:ext cx="96138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95598728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70286965" name="Picture Placeholder 2"/>
          <p:cNvSpPr>
            <a:spLocks noChangeAspect="1" noGrp="1"/>
          </p:cNvSpPr>
          <p:nvPr>
            <p:ph type="pic" idx="15"/>
          </p:nvPr>
        </p:nvSpPr>
        <p:spPr bwMode="auto"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268466834" name="Text Placeholder 3"/>
          <p:cNvSpPr>
            <a:spLocks noGrp="1"/>
          </p:cNvSpPr>
          <p:nvPr>
            <p:ph type="body" sz="half" idx="18"/>
          </p:nvPr>
        </p:nvSpPr>
        <p:spPr bwMode="auto"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247630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55148989" name="Picture Placeholder 2"/>
          <p:cNvSpPr>
            <a:spLocks noChangeAspect="1" noGrp="1"/>
          </p:cNvSpPr>
          <p:nvPr>
            <p:ph type="pic" idx="21"/>
          </p:nvPr>
        </p:nvSpPr>
        <p:spPr bwMode="auto"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8943585" name="Text Placeholder 3"/>
          <p:cNvSpPr>
            <a:spLocks noGrp="1"/>
          </p:cNvSpPr>
          <p:nvPr>
            <p:ph type="body" sz="half" idx="19"/>
          </p:nvPr>
        </p:nvSpPr>
        <p:spPr bwMode="auto"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0377680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29398258" name="Picture Placeholder 2"/>
          <p:cNvSpPr>
            <a:spLocks noChangeAspect="1" noGrp="1"/>
          </p:cNvSpPr>
          <p:nvPr>
            <p:ph type="pic" idx="22"/>
          </p:nvPr>
        </p:nvSpPr>
        <p:spPr bwMode="auto"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2076614127" name="Text Placeholder 3"/>
          <p:cNvSpPr>
            <a:spLocks noGrp="1"/>
          </p:cNvSpPr>
          <p:nvPr>
            <p:ph type="body" sz="half" idx="20"/>
          </p:nvPr>
        </p:nvSpPr>
        <p:spPr bwMode="auto"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7900549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A3FF197-965B-4EEB-95A1-0243C61984BC}" type="datetime1">
              <a:rPr lang="ru-RU"/>
              <a:t>01.06.2026</a:t>
            </a:fld>
            <a:endParaRPr lang="ru-RU"/>
          </a:p>
        </p:txBody>
      </p:sp>
      <p:sp>
        <p:nvSpPr>
          <p:cNvPr id="14027264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3644941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418109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5723357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32203253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82143054" name="Rectangle 9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876124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44965961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1724112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BB2CE28-736B-48E2-99ED-0BD52E05726A}" type="datetime1">
              <a:rPr lang="ru-RU"/>
              <a:t>01.06.2026</a:t>
            </a:fld>
            <a:endParaRPr lang="ru-RU"/>
          </a:p>
        </p:txBody>
      </p:sp>
      <p:sp>
        <p:nvSpPr>
          <p:cNvPr id="16285395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419536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4517991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657084" name="Rectangle 7"/>
          <p:cNvSpPr/>
          <p:nvPr/>
        </p:nvSpPr>
        <p:spPr bwMode="auto"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0070518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10129231" y="609597"/>
            <a:ext cx="1073802" cy="4353760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9077264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0322" y="609597"/>
            <a:ext cx="8870004" cy="5326589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482094764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807126" y="5936187"/>
            <a:ext cx="2743200" cy="365125"/>
          </a:xfrm>
        </p:spPr>
        <p:txBody>
          <a:bodyPr/>
          <a:lstStyle/>
          <a:p>
            <a:pPr>
              <a:defRPr/>
            </a:pPr>
            <a:fld id="{D4606681-2AC3-4131-96D3-70EDB21AFA15}" type="datetime1">
              <a:rPr lang="ru-RU"/>
              <a:t>01.06.2026</a:t>
            </a:fld>
            <a:endParaRPr lang="ru-RU"/>
          </a:p>
        </p:txBody>
      </p:sp>
      <p:sp>
        <p:nvSpPr>
          <p:cNvPr id="1354453286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680321" y="5936188"/>
            <a:ext cx="6126805" cy="365125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2046452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3">
        <a:schemeClr val="bg2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61370531" name="Picture 6" descr="hashOverlay-FullResolve.png"/>
          <p:cNvPicPr>
            <a:picLocks noChangeAspect="1"/>
          </p:cNvPicPr>
          <p:nvPr/>
        </p:nvPicPr>
        <p:blipFill rotWithShape="1">
          <a:blip r:embed="rId19">
            <a:alphaModFix amt="10000"/>
          </a:blip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83798839" name="Title Placeholder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51898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38766541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804B51F-D699-4AE5-A8B3-5473B1D05C3C}" type="datetime1">
              <a:rPr lang="ru-RU"/>
              <a:t>01.06.2026</a:t>
            </a:fld>
            <a:endParaRPr lang="ru-RU"/>
          </a:p>
        </p:txBody>
      </p:sp>
      <p:sp>
        <p:nvSpPr>
          <p:cNvPr id="149377116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14659706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36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6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6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4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4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4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4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media1.svg"/><Relationship Id="rId6" Type="http://schemas.openxmlformats.org/officeDocument/2006/relationships/image" Target="../media/image8.png"/><Relationship Id="rId7" Type="http://schemas.openxmlformats.org/officeDocument/2006/relationships/image" Target="../media/media2.sv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media3.sv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media4.sv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media5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media6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media7.sv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media8.sv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431685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73183" y="2660072"/>
            <a:ext cx="8645236" cy="1427431"/>
          </a:xfrm>
        </p:spPr>
        <p:txBody>
          <a:bodyPr>
            <a:noAutofit/>
          </a:bodyPr>
          <a:lstStyle/>
          <a:p>
            <a:pPr algn="r">
              <a:defRPr/>
            </a:pPr>
            <a:r>
              <a:rPr lang="ru-RU" sz="3200">
                <a:solidFill>
                  <a:srgbClr val="FFFFFF"/>
                </a:solidFill>
              </a:rPr>
              <a:t>Разработка упрощенного графического ускорителя. Разработка модели упрощенного графического ядра.</a:t>
            </a:r>
            <a:endParaRPr/>
          </a:p>
        </p:txBody>
      </p:sp>
      <p:sp>
        <p:nvSpPr>
          <p:cNvPr id="182112916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6006607" y="5400571"/>
            <a:ext cx="6051236" cy="1241828"/>
          </a:xfrm>
        </p:spPr>
        <p:txBody>
          <a:bodyPr>
            <a:normAutofit fontScale="92500" lnSpcReduction="20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</a:t>
            </a:r>
            <a:r>
              <a:rPr lang="ru-RU">
                <a:solidFill>
                  <a:schemeClr val="bg1"/>
                </a:solidFill>
              </a:rPr>
              <a:t>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16581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Введение</a:t>
            </a:r>
            <a:endParaRPr/>
          </a:p>
        </p:txBody>
      </p:sp>
      <p:sp>
        <p:nvSpPr>
          <p:cNvPr id="157565831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735863837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2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214686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Постановка задачи</a:t>
            </a:r>
            <a:endParaRPr/>
          </a:p>
        </p:txBody>
      </p:sp>
      <p:sp>
        <p:nvSpPr>
          <p:cNvPr id="986220934" name="Объект 2"/>
          <p:cNvSpPr>
            <a:spLocks noGrp="1"/>
          </p:cNvSpPr>
          <p:nvPr>
            <p:ph idx="1"/>
          </p:nvPr>
        </p:nvSpPr>
        <p:spPr bwMode="auto">
          <a:xfrm>
            <a:off x="680321" y="2336873"/>
            <a:ext cx="11284069" cy="3599316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Цели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Разработать упрощенную модель графического ядра на языке описания аппаратуры </a:t>
            </a:r>
            <a:r>
              <a:rPr lang="en-US">
                <a:solidFill>
                  <a:schemeClr val="bg1"/>
                </a:solidFill>
              </a:rPr>
              <a:t>SystemVerilog</a:t>
            </a:r>
            <a:r>
              <a:rPr lang="ru-RU">
                <a:solidFill>
                  <a:schemeClr val="bg1"/>
                </a:solidFill>
              </a:rPr>
              <a:t>.</a:t>
            </a:r>
            <a:endParaRPr/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Задачи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Провести анализ существующих архитектур графических процессоров и ядер;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Спроектировать минимальную необходимую архитектуру набора инструкций (</a:t>
            </a:r>
            <a:r>
              <a:rPr lang="en-US">
                <a:solidFill>
                  <a:schemeClr val="bg1"/>
                </a:solidFill>
              </a:rPr>
              <a:t>ISA)</a:t>
            </a:r>
            <a:r>
              <a:rPr lang="ru-RU">
                <a:solidFill>
                  <a:schemeClr val="bg1"/>
                </a:solidFill>
              </a:rPr>
              <a:t>;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Разработать архитектуру упрощенного графического ядра;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Разработать модель упрощенного графического ядра, используя метод поблочной декомпозиции.</a:t>
            </a:r>
            <a:endParaRPr/>
          </a:p>
        </p:txBody>
      </p:sp>
      <p:sp>
        <p:nvSpPr>
          <p:cNvPr id="1424599218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61765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Актуальность работы</a:t>
            </a:r>
            <a:endParaRPr/>
          </a:p>
        </p:txBody>
      </p:sp>
      <p:sp>
        <p:nvSpPr>
          <p:cNvPr id="453060729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37530068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8579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Обзор существующих архитектур</a:t>
            </a:r>
            <a:endParaRPr/>
          </a:p>
        </p:txBody>
      </p:sp>
      <p:sp>
        <p:nvSpPr>
          <p:cNvPr id="1144536380" name="Объект 2"/>
          <p:cNvSpPr>
            <a:spLocks noGrp="1"/>
          </p:cNvSpPr>
          <p:nvPr>
            <p:ph idx="1"/>
          </p:nvPr>
        </p:nvSpPr>
        <p:spPr bwMode="auto">
          <a:xfrm>
            <a:off x="384085" y="2140769"/>
            <a:ext cx="4414193" cy="3599316"/>
          </a:xfrm>
        </p:spPr>
        <p:txBody>
          <a:bodyPr/>
          <a:lstStyle/>
          <a:p>
            <a:pPr>
              <a:buFontTx/>
              <a:buChar char="-"/>
              <a:defRPr/>
            </a:pPr>
            <a:r>
              <a:rPr lang="ru-RU">
                <a:solidFill>
                  <a:schemeClr val="bg1"/>
                </a:solidFill>
              </a:rPr>
              <a:t>Все архитектуры имеют унифицированные вычислительные элементы</a:t>
            </a:r>
            <a:endParaRPr lang="ru-RU">
              <a:solidFill>
                <a:schemeClr val="bg1"/>
              </a:solidFill>
            </a:endParaRPr>
          </a:p>
          <a:p>
            <a:pPr>
              <a:buFontTx/>
              <a:buChar char="-"/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2065129326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5</a:t>
            </a:fld>
            <a:endParaRPr lang="ru-RU"/>
          </a:p>
        </p:txBody>
      </p:sp>
      <p:pic>
        <p:nvPicPr>
          <p:cNvPr id="363219215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751330" y="3494367"/>
            <a:ext cx="4035286" cy="3050099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23635919" name="Рисунок 7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07721" y="3494367"/>
            <a:ext cx="5609139" cy="3050099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1739972171" name=""/>
          <p:cNvSpPr txBox="1"/>
          <p:nvPr/>
        </p:nvSpPr>
        <p:spPr bwMode="auto">
          <a:xfrm rot="0" flipH="0" flipV="0">
            <a:off x="4798278" y="1844015"/>
            <a:ext cx="521050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909941608" name="Объект 2"/>
          <p:cNvSpPr>
            <a:spLocks noGrp="1"/>
          </p:cNvSpPr>
          <p:nvPr/>
        </p:nvSpPr>
        <p:spPr bwMode="auto">
          <a:xfrm flipH="0" flipV="0">
            <a:off x="4876176" y="2027075"/>
            <a:ext cx="4126837" cy="3231088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FontTx/>
              <a:buChar char="-"/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Применяются отдельные вычислители 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вещественных и целых данных</a:t>
            </a:r>
            <a:endParaRPr sz="2400">
              <a:solidFill>
                <a:schemeClr val="bg1"/>
              </a:solidFill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461559" name="Заголовок 1"/>
          <p:cNvSpPr>
            <a:spLocks noGrp="1"/>
          </p:cNvSpPr>
          <p:nvPr>
            <p:ph type="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r>
              <a:rPr lang="ru-RU"/>
              <a:t>Разработка модели графического ядра: разработка архитектуры набора инструкций </a:t>
            </a:r>
            <a:r>
              <a:rPr lang="en-US"/>
              <a:t>(ISA)</a:t>
            </a:r>
            <a:endParaRPr lang="ru-RU"/>
          </a:p>
        </p:txBody>
      </p:sp>
      <p:sp>
        <p:nvSpPr>
          <p:cNvPr id="1359258709" name="Объект 2"/>
          <p:cNvSpPr>
            <a:spLocks noGrp="1"/>
          </p:cNvSpPr>
          <p:nvPr>
            <p:ph idx="1"/>
          </p:nvPr>
        </p:nvSpPr>
        <p:spPr bwMode="auto">
          <a:xfrm>
            <a:off x="308759" y="2336873"/>
            <a:ext cx="3996046" cy="359931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Минимально необходимый набор инструкций взят с дампа промежуточного представления</a:t>
            </a:r>
            <a:r>
              <a:rPr lang="en-US">
                <a:solidFill>
                  <a:schemeClr val="bg1"/>
                </a:solidFill>
              </a:rPr>
              <a:t> VKCUBE</a:t>
            </a:r>
            <a:endParaRPr/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 качестве основы взята архитектура набора инструкций </a:t>
            </a:r>
            <a:r>
              <a:rPr lang="en-US">
                <a:solidFill>
                  <a:schemeClr val="bg1"/>
                </a:solidFill>
              </a:rPr>
              <a:t>RISC-V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296683772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13</a:t>
            </a:fld>
            <a:endParaRPr lang="ru-RU"/>
          </a:p>
        </p:txBody>
      </p:sp>
      <p:pic>
        <p:nvPicPr>
          <p:cNvPr id="165655821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394409" y="2475703"/>
            <a:ext cx="4522692" cy="1901649"/>
          </a:xfrm>
          <a:prstGeom prst="rect">
            <a:avLst/>
          </a:prstGeom>
          <a:ln w="28575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839524990" name="Рисунок 11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</p:blipFill>
        <p:spPr bwMode="auto">
          <a:xfrm flipH="0" flipV="0">
            <a:off x="4360834" y="4838043"/>
            <a:ext cx="4933574" cy="1810032"/>
          </a:xfrm>
          <a:prstGeom prst="rect">
            <a:avLst/>
          </a:prstGeom>
          <a:ln w="28575">
            <a:noFill/>
            <a:prstDash val="solid"/>
          </a:ln>
        </p:spPr>
      </p:pic>
      <p:pic>
        <p:nvPicPr>
          <p:cNvPr id="1421075016" name="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</p:blipFill>
        <p:spPr bwMode="auto">
          <a:xfrm flipH="0" flipV="0">
            <a:off x="4220305" y="2378237"/>
            <a:ext cx="2915269" cy="2101525"/>
          </a:xfrm>
          <a:prstGeom prst="rect">
            <a:avLst/>
          </a:prstGeom>
          <a:ln w="28575">
            <a:solidFill>
              <a:schemeClr val="accent1">
                <a:lumMod val="50196"/>
              </a:schemeClr>
            </a:solidFill>
            <a:prstDash val="solid"/>
          </a:ln>
        </p:spPr>
      </p:pic>
      <p:cxnSp>
        <p:nvCxnSpPr>
          <p:cNvPr id="23000171" name=""/>
          <p:cNvCxnSpPr>
            <a:stCxn id="165655821" idx="2"/>
          </p:cNvCxnSpPr>
          <p:nvPr/>
        </p:nvCxnSpPr>
        <p:spPr bwMode="auto">
          <a:xfrm rot="5400000" flipH="0" flipV="0">
            <a:off x="9245973" y="4425788"/>
            <a:ext cx="458218" cy="361346"/>
          </a:xfrm>
          <a:prstGeom prst="line">
            <a:avLst/>
          </a:prstGeom>
          <a:ln w="28575" cap="flat" cmpd="sng" algn="ctr">
            <a:solidFill>
              <a:schemeClr val="bg2">
                <a:lumMod val="50196"/>
              </a:schemeClr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1179738" name=""/>
          <p:cNvCxnSpPr>
            <a:stCxn id="165655821" idx="1"/>
            <a:endCxn id="1421075016" idx="3"/>
          </p:cNvCxnSpPr>
          <p:nvPr/>
        </p:nvCxnSpPr>
        <p:spPr bwMode="auto">
          <a:xfrm rot="10800000" flipH="0" flipV="1">
            <a:off x="7135575" y="3427763"/>
            <a:ext cx="258833" cy="0"/>
          </a:xfrm>
          <a:prstGeom prst="line">
            <a:avLst/>
          </a:prstGeom>
          <a:ln w="28575" cap="flat" cmpd="sng" algn="ctr">
            <a:solidFill>
              <a:schemeClr val="tx2">
                <a:lumMod val="10196"/>
              </a:schemeClr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938024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/>
              <a:t>: Общая структура ядра</a:t>
            </a:r>
            <a:endParaRPr/>
          </a:p>
        </p:txBody>
      </p:sp>
      <p:sp>
        <p:nvSpPr>
          <p:cNvPr id="950479278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80320" y="2336872"/>
            <a:ext cx="417651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Fetcher</a:t>
            </a:r>
            <a:r>
              <a:rPr lang="ru-RU">
                <a:solidFill>
                  <a:schemeClr val="bg1"/>
                </a:solidFill>
              </a:rPr>
              <a:t> захватывает инструкцию из памяти;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Decoder</a:t>
            </a:r>
            <a:r>
              <a:rPr lang="ru-RU">
                <a:solidFill>
                  <a:schemeClr val="bg1"/>
                </a:solidFill>
              </a:rPr>
              <a:t> декодирует инструкцию для передачи </a:t>
            </a:r>
            <a:r>
              <a:rPr lang="en-US">
                <a:solidFill>
                  <a:schemeClr val="bg1"/>
                </a:solidFill>
              </a:rPr>
              <a:t>LSU</a:t>
            </a:r>
            <a:r>
              <a:rPr lang="ru-RU">
                <a:solidFill>
                  <a:schemeClr val="bg1"/>
                </a:solidFill>
              </a:rPr>
              <a:t> и </a:t>
            </a:r>
            <a:r>
              <a:rPr lang="en-US">
                <a:solidFill>
                  <a:schemeClr val="bg1"/>
                </a:solidFill>
              </a:rPr>
              <a:t>TU</a:t>
            </a:r>
            <a:r>
              <a:rPr lang="ru-RU">
                <a:solidFill>
                  <a:schemeClr val="bg1"/>
                </a:solidFill>
              </a:rPr>
              <a:t>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TU</a:t>
            </a:r>
            <a:r>
              <a:rPr lang="ru-RU">
                <a:solidFill>
                  <a:schemeClr val="bg1"/>
                </a:solidFill>
              </a:rPr>
              <a:t> </a:t>
            </a:r>
            <a:r>
              <a:rPr lang="ru-RU">
                <a:solidFill>
                  <a:schemeClr val="bg1"/>
                </a:solidFill>
              </a:rPr>
              <a:t>и</a:t>
            </a:r>
            <a:r>
              <a:rPr lang="en-US">
                <a:solidFill>
                  <a:schemeClr val="bg1"/>
                </a:solidFill>
              </a:rPr>
              <a:t>/</a:t>
            </a:r>
            <a:r>
              <a:rPr lang="ru-RU">
                <a:solidFill>
                  <a:schemeClr val="bg1"/>
                </a:solidFill>
              </a:rPr>
              <a:t>или </a:t>
            </a:r>
            <a:r>
              <a:rPr lang="en-US">
                <a:solidFill>
                  <a:schemeClr val="bg1"/>
                </a:solidFill>
              </a:rPr>
              <a:t>LSU</a:t>
            </a:r>
            <a:r>
              <a:rPr lang="ru-RU">
                <a:solidFill>
                  <a:schemeClr val="bg1"/>
                </a:solidFill>
              </a:rPr>
              <a:t> выполняют ин</a:t>
            </a:r>
            <a:r>
              <a:rPr lang="ru-RU">
                <a:solidFill>
                  <a:schemeClr val="bg1"/>
                </a:solidFill>
              </a:rPr>
              <a:t>струкцию;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Результаты работы сохраняются во внешней памяти или памяти ядра;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Regmap</a:t>
            </a:r>
            <a:r>
              <a:rPr lang="ru-RU">
                <a:solidFill>
                  <a:schemeClr val="bg1"/>
                </a:solidFill>
              </a:rPr>
              <a:t> содержит статусные и управляющие сигналы.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64735645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D02CFB1-EEA1-CD3C-8AAA-9D8034B9CDE8}" type="slidenum">
              <a:rPr lang="ru-RU"/>
              <a:t>15</a:t>
            </a:fld>
            <a:endParaRPr lang="ru-RU"/>
          </a:p>
        </p:txBody>
      </p:sp>
      <p:pic>
        <p:nvPicPr>
          <p:cNvPr id="1877794094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856838" y="2178122"/>
            <a:ext cx="6699458" cy="4265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385392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Разработка потока модели упрощенного графического ядра: общая структура</a:t>
            </a:r>
            <a:endParaRPr lang="ru-RU"/>
          </a:p>
        </p:txBody>
      </p:sp>
      <p:sp>
        <p:nvSpPr>
          <p:cNvPr id="44376562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80320" y="2336872"/>
            <a:ext cx="3500037" cy="359931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Поток</a:t>
            </a:r>
            <a:r>
              <a:rPr lang="ru-RU">
                <a:solidFill>
                  <a:schemeClr val="bg1"/>
                </a:solidFill>
              </a:rPr>
              <a:t> обрабатывает вещественные и целочисленные данные и хранит в промежуточной памяти </a:t>
            </a:r>
            <a:r>
              <a:rPr lang="en-US">
                <a:solidFill>
                  <a:schemeClr val="bg1"/>
                </a:solidFill>
              </a:rPr>
              <a:t>- Regfile</a:t>
            </a:r>
            <a:r>
              <a:rPr lang="ru-RU">
                <a:solidFill>
                  <a:schemeClr val="bg1"/>
                </a:solidFill>
              </a:rPr>
              <a:t>.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Основные компоненты: </a:t>
            </a:r>
            <a:r>
              <a:rPr lang="en-US">
                <a:solidFill>
                  <a:schemeClr val="bg1"/>
                </a:solidFill>
              </a:rPr>
              <a:t>FPU, ALU, Regfile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01735443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C44681A-2184-8FE6-7CA2-B2F449D07AD3}" type="slidenum">
              <a:rPr lang="ru-RU"/>
              <a:t>8</a:t>
            </a:fld>
            <a:endParaRPr lang="ru-RU"/>
          </a:p>
        </p:txBody>
      </p:sp>
      <p:pic>
        <p:nvPicPr>
          <p:cNvPr id="823854662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180358" y="2404408"/>
            <a:ext cx="7126171" cy="358392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8181351" name="Заголовок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/>
              <a:t>Разработка модели упрощенного графического ядра: Блок загрузки и сохранения</a:t>
            </a:r>
            <a:endParaRPr lang="ru-RU"/>
          </a:p>
        </p:txBody>
      </p:sp>
      <p:sp>
        <p:nvSpPr>
          <p:cNvPr id="241652302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80320" y="2336872"/>
            <a:ext cx="4736811" cy="359931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Предназначен для передачи </a:t>
            </a:r>
            <a:r>
              <a:rPr lang="ru-RU">
                <a:solidFill>
                  <a:schemeClr val="bg1"/>
                </a:solidFill>
              </a:rPr>
              <a:t>данных между внешней памятью и потоками</a:t>
            </a:r>
            <a:r>
              <a:rPr lang="ru-RU">
                <a:solidFill>
                  <a:schemeClr val="bg1"/>
                </a:solidFill>
              </a:rPr>
              <a:t>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Может только загружать</a:t>
            </a:r>
            <a:r>
              <a:rPr lang="en-US">
                <a:solidFill>
                  <a:schemeClr val="bg1"/>
                </a:solidFill>
              </a:rPr>
              <a:t> (LOAD)</a:t>
            </a:r>
            <a:r>
              <a:rPr lang="ru-RU">
                <a:solidFill>
                  <a:schemeClr val="bg1"/>
                </a:solidFill>
              </a:rPr>
              <a:t> или сохранять</a:t>
            </a:r>
            <a:r>
              <a:rPr lang="en-US">
                <a:solidFill>
                  <a:schemeClr val="bg1"/>
                </a:solidFill>
              </a:rPr>
              <a:t> (STORE)</a:t>
            </a:r>
            <a:r>
              <a:rPr lang="ru-RU">
                <a:solidFill>
                  <a:schemeClr val="bg1"/>
                </a:solidFill>
              </a:rPr>
              <a:t>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Работает по приходящей инструкции.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950704629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268CEBC-6C76-D4A5-843E-7A9602BB4FE0}" type="slidenum">
              <a:rPr lang="ru-RU"/>
              <a:t>9</a:t>
            </a:fld>
            <a:endParaRPr lang="ru-RU"/>
          </a:p>
        </p:txBody>
      </p:sp>
      <p:pic>
        <p:nvPicPr>
          <p:cNvPr id="1472644960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092174" y="3007761"/>
            <a:ext cx="6324098" cy="22575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281277" name="Заголовок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/>
              <a:t>: Интерконнект между </a:t>
            </a:r>
            <a:r>
              <a:rPr lang="en-US"/>
              <a:t>LSU </a:t>
            </a:r>
            <a:r>
              <a:rPr lang="ru-RU"/>
              <a:t>и потоками</a:t>
            </a:r>
            <a:endParaRPr/>
          </a:p>
        </p:txBody>
      </p:sp>
      <p:sp>
        <p:nvSpPr>
          <p:cNvPr id="78830227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80320" y="2336872"/>
            <a:ext cx="4409973" cy="359931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Арбитр собирает с потоков данные и</a:t>
            </a:r>
            <a:r>
              <a:rPr lang="en-US">
                <a:solidFill>
                  <a:schemeClr val="bg1"/>
                </a:solidFill>
              </a:rPr>
              <a:t>/</a:t>
            </a:r>
            <a:r>
              <a:rPr lang="ru-RU">
                <a:solidFill>
                  <a:schemeClr val="bg1"/>
                </a:solidFill>
              </a:rPr>
              <a:t>или</a:t>
            </a:r>
            <a:r>
              <a:rPr lang="ru-RU">
                <a:solidFill>
                  <a:schemeClr val="bg1"/>
                </a:solidFill>
              </a:rPr>
              <a:t> адреса;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LSU</a:t>
            </a:r>
            <a:r>
              <a:rPr lang="ru-RU">
                <a:solidFill>
                  <a:schemeClr val="bg1"/>
                </a:solidFill>
              </a:rPr>
              <a:t> выполняет запросы  с данными и адресами поочередно;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Арбитр выдаёт результаты потокам</a:t>
            </a:r>
            <a:r>
              <a:rPr lang="ru-RU">
                <a:solidFill>
                  <a:schemeClr val="bg1"/>
                </a:solidFill>
              </a:rPr>
              <a:t> и</a:t>
            </a:r>
            <a:r>
              <a:rPr lang="en-US">
                <a:solidFill>
                  <a:schemeClr val="bg1"/>
                </a:solidFill>
              </a:rPr>
              <a:t>/</a:t>
            </a:r>
            <a:r>
              <a:rPr lang="ru-RU">
                <a:solidFill>
                  <a:schemeClr val="bg1"/>
                </a:solidFill>
              </a:rPr>
              <a:t>или статус готовности.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292555640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9687AD8-1A48-903E-417E-81FF292386D7}" type="slidenum">
              <a:rPr lang="ru-RU"/>
              <a:t>8</a:t>
            </a:fld>
            <a:endParaRPr lang="ru-RU"/>
          </a:p>
        </p:txBody>
      </p:sp>
      <p:pic>
        <p:nvPicPr>
          <p:cNvPr id="779499102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669989" y="2101289"/>
            <a:ext cx="5303392" cy="441274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82090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/>
              <a:t>: </a:t>
            </a:r>
            <a:r>
              <a:rPr lang="en-US"/>
              <a:t>Fetcher &amp; Decoder</a:t>
            </a:r>
            <a:endParaRPr/>
          </a:p>
        </p:txBody>
      </p:sp>
      <p:sp>
        <p:nvSpPr>
          <p:cNvPr id="1247729536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80320" y="2336872"/>
            <a:ext cx="5044973" cy="3599316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Fetcher – </a:t>
            </a:r>
            <a:r>
              <a:rPr lang="ru-RU">
                <a:solidFill>
                  <a:schemeClr val="bg1"/>
                </a:solidFill>
              </a:rPr>
              <a:t>блок захвата инструкций из памяти;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Decoder</a:t>
            </a:r>
            <a:r>
              <a:rPr lang="ru-RU">
                <a:solidFill>
                  <a:schemeClr val="bg1"/>
                </a:solidFill>
              </a:rPr>
              <a:t> – </a:t>
            </a:r>
            <a:r>
              <a:rPr lang="ru-RU">
                <a:solidFill>
                  <a:schemeClr val="bg1"/>
                </a:solidFill>
              </a:rPr>
              <a:t>дешифрование инструкций в структуры для передачи исполняемым блокам;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По программному счётчику </a:t>
            </a:r>
            <a:r>
              <a:rPr lang="en-US">
                <a:solidFill>
                  <a:schemeClr val="bg1"/>
                </a:solidFill>
              </a:rPr>
              <a:t>(PC)</a:t>
            </a:r>
            <a:r>
              <a:rPr lang="ru-RU">
                <a:solidFill>
                  <a:schemeClr val="bg1"/>
                </a:solidFill>
              </a:rPr>
              <a:t> </a:t>
            </a:r>
            <a:r>
              <a:rPr lang="en-US">
                <a:solidFill>
                  <a:schemeClr val="bg1"/>
                </a:solidFill>
              </a:rPr>
              <a:t>Fetcher</a:t>
            </a:r>
            <a:r>
              <a:rPr lang="ru-RU">
                <a:solidFill>
                  <a:schemeClr val="bg1"/>
                </a:solidFill>
              </a:rPr>
              <a:t> делает смещение по адресу и получает адрес.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136579917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E0C4E4E-F03C-EE6B-08CF-E8796A069A1F}" type="slidenum">
              <a:rPr lang="ru-RU"/>
              <a:t>11</a:t>
            </a:fld>
            <a:endParaRPr lang="ru-RU"/>
          </a:p>
        </p:txBody>
      </p:sp>
      <p:pic>
        <p:nvPicPr>
          <p:cNvPr id="32324015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7046156" y="2170112"/>
            <a:ext cx="3248024" cy="41052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95388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/>
              <a:t>: Интерфейсы</a:t>
            </a:r>
            <a:endParaRPr/>
          </a:p>
        </p:txBody>
      </p:sp>
      <p:sp>
        <p:nvSpPr>
          <p:cNvPr id="1360229441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80320" y="2336872"/>
            <a:ext cx="5269090" cy="359931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Необходимы высокоскоростные интерфейсы;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 качестве интерфейсов взяты</a:t>
            </a:r>
            <a:r>
              <a:rPr lang="en-US">
                <a:solidFill>
                  <a:schemeClr val="bg1"/>
                </a:solidFill>
              </a:rPr>
              <a:t>: AMBA APB,  AMBA AHB</a:t>
            </a:r>
            <a:r>
              <a:rPr lang="ru-RU">
                <a:solidFill>
                  <a:schemeClr val="bg1"/>
                </a:solidFill>
              </a:rPr>
              <a:t>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Для </a:t>
            </a:r>
            <a:r>
              <a:rPr lang="en-US">
                <a:solidFill>
                  <a:schemeClr val="bg1"/>
                </a:solidFill>
              </a:rPr>
              <a:t>Regmap</a:t>
            </a:r>
            <a:r>
              <a:rPr lang="ru-RU">
                <a:solidFill>
                  <a:schemeClr val="bg1"/>
                </a:solidFill>
              </a:rPr>
              <a:t> интерфейс </a:t>
            </a:r>
            <a:r>
              <a:rPr lang="en-US">
                <a:solidFill>
                  <a:schemeClr val="bg1"/>
                </a:solidFill>
              </a:rPr>
              <a:t>APB</a:t>
            </a:r>
            <a:r>
              <a:rPr lang="ru-RU">
                <a:solidFill>
                  <a:schemeClr val="bg1"/>
                </a:solidFill>
              </a:rPr>
              <a:t>, где </a:t>
            </a:r>
            <a:r>
              <a:rPr lang="en-US">
                <a:solidFill>
                  <a:schemeClr val="bg1"/>
                </a:solidFill>
              </a:rPr>
              <a:t>Regmap - </a:t>
            </a:r>
            <a:r>
              <a:rPr lang="ru-RU">
                <a:solidFill>
                  <a:schemeClr val="bg1"/>
                </a:solidFill>
              </a:rPr>
              <a:t>ведомый;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Для </a:t>
            </a:r>
            <a:r>
              <a:rPr lang="en-US">
                <a:solidFill>
                  <a:schemeClr val="bg1"/>
                </a:solidFill>
              </a:rPr>
              <a:t>Fetcher </a:t>
            </a:r>
            <a:r>
              <a:rPr lang="ru-RU">
                <a:solidFill>
                  <a:schemeClr val="bg1"/>
                </a:solidFill>
              </a:rPr>
              <a:t>и </a:t>
            </a:r>
            <a:r>
              <a:rPr lang="en-US">
                <a:solidFill>
                  <a:schemeClr val="bg1"/>
                </a:solidFill>
              </a:rPr>
              <a:t>LSU</a:t>
            </a:r>
            <a:r>
              <a:rPr lang="ru-RU">
                <a:solidFill>
                  <a:schemeClr val="bg1"/>
                </a:solidFill>
              </a:rPr>
              <a:t> интерфейс </a:t>
            </a:r>
            <a:r>
              <a:rPr lang="en-US">
                <a:solidFill>
                  <a:schemeClr val="bg1"/>
                </a:solidFill>
              </a:rPr>
              <a:t>AHB</a:t>
            </a:r>
            <a:r>
              <a:rPr lang="ru-RU">
                <a:solidFill>
                  <a:schemeClr val="bg1"/>
                </a:solidFill>
              </a:rPr>
              <a:t>, где </a:t>
            </a:r>
            <a:r>
              <a:rPr lang="ru-RU">
                <a:solidFill>
                  <a:schemeClr val="bg1"/>
                </a:solidFill>
              </a:rPr>
              <a:t>они - ведущие.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545049263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E2ADD01-EDAB-891B-508A-6962AD7A2457}" type="slidenum">
              <a:rPr lang="ru-RU"/>
              <a:t>14</a:t>
            </a:fld>
            <a:endParaRPr lang="ru-RU"/>
          </a:p>
        </p:txBody>
      </p:sp>
      <p:pic>
        <p:nvPicPr>
          <p:cNvPr id="2139026081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698034" y="2178122"/>
            <a:ext cx="5523816" cy="42279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9721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Заключение</a:t>
            </a:r>
            <a:endParaRPr/>
          </a:p>
        </p:txBody>
      </p:sp>
      <p:sp>
        <p:nvSpPr>
          <p:cNvPr id="637220340" name="Объект 2"/>
          <p:cNvSpPr>
            <a:spLocks noGrp="1"/>
          </p:cNvSpPr>
          <p:nvPr>
            <p:ph idx="1"/>
          </p:nvPr>
        </p:nvSpPr>
        <p:spPr bwMode="auto">
          <a:xfrm>
            <a:off x="680321" y="2336873"/>
            <a:ext cx="11753144" cy="359931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 результате работы: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Проведен анализ существующих архитектур графических процессоров и ядер</a:t>
            </a:r>
            <a:r>
              <a:rPr lang="en-US">
                <a:solidFill>
                  <a:schemeClr val="bg1"/>
                </a:solidFill>
              </a:rPr>
              <a:t>;</a:t>
            </a:r>
            <a:endParaRPr lang="ru-RU">
              <a:solidFill>
                <a:schemeClr val="bg1"/>
              </a:solidFill>
            </a:endParaRPr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Спроектирована минимально необходимая архитектура набора инструкций </a:t>
            </a:r>
            <a:r>
              <a:rPr lang="en-US">
                <a:solidFill>
                  <a:schemeClr val="bg1"/>
                </a:solidFill>
              </a:rPr>
              <a:t>(ISA);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Разработана архитектура упрощенного графического ядра с использованием метода поблочной декомпозиции;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Разработана упрощенная модель графического ядра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ru-RU">
                <a:solidFill>
                  <a:schemeClr val="bg1"/>
                </a:solidFill>
              </a:rPr>
              <a:t>на языке описания аппаратуры </a:t>
            </a:r>
            <a:r>
              <a:rPr lang="en-US">
                <a:solidFill>
                  <a:schemeClr val="bg1"/>
                </a:solidFill>
              </a:rPr>
              <a:t>SystemVerilog</a:t>
            </a:r>
            <a:r>
              <a:rPr lang="ru-RU">
                <a:solidFill>
                  <a:schemeClr val="bg1"/>
                </a:solidFill>
              </a:rPr>
              <a:t>.</a:t>
            </a:r>
            <a:endParaRPr/>
          </a:p>
        </p:txBody>
      </p:sp>
      <p:sp>
        <p:nvSpPr>
          <p:cNvPr id="1920238445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16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80905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Публикация статьи</a:t>
            </a:r>
            <a:endParaRPr/>
          </a:p>
        </p:txBody>
      </p:sp>
      <p:sp>
        <p:nvSpPr>
          <p:cNvPr id="119898723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Обзор аналогов 2D графических ускорителей во встроенных системах / И.А. Дудкин, Д.М. Старухин, В.В. Черкасов \/\/ Математика, информационные технологии, приложения : сборник материалов Межвузовской научной конференции «Математика, информационные технологии, приложения» (Воронеж, 24-25 апреля 2025 г.). -- Воронеж : Издательско-полиграфический центр «Научная книга», 2025. -- С.209-216</a:t>
            </a:r>
            <a:endParaRPr sz="4800">
              <a:solidFill>
                <a:schemeClr val="bg1"/>
              </a:solidFill>
              <a:latin typeface="Trebuchet MS"/>
              <a:cs typeface="Trebuchet MS"/>
            </a:endParaRPr>
          </a:p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</a:t>
            </a:r>
            <a: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Разработка архитектуры аппаратной реализации 2D графического ускорителя / И.А. Дудкин, Д.М. Старухин, В.В. Черкасов \/\/ Актуальные проблемы прикладной математики, информатики и механики : сборник материалов Международной научной конференции «Актуальные проблемы прикладной математики, информатики и механики» (Воронеж, 1-3 декабря 2025 г.). -- Воронеж : ООО «Издательство Прометей», 2026. -- С.1584-1588.</a:t>
            </a:r>
            <a:b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</a:br>
            <a:endParaRPr lang="ru-RU">
              <a:solidFill>
                <a:schemeClr val="bg1"/>
              </a:solidFill>
            </a:endParaRPr>
          </a:p>
        </p:txBody>
      </p:sp>
      <p:sp>
        <p:nvSpPr>
          <p:cNvPr id="2138786135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17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22637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Спасибо за внимание!</a:t>
            </a:r>
            <a:endParaRPr/>
          </a:p>
        </p:txBody>
      </p:sp>
      <p:sp>
        <p:nvSpPr>
          <p:cNvPr id="1391196129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694933476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18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Берлин">
  <a:themeElements>
    <a:clrScheme name="Синий и зеленый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Берлин">
      <a:majorFont>
        <a:latin typeface="Trebuchet MS"/>
        <a:ea typeface="Arial"/>
        <a:cs typeface="Arial"/>
      </a:majorFont>
      <a:minorFont>
        <a:latin typeface="Trebuchet MS"/>
        <a:ea typeface="Arial"/>
        <a:cs typeface="Arial"/>
      </a:minorFont>
    </a:fontScheme>
    <a:fmtScheme name="Берлин">
      <a:fillStyleLst>
        <a:solidFill>
          <a:schemeClr val="phClr"/>
        </a:solidFill>
        <a:gradFill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TM04033917[[fn=Берлин]]</Template>
  <TotalTime>0</TotalTime>
  <Words>0</Words>
  <Application>ONLYOFFICE/9.4.0.129</Application>
  <PresentationFormat>On-screen Show (4:3)</PresentationFormat>
  <Paragraphs>0</Paragraphs>
  <Slides>15</Slides>
  <Notes>15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упрощенного графического ускорителя. Разработка модели упрощенного графического ядра.</dc:title>
  <dc:creator>Ewencen Sicl</dc:creator>
  <cp:lastModifiedBy/>
  <cp:revision>16</cp:revision>
  <dcterms:created xsi:type="dcterms:W3CDTF">2026-06-01T16:03:18Z</dcterms:created>
  <dcterms:modified xsi:type="dcterms:W3CDTF">2026-06-02T13:13:57Z</dcterms:modified>
</cp:coreProperties>
</file>