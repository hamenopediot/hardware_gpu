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621397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9859652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1006772333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2110414089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72631752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50720254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8552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8332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29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4174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6291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4973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8871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040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8218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6100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613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6988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6884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146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2036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C2A48-3D77-7BE2-EE5A-0222396F1E07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4529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89519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0386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5387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99261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2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7730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8214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361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96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4274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18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9863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6427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7683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5851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3844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617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9874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03094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20797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5049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97085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36457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314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74306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043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44836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38839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55985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19752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7447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268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611C26-A18A-CE56-9368-8EAD053C485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1034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88399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7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65981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6705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7780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900006-DE8E-E061-C9AE-0E64162B086A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97794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189854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66854374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134338282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2468568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49875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49996580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3941692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37350827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1771035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230937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60664230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5862871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207394270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47291429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59352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88426679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3085158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88641861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214239895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11895506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902298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99720604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33595330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9566868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05117972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14388893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860970306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05035003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83736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28152656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1544063319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8635796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262470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568008551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3981903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027121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2950140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4990522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570260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504648355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7897952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902388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34502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149563740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81650567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167518302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51890348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355693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45082521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7077616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84666664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86527107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547509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46883292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405671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195018164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69908581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3643432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768246924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79425767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17465969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2059635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55690020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12148687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18288082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146400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6764738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73452132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2333308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23915880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714759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9167530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42469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16489525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277862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73017644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073199399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1901606843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7389118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51544624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1437560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238636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7816269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43457015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5013635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75764393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70794006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5018658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98411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5320301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4546929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8074140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11737099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876074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96666029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40406872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7991906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63701510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9389481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062399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366743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3603406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794789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030407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185423701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4666803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42267524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8270752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78352640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50296704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603572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9722202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164189126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6495222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58528735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97733676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57690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174561369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0729195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3621473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71526800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0075046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80166379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92484877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48542299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35345658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780702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20420561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416924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6555126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5381711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87632515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1825935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1077936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9451250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01268979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26601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155725603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443660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0062332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347545903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130835739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97230994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15266043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6204913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68667180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794952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15142509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5182941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16913952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249288123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77942715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56204209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95143720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5980201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932514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10695979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65284660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971362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30138758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217562408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30357184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32462105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45844534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1397097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2018180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213656207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71000793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166039225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693514685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5523145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694119683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861207402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89285336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81122765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6562195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818171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8218305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73537634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2745737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556837063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499233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95071012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67232608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146235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39404180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5596650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63102833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02909073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621266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0046617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156331636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3959316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9626116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233124268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35396588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3840310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79735678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913183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9936537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068997560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58744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24020366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722994144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06511120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92102309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757669270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5733830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111707757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0400528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99191336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25691708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01113253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91179467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556567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1532953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7905814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2725599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139035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2456003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2219503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289023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1302534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83945582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389457287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214746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96188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11351292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6895628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8990971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4588096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media1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media2.svg"/><Relationship Id="rId6" Type="http://schemas.openxmlformats.org/officeDocument/2006/relationships/image" Target="../media/image9.png"/><Relationship Id="rId7" Type="http://schemas.openxmlformats.org/officeDocument/2006/relationships/image" Target="../media/media3.svg"/><Relationship Id="rId8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8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486598" name="Прямоугольник 3"/>
          <p:cNvSpPr/>
          <p:nvPr/>
        </p:nvSpPr>
        <p:spPr bwMode="auto">
          <a:xfrm flipH="0" flipV="0"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50836964" name="Прямоугольник 4"/>
          <p:cNvSpPr/>
          <p:nvPr/>
        </p:nvSpPr>
        <p:spPr bwMode="auto">
          <a:xfrm flipH="0" flipV="0"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52972019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8" cy="1400288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</a:t>
            </a:r>
            <a:r>
              <a:rPr lang="ru-RU" sz="3200" b="1">
                <a:solidFill>
                  <a:schemeClr val="bg1"/>
                </a:solidFill>
              </a:rPr>
              <a:t>ядра упрощенного графического ускорителя: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</a:t>
            </a:r>
            <a:r>
              <a:rPr lang="ru-RU" sz="3200" b="1">
                <a:solidFill>
                  <a:schemeClr val="bg1"/>
                </a:solidFill>
              </a:rPr>
              <a:t>ь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2037473090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1660120845" name="Заголовок 1"/>
          <p:cNvSpPr>
            <a:spLocks noGrp="1"/>
          </p:cNvSpPr>
          <p:nvPr/>
        </p:nvSpPr>
        <p:spPr bwMode="auto">
          <a:xfrm flipH="0" flipV="0"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636386105" name="Заголовок 1"/>
          <p:cNvSpPr>
            <a:spLocks noGrp="1"/>
          </p:cNvSpPr>
          <p:nvPr/>
        </p:nvSpPr>
        <p:spPr bwMode="auto">
          <a:xfrm flipH="0" flipV="0"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877877864" name="Заголовок 1"/>
          <p:cNvSpPr>
            <a:spLocks noGrp="1"/>
          </p:cNvSpPr>
          <p:nvPr/>
        </p:nvSpPr>
        <p:spPr bwMode="auto">
          <a:xfrm flipH="0" flipV="0"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274511686" name="Заголовок 1"/>
          <p:cNvSpPr>
            <a:spLocks noGrp="1"/>
          </p:cNvSpPr>
          <p:nvPr/>
        </p:nvSpPr>
        <p:spPr bwMode="auto">
          <a:xfrm flipH="0" flipV="0"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4938761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55695666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8" y="-21181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081048642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дискретных графических ускорителей: </a:t>
            </a:r>
            <a:r>
              <a:rPr lang="en-US">
                <a:solidFill>
                  <a:schemeClr val="tx1"/>
                </a:solidFill>
              </a:rPr>
              <a:t>AMD,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NVIDIA, Intel (c </a:t>
            </a:r>
            <a:r>
              <a:rPr lang="ru-RU">
                <a:solidFill>
                  <a:schemeClr val="tx1"/>
                </a:solidFill>
              </a:rPr>
              <a:t>недавних пор</a:t>
            </a:r>
            <a:r>
              <a:rPr lang="en-US">
                <a:solidFill>
                  <a:schemeClr val="tx1"/>
                </a:solidFill>
              </a:rPr>
              <a:t>)</a:t>
            </a:r>
            <a:r>
              <a:rPr lang="ru-RU">
                <a:solidFill>
                  <a:schemeClr val="tx1"/>
                </a:solidFill>
              </a:rPr>
              <a:t>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5604675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54808838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02218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Определить</a:t>
            </a:r>
            <a:r>
              <a:rPr>
                <a:solidFill>
                  <a:schemeClr val="tx1"/>
                </a:solidFill>
              </a:rPr>
              <a:t> требования для построения минимального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модель упрощенного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базе разработанной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построения </a:t>
            </a:r>
            <a:r>
              <a:rPr lang="ru-RU">
                <a:solidFill>
                  <a:schemeClr val="tx1"/>
                </a:solidFill>
              </a:rPr>
              <a:t>архитектур процессорных систем</a:t>
            </a:r>
            <a:r>
              <a:rPr>
                <a:solidFill>
                  <a:schemeClr val="tx1"/>
                </a:solidFill>
              </a:rPr>
              <a:t>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Приблизиться к реализации полноценного графического ядра, а в перспективе и полноценного графического ускорителя.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6257835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5781537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35631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66379215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122079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модель упрощённого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минимально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65836599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634131261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38459728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2407284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283796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20620" y="1628766"/>
            <a:ext cx="2592336" cy="486410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/>
              <a:t>Работа является общим проектом по теме: разработка ядра упрощенного графического ускорителя;</a:t>
            </a:r>
            <a:endParaRPr/>
          </a:p>
          <a:p>
            <a:pPr>
              <a:defRPr/>
            </a:pPr>
            <a:r>
              <a:rPr/>
              <a:t>В данной работе выполнена конкретная часть проекта: </a:t>
            </a:r>
            <a:r>
              <a:rPr lang="en-US"/>
              <a:t>RTL-</a:t>
            </a:r>
            <a:r>
              <a:rPr lang="ru-RU"/>
              <a:t>описание ядра упрощенного графического ускорителя.</a:t>
            </a:r>
            <a:endParaRPr/>
          </a:p>
        </p:txBody>
      </p:sp>
      <p:sp>
        <p:nvSpPr>
          <p:cNvPr id="71575681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2C3BA63A-6FFD-E575-38C0-7BEA8FDEC7FB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260798391" name="Прямоугольник 5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41315016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7" y="5651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Комплексная структура проекта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965472291" name="Прямоугольник 6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pic>
        <p:nvPicPr>
          <p:cNvPr id="543394343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3328593" y="2135569"/>
            <a:ext cx="8156721" cy="3575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756197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99459330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97341898" name="Заголовок 1"/>
          <p:cNvSpPr>
            <a:spLocks noGrp="1"/>
          </p:cNvSpPr>
          <p:nvPr>
            <p:ph type="title"/>
          </p:nvPr>
        </p:nvSpPr>
        <p:spPr bwMode="auto">
          <a:xfrm>
            <a:off x="383823" y="-1041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Souther Islands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936873006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83823" y="1350173"/>
            <a:ext cx="3684326" cy="280272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000"/>
              <a:t>Ядро (</a:t>
            </a:r>
            <a:r>
              <a:rPr lang="en-US" sz="2000"/>
              <a:t>CU</a:t>
            </a:r>
            <a:r>
              <a:rPr lang="ru-RU" sz="2000"/>
              <a:t>) содержит</a:t>
            </a:r>
            <a:r>
              <a:rPr lang="en-US" sz="2000"/>
              <a:t>: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v/sGPR - </a:t>
            </a:r>
            <a:r>
              <a:rPr lang="ru-RU" sz="2000"/>
              <a:t>векторный/скалярный регистровый файл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LSU – </a:t>
            </a:r>
            <a:r>
              <a:rPr lang="ru-RU" sz="2000"/>
              <a:t>блок загузки/сохранения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vALU – </a:t>
            </a:r>
            <a:r>
              <a:rPr lang="ru-RU" sz="2000"/>
              <a:t>векторное арифметико-логическое устройство</a:t>
            </a:r>
            <a:r>
              <a:rPr lang="en-US" sz="2000"/>
              <a:t> (</a:t>
            </a:r>
            <a:r>
              <a:rPr lang="en-US" sz="2000"/>
              <a:t>INT </a:t>
            </a:r>
            <a:r>
              <a:rPr lang="ru-RU" sz="2000"/>
              <a:t>и </a:t>
            </a:r>
            <a:r>
              <a:rPr lang="en-US" sz="2000"/>
              <a:t>FP</a:t>
            </a:r>
            <a:r>
              <a:rPr lang="en-US" sz="2000"/>
              <a:t>);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Блок получения, декодирования и планирования инструкций</a:t>
            </a:r>
            <a:r>
              <a:rPr lang="ru-RU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Локальная общая память.</a:t>
            </a:r>
            <a:endParaRPr sz="2000"/>
          </a:p>
        </p:txBody>
      </p:sp>
      <p:sp>
        <p:nvSpPr>
          <p:cNvPr id="47988106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584781242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2208315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2964841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4250145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614552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2050281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72284683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-1041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br>
              <a:rPr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Fermi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84439273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6925649" cy="5035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Общий регистровый файл большого размера для множества ядер;</a:t>
            </a:r>
            <a:endParaRPr lang="ru-RU"/>
          </a:p>
          <a:p>
            <a:pPr>
              <a:defRPr/>
            </a:pPr>
            <a:r>
              <a:rPr lang="ru-RU"/>
              <a:t>Каждому ядру в регистровом файле выделена своя область;</a:t>
            </a:r>
            <a:endParaRPr lang="ru-RU"/>
          </a:p>
          <a:p>
            <a:pPr>
              <a:defRPr/>
            </a:pPr>
            <a:r>
              <a:rPr lang="ru-RU"/>
              <a:t>Каждое ядро </a:t>
            </a:r>
            <a:r>
              <a:rPr lang="en-US"/>
              <a:t>CUDA </a:t>
            </a:r>
            <a:r>
              <a:rPr lang="ru-RU"/>
              <a:t>является однопоточным;</a:t>
            </a:r>
            <a:endParaRPr lang="ru-RU"/>
          </a:p>
          <a:p>
            <a:pPr>
              <a:defRPr/>
            </a:pPr>
            <a:r>
              <a:rPr lang="ru-RU"/>
              <a:t>Каждое ядро содержит вычислительные блоки для </a:t>
            </a:r>
            <a:r>
              <a:rPr lang="en-US"/>
              <a:t>INT </a:t>
            </a:r>
            <a:r>
              <a:rPr lang="ru-RU"/>
              <a:t>и </a:t>
            </a:r>
            <a:r>
              <a:rPr lang="en-US"/>
              <a:t>FP</a:t>
            </a:r>
            <a:r>
              <a:rPr lang="ru-RU"/>
              <a:t>;</a:t>
            </a:r>
            <a:endParaRPr lang="en-US"/>
          </a:p>
          <a:p>
            <a:pPr>
              <a:defRPr/>
            </a:pPr>
            <a:r>
              <a:rPr lang="en-US"/>
              <a:t>SFU – </a:t>
            </a:r>
            <a:r>
              <a:rPr lang="ru-RU"/>
              <a:t>специализированный ускоритель, в частности для тригонометрических функций</a:t>
            </a:r>
            <a:r>
              <a:rPr lang="ru-RU"/>
              <a:t>.</a:t>
            </a:r>
            <a:endParaRPr/>
          </a:p>
        </p:txBody>
      </p:sp>
      <p:sp>
        <p:nvSpPr>
          <p:cNvPr id="200411016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258219235" name="Рисунок 5"/>
          <p:cNvPicPr>
            <a:picLocks noChangeAspect="1"/>
          </p:cNvPicPr>
          <p:nvPr/>
        </p:nvPicPr>
        <p:blipFill rotWithShape="1">
          <a:blip r:embed="rId3"/>
          <a:srcRect l="0" t="0" r="33408" b="0"/>
          <a:stretch/>
        </p:blipFill>
        <p:spPr bwMode="auto">
          <a:xfrm flipH="0" flipV="0">
            <a:off x="7284603" y="156886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153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-9297" y="1350173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Набор инструкций взят с дампа промежуточного представления</a:t>
            </a:r>
            <a:r>
              <a:rPr lang="en-US"/>
              <a:t> </a:t>
            </a:r>
            <a:r>
              <a:rPr lang="ru-RU"/>
              <a:t>шейдера </a:t>
            </a:r>
            <a:r>
              <a:rPr lang="ru-RU"/>
              <a:t>из </a:t>
            </a:r>
            <a:r>
              <a:rPr lang="en-US"/>
              <a:t>VKCUBE</a:t>
            </a:r>
            <a:r>
              <a:rPr/>
              <a:t>;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r>
              <a:rPr lang="ru-RU"/>
              <a:t>.</a:t>
            </a:r>
            <a:endParaRPr lang="ru-RU"/>
          </a:p>
        </p:txBody>
      </p:sp>
      <p:sp>
        <p:nvSpPr>
          <p:cNvPr id="28023847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42624812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56290" y="4580893"/>
            <a:ext cx="4981510" cy="209456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937440151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 flipH="0" flipV="0">
            <a:off x="9204466" y="1593351"/>
            <a:ext cx="2824299" cy="20359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87870065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6421527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89660852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528119454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</p:blipFill>
        <p:spPr bwMode="auto">
          <a:xfrm flipH="0" flipV="0">
            <a:off x="8480073" y="5206830"/>
            <a:ext cx="3548691" cy="1376882"/>
          </a:xfrm>
          <a:prstGeom prst="rect">
            <a:avLst/>
          </a:prstGeom>
        </p:spPr>
      </p:pic>
      <p:pic>
        <p:nvPicPr>
          <p:cNvPr id="173670991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122609" y="1415540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1511808802" name=""/>
          <p:cNvCxnSpPr>
            <a:stCxn id="142624812" idx="3"/>
            <a:endCxn id="1528119454" idx="1"/>
          </p:cNvCxnSpPr>
          <p:nvPr/>
        </p:nvCxnSpPr>
        <p:spPr bwMode="auto">
          <a:xfrm rot="0" flipH="0" flipV="0">
            <a:off x="7837799" y="5628176"/>
            <a:ext cx="642272" cy="26709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3958203" name=""/>
          <p:cNvCxnSpPr>
            <a:stCxn id="142624812" idx="3"/>
            <a:endCxn id="1937440151" idx="2"/>
          </p:cNvCxnSpPr>
          <p:nvPr/>
        </p:nvCxnSpPr>
        <p:spPr bwMode="auto">
          <a:xfrm rot="0" flipH="0" flipV="1">
            <a:off x="7837801" y="3629299"/>
            <a:ext cx="2778814" cy="1998876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911929" name=""/>
          <p:cNvCxnSpPr>
            <a:stCxn id="1736709910" idx="3"/>
            <a:endCxn id="1937440151" idx="1"/>
          </p:cNvCxnSpPr>
          <p:nvPr/>
        </p:nvCxnSpPr>
        <p:spPr bwMode="auto">
          <a:xfrm rot="0" flipH="0" flipV="1">
            <a:off x="8651715" y="2611325"/>
            <a:ext cx="552751" cy="30912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675869" name=""/>
          <p:cNvCxnSpPr>
            <a:stCxn id="1736709910" idx="3"/>
            <a:endCxn id="1528119454" idx="0"/>
          </p:cNvCxnSpPr>
          <p:nvPr/>
        </p:nvCxnSpPr>
        <p:spPr bwMode="auto">
          <a:xfrm rot="0" flipH="0" flipV="0">
            <a:off x="8651714" y="2920445"/>
            <a:ext cx="1602704" cy="228638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37021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3374" y="1523999"/>
            <a:ext cx="50672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-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- декодирует инструкцию, управляет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</a:t>
            </a:r>
            <a:r>
              <a:rPr lang="ru-RU"/>
              <a:t>– вычислительный блок;</a:t>
            </a:r>
            <a:endParaRPr/>
          </a:p>
          <a:p>
            <a:pPr>
              <a:defRPr/>
            </a:pPr>
            <a:r>
              <a:rPr lang="en-US"/>
              <a:t>LSU -  </a:t>
            </a:r>
            <a:r>
              <a:rPr lang="ru-RU"/>
              <a:t>блок загрузки/сохранения данных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- контрольно-статусные регистры. </a:t>
            </a:r>
            <a:r>
              <a:rPr lang="ru-RU"/>
              <a:t>Содержат статусные и управляющие сигналы связанные с самим графическим ядром;</a:t>
            </a:r>
            <a:endParaRPr lang="ru-RU"/>
          </a:p>
          <a:p>
            <a:pPr>
              <a:defRPr/>
            </a:pPr>
            <a:r>
              <a:rPr lang="en-US"/>
              <a:t>PC – </a:t>
            </a:r>
            <a:r>
              <a:rPr lang="ru-RU"/>
              <a:t>счётчик инструкций</a:t>
            </a:r>
            <a:r>
              <a:rPr lang="ru-RU"/>
              <a:t>.</a:t>
            </a:r>
            <a:endParaRPr lang="en-US"/>
          </a:p>
        </p:txBody>
      </p:sp>
      <p:sp>
        <p:nvSpPr>
          <p:cNvPr id="54494102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301988378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12940575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27627799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84087463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03317" y="1473409"/>
            <a:ext cx="5766954" cy="5249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12066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6674" y="1350173"/>
            <a:ext cx="4134825" cy="51427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Вычислительный </a:t>
            </a:r>
            <a:r>
              <a:rPr lang="ru-RU" sz="1600"/>
              <a:t>блок </a:t>
            </a:r>
            <a:r>
              <a:rPr lang="en-US" sz="1600"/>
              <a:t>(Tread Unit) </a:t>
            </a:r>
            <a:r>
              <a:rPr lang="ru-RU" sz="1600"/>
              <a:t>обрабатывает вещественные и целочисленные данные из регистрового файла</a:t>
            </a:r>
            <a:r>
              <a:rPr lang="ru-RU" sz="1600"/>
              <a:t> (</a:t>
            </a:r>
            <a:r>
              <a:rPr lang="en-US" sz="1600"/>
              <a:t>Regfile</a:t>
            </a:r>
            <a:r>
              <a:rPr lang="ru-RU" sz="1600"/>
              <a:t>) и сохраняет их обратно</a:t>
            </a:r>
            <a:r>
              <a:rPr lang="ru-RU" sz="1600"/>
              <a:t>;</a:t>
            </a:r>
            <a:endParaRPr sz="1600"/>
          </a:p>
          <a:p>
            <a:pPr>
              <a:defRPr/>
            </a:pPr>
            <a:r>
              <a:rPr lang="ru-RU" sz="1600"/>
              <a:t>Основные компоненты: </a:t>
            </a:r>
            <a:endParaRPr sz="1600"/>
          </a:p>
          <a:p>
            <a:pPr lvl="1">
              <a:defRPr/>
            </a:pPr>
            <a:r>
              <a:rPr lang="en-US" sz="1600"/>
              <a:t>FPU – </a:t>
            </a:r>
            <a:r>
              <a:rPr lang="ru-RU" sz="1600"/>
              <a:t>блок операций с плавающей запятой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ALU – </a:t>
            </a:r>
            <a:r>
              <a:rPr lang="ru-RU" sz="1600"/>
              <a:t>целочисленное арифметико-логическое устройство (в основном используется для расчёта адресов и смещений)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Regfile – </a:t>
            </a:r>
            <a:r>
              <a:rPr lang="ru-RU" sz="1600"/>
              <a:t>регистровый файл, хранит операнды и результаты операций. 30 регистров общего назначения, 2 специализированных регистра (индекс вычислительного блока и константный нуль).</a:t>
            </a:r>
            <a:endParaRPr sz="1600"/>
          </a:p>
        </p:txBody>
      </p:sp>
      <p:sp>
        <p:nvSpPr>
          <p:cNvPr id="203262506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147309450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6091720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48347044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блока:</a:t>
            </a:r>
            <a:br>
              <a:rPr lang="ru-RU" sz="3600">
                <a:solidFill>
                  <a:schemeClr val="bg1"/>
                </a:solidFill>
              </a:rPr>
            </a:br>
            <a:r>
              <a:rPr lang="ru-RU" sz="3600">
                <a:solidFill>
                  <a:schemeClr val="bg1"/>
                </a:solidFill>
              </a:rPr>
              <a:t>общая структура</a:t>
            </a:r>
            <a:endParaRPr/>
          </a:p>
        </p:txBody>
      </p:sp>
      <p:pic>
        <p:nvPicPr>
          <p:cNvPr id="67223190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207840" y="1443556"/>
            <a:ext cx="5541424" cy="5157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64856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08734" y="1552574"/>
            <a:ext cx="4736810" cy="49402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вычислительными блоками;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 данные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</a:t>
            </a:r>
            <a:r>
              <a:rPr lang="ru-RU"/>
              <a:t>только при получении </a:t>
            </a:r>
            <a:r>
              <a:rPr lang="en-US"/>
              <a:t>LD/ST </a:t>
            </a:r>
            <a:r>
              <a:rPr lang="ru-RU"/>
              <a:t>инструкции</a:t>
            </a:r>
            <a:r>
              <a:rPr lang="ru-RU"/>
              <a:t>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83578360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05767295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35929783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79635589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Блок загрузки и сохранения</a:t>
            </a:r>
            <a:endParaRPr/>
          </a:p>
        </p:txBody>
      </p:sp>
      <p:pic>
        <p:nvPicPr>
          <p:cNvPr id="184092973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5437" y="1481884"/>
            <a:ext cx="7175859" cy="5010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5503186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0" y="1350173"/>
            <a:ext cx="56683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Арбитр </a:t>
            </a:r>
            <a:r>
              <a:rPr lang="ru-RU"/>
              <a:t>отслеживает запросы к памяти данных от вычислительных блоков;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в порядке очереди (</a:t>
            </a:r>
            <a:r>
              <a:rPr lang="en-US"/>
              <a:t>round-robin</a:t>
            </a:r>
            <a:r>
              <a:rPr lang="ru-RU"/>
              <a:t>);</a:t>
            </a:r>
            <a:endParaRPr lang="ru-RU"/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Арбитр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управляет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демультиплексором считанных данных и мультиплексором записываемых данных.</a:t>
            </a:r>
            <a:endParaRPr/>
          </a:p>
        </p:txBody>
      </p:sp>
      <p:sp>
        <p:nvSpPr>
          <p:cNvPr id="36209979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814142450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18277487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15905666" name="Заголовок 1"/>
          <p:cNvSpPr>
            <a:spLocks noGrp="1"/>
          </p:cNvSpPr>
          <p:nvPr>
            <p:ph type="title"/>
          </p:nvPr>
        </p:nvSpPr>
        <p:spPr bwMode="auto">
          <a:xfrm>
            <a:off x="842848" y="-10414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01488001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6868500" y="1437959"/>
            <a:ext cx="5268560" cy="52374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17167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77173" y="1350172"/>
            <a:ext cx="4826355" cy="550782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загрузки инструкций из памяти программ. Вычитывает инструкцию на которую указывает счётчик инструкций (</a:t>
            </a:r>
            <a:r>
              <a:rPr lang="en-US"/>
              <a:t>PC – program counter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</a:t>
            </a:r>
            <a:r>
              <a:rPr lang="ru-RU"/>
              <a:t>управляющие сигналы для исполнительных блоков (</a:t>
            </a:r>
            <a:r>
              <a:rPr lang="en-US"/>
              <a:t>TU, LSU</a:t>
            </a:r>
            <a:r>
              <a:rPr lang="ru-RU"/>
              <a:t>)</a:t>
            </a:r>
            <a:r>
              <a:rPr lang="en-US"/>
              <a:t>.</a:t>
            </a:r>
            <a:endParaRPr/>
          </a:p>
        </p:txBody>
      </p:sp>
      <p:sp>
        <p:nvSpPr>
          <p:cNvPr id="194345483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960363529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89817248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0163547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786174538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996910" y="1396865"/>
            <a:ext cx="6875366" cy="513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35465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6445" y="1959773"/>
            <a:ext cx="4816578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 результате работы:</a:t>
            </a:r>
            <a:endParaRPr sz="1600"/>
          </a:p>
          <a:p>
            <a:pPr lvl="1">
              <a:defRPr/>
            </a:pPr>
            <a:r>
              <a:rPr lang="ru-RU" sz="1600"/>
              <a:t>Проведен анализ существующих архитектур графических процессоров и ядер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ru-RU" sz="1600"/>
              <a:t>Спроектирована минимально необходимая архитектура набора инструкций </a:t>
            </a:r>
            <a:r>
              <a:rPr lang="en-US" sz="1600"/>
              <a:t>(ISA);</a:t>
            </a:r>
            <a:endParaRPr sz="1600"/>
          </a:p>
          <a:p>
            <a:pPr lvl="1">
              <a:defRPr/>
            </a:pPr>
            <a:r>
              <a:rPr lang="ru-RU" sz="1600"/>
              <a:t>Разработана архитектура упрощенного графического ядра с использованием метода поблочной декомпозиции;</a:t>
            </a:r>
            <a:endParaRPr sz="1600"/>
          </a:p>
          <a:p>
            <a:pPr lvl="1">
              <a:defRPr/>
            </a:pPr>
            <a:r>
              <a:rPr lang="ru-RU" sz="1600"/>
              <a:t>Разработана упрощенная модель графического ядра</a:t>
            </a:r>
            <a:r>
              <a:rPr lang="en-US" sz="1600"/>
              <a:t> </a:t>
            </a:r>
            <a:r>
              <a:rPr lang="ru-RU" sz="1600"/>
              <a:t>на языке описания аппаратуры </a:t>
            </a:r>
            <a:r>
              <a:rPr lang="en-US" sz="1600"/>
              <a:t>SystemVerilog</a:t>
            </a:r>
            <a:r>
              <a:rPr lang="ru-RU" sz="1600"/>
              <a:t>.</a:t>
            </a:r>
            <a:endParaRPr sz="1600"/>
          </a:p>
        </p:txBody>
      </p:sp>
      <p:sp>
        <p:nvSpPr>
          <p:cNvPr id="56472088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581631391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23140641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0351176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11367439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52470" y="1438274"/>
            <a:ext cx="7184591" cy="4905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03483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18106644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444704025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70909226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126831691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356744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По результатам текущей работы получен акт о внедрении разработки в деятельность АО «ПКК Миландр» №04-3 от 04.06.2026</a:t>
            </a:r>
            <a:endParaRPr sz="10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61605797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4"/>
            <a:ext cx="1052507" cy="365124"/>
          </a:xfrm>
        </p:spPr>
        <p:txBody>
          <a:bodyPr/>
          <a:lstStyle/>
          <a:p>
            <a:pPr>
              <a:defRPr/>
            </a:pPr>
            <a:fld id="{6737BC9E-E183-A7EE-0C01-BA6DD5EB0490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850575339" name="Прямоугольник 4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47076292" name="Прямоугольник 5"/>
          <p:cNvSpPr/>
          <p:nvPr/>
        </p:nvSpPr>
        <p:spPr bwMode="auto">
          <a:xfrm>
            <a:off x="0" y="1181590"/>
            <a:ext cx="12201298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0225618" name="Заголовок 1"/>
          <p:cNvSpPr>
            <a:spLocks noGrp="1"/>
          </p:cNvSpPr>
          <p:nvPr>
            <p:ph type="title"/>
          </p:nvPr>
        </p:nvSpPr>
        <p:spPr bwMode="auto">
          <a:xfrm>
            <a:off x="838198" y="1825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Внедрение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3918151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36825480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683107362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37606377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99791167" name="Заголовок 1"/>
          <p:cNvSpPr>
            <a:spLocks noGrp="1"/>
          </p:cNvSpPr>
          <p:nvPr>
            <p:ph type="title"/>
          </p:nvPr>
        </p:nvSpPr>
        <p:spPr bwMode="auto">
          <a:xfrm>
            <a:off x="916446" y="17498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169919" name="Прямоугольник 3"/>
          <p:cNvSpPr/>
          <p:nvPr/>
        </p:nvSpPr>
        <p:spPr bwMode="auto">
          <a:xfrm flipH="0" flipV="0">
            <a:off x="0" y="246891"/>
            <a:ext cx="12191999" cy="42211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14470452" name="Прямоугольник 4"/>
          <p:cNvSpPr/>
          <p:nvPr/>
        </p:nvSpPr>
        <p:spPr bwMode="auto">
          <a:xfrm flipH="0" flipV="0">
            <a:off x="0" y="5021125"/>
            <a:ext cx="12191999" cy="164637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02617831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644243" y="2028711"/>
            <a:ext cx="8345667" cy="140028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ru-RU" sz="3200" b="1">
                <a:solidFill>
                  <a:schemeClr val="bg1"/>
                </a:solidFill>
              </a:rPr>
              <a:t>Разработка </a:t>
            </a:r>
            <a:r>
              <a:rPr lang="ru-RU" sz="3200" b="1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 b="1">
                <a:solidFill>
                  <a:schemeClr val="bg1"/>
                </a:solidFill>
              </a:rPr>
              <a:t>HDL </a:t>
            </a:r>
            <a:r>
              <a:rPr lang="ru-RU" sz="3200" b="1">
                <a:solidFill>
                  <a:schemeClr val="bg1"/>
                </a:solidFill>
              </a:rPr>
              <a:t>модели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1202635747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7"/>
            <a:ext cx="6051235" cy="124182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  <p:sp>
        <p:nvSpPr>
          <p:cNvPr id="663392197" name="Заголовок 1"/>
          <p:cNvSpPr>
            <a:spLocks noGrp="1"/>
          </p:cNvSpPr>
          <p:nvPr/>
        </p:nvSpPr>
        <p:spPr bwMode="auto">
          <a:xfrm flipH="0" flipV="0">
            <a:off x="1644243" y="383435"/>
            <a:ext cx="8345667" cy="766221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845622317" name="Заголовок 1"/>
          <p:cNvSpPr>
            <a:spLocks noGrp="1"/>
          </p:cNvSpPr>
          <p:nvPr/>
        </p:nvSpPr>
        <p:spPr bwMode="auto">
          <a:xfrm flipH="0" flipV="0">
            <a:off x="1644243" y="1149656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Факультет прикладной математики, информатики и механики Кафедра вычислительной математики и прикладных информационных технологий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sp>
        <p:nvSpPr>
          <p:cNvPr id="1865693039" name="Заголовок 1"/>
          <p:cNvSpPr>
            <a:spLocks noGrp="1"/>
          </p:cNvSpPr>
          <p:nvPr/>
        </p:nvSpPr>
        <p:spPr bwMode="auto">
          <a:xfrm flipH="0" flipV="0">
            <a:off x="1644243" y="3544760"/>
            <a:ext cx="8345667" cy="766220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Магистерская диссертация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  <a:p>
            <a:pPr>
              <a:defRPr/>
            </a:pPr>
            <a:r>
              <a:rPr lang="ru-RU"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Направление 01.04.02 Прикладная математика и информатика</a:t>
            </a:r>
            <a:endParaRPr lang="ru-RU" sz="1600" b="0" i="0" u="none">
              <a:solidFill>
                <a:schemeClr val="bg1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224178088" name="Заголовок 1"/>
          <p:cNvSpPr>
            <a:spLocks noGrp="1"/>
          </p:cNvSpPr>
          <p:nvPr/>
        </p:nvSpPr>
        <p:spPr bwMode="auto">
          <a:xfrm flipH="0" flipV="0">
            <a:off x="5170877" y="5951875"/>
            <a:ext cx="1850245" cy="630957"/>
          </a:xfrm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600" b="0" i="0" u="none">
                <a:solidFill>
                  <a:schemeClr val="bg1"/>
                </a:solidFill>
                <a:latin typeface="Trebuchet MS"/>
                <a:ea typeface="Trebuchet MS"/>
                <a:cs typeface="Trebuchet MS"/>
              </a:rPr>
              <a:t>Воронеж 2026</a:t>
            </a:r>
            <a:endParaRPr sz="800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39</cp:revision>
  <dcterms:created xsi:type="dcterms:W3CDTF">2026-06-01T16:03:18Z</dcterms:created>
  <dcterms:modified xsi:type="dcterms:W3CDTF">2026-06-17T05:33:29Z</dcterms:modified>
</cp:coreProperties>
</file>