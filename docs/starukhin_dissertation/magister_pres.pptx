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26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1A3260"/>
    <a:srgbClr val="283A6E"/>
    <a:srgbClr val="364F96"/>
    <a:srgbClr val="606ED6"/>
    <a:srgbClr val="4463C8"/>
    <a:srgbClr val="79A0D9"/>
    <a:srgbClr val="1022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534" y="10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600042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20215679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02.06.2026</a:t>
            </a:fld>
            <a:endParaRPr lang="ru-RU"/>
          </a:p>
        </p:txBody>
      </p:sp>
      <p:sp>
        <p:nvSpPr>
          <p:cNvPr id="810129978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369944346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7417343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89613254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1375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8407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4814643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1701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8120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399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11215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583486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910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675993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547496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169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11040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123588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4978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319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2391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850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9BC998-3455-E361-253C-3B87DD69CA9D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C823A7-8D6B-46F3-989B-C80DD4AFA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3FF777-6BA8-465D-BD8C-A33CBDF668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63E6B88-A2F1-47BE-A765-D87C6788A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64E949B-752F-4A71-A243-047E6613A32E}" type="datetime1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31E99E-2FC5-4AB3-A0AE-24BBFEA2D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FCA2EB-C187-4770-9154-6297C63C6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3607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D92FBC-54D2-465B-B085-7DE31023B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6AEB1AF-68C8-491A-9186-ED2BC2663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E3D714-777D-45A9-9B62-D23C3DE63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B2D18A6-5519-416E-A160-669FC8C75E20}" type="datetime1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801B1E-A851-4FD9-9556-9FAFACF21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FE723D-9825-479C-9F5E-C051B02BB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2133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D5715C-D229-42FD-BAE0-C608F3032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27E28A-1D31-48B5-A914-0853CE4FC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638DB7F-249F-4D1C-B5A6-55F5ED077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FDFF63E-A7E5-4C7D-A2C9-DA69D5675040}" type="datetime1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742DBB-9BFE-4915-AD34-F46B4B084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67A5A1-4593-4D2D-82D4-3FE4C8949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6830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4FE7A9-CF92-4B82-8C73-B15325D1C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1BA9E4-BE7A-4D71-A02F-DCDE5B0FBD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7A0B509-8FDB-4585-86E7-0B1DE095C6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3BBCE67-9BF8-49F7-A961-3AF678B68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464CDE6-6F92-4C74-BFB3-7167DEA2EA4E}" type="datetime1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BE12516-2F9E-4E5F-83D3-76063189B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F885B96-0994-496D-B78B-13D73496E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0853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268038-6DE1-4431-BEEE-497BCADB8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69C729-6EF0-4A8C-A6E4-631BB349CD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86A5CF5-ADDE-464E-9F2A-62ECB3E5EA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1FAE682-DCBD-4007-95A5-22F2312BDC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894329F-9EA3-486E-821B-995A725156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BB84F95-6133-49B2-AA66-FA3D0D00F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9B7B28A-94DD-44EC-83BF-F9E9490C49B9}" type="datetime1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54B2AFB-B5EE-4161-80F9-A9124C8E5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8F9FCAD-9043-473F-BEF0-4D21CDBA0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714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21044D-76BF-46FB-A133-01A279FB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85687AE-C775-4A15-AED6-769CBD8EA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9CBEF87-A1CE-4AD3-B312-24E4060B669E}" type="datetime1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4F60755-D067-4E89-9DB3-72FE29F23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A875AAB-29B0-4BF1-B70F-D07BCC0B2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038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AE74700-5C56-48AC-8DFB-2F9677C95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A3597E-B3B5-450E-90FE-FB59F904A164}" type="datetime1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DB24A97-6826-48D7-80ED-F1C691C2E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A845FD5-CE79-4494-AFD8-2BC519B43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642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44B5E8-8EBC-4DC2-83A3-686BE697C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34237C-72E2-4959-9A3C-F369A28DE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EF0D809-EA2F-450B-892B-A5501761EE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D56C0A0-8CC7-460E-82DF-090AF9F92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1C926F4-5876-4D6C-B300-7031A7F64CBB}" type="datetime1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CE2982-399F-4B68-A1D4-50D9C4462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93BABD3-2282-442B-B581-C4572C5F8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1228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CA95EE-9FAE-4240-9C43-6705802E0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8F20C3B-151C-45ED-8A0E-DE7984ED9F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580DB6F-69B8-42CD-836E-88D6FB2BB0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DE8162-B11A-4E88-916F-D4B04A424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C357E52-6772-44D2-9B1A-046730665B12}" type="datetime1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D6962EA-58B8-4F7B-85F8-C3BE200D2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76BFEE2-2550-40C8-8EFB-F39A8ED3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070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59E042-A299-4B1C-8881-B96759A46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C6B36D2-AFB7-4F28-B2CD-766004B91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061588-44B5-40D9-97E8-DFA0122F7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A5CB82E-191B-43B0-A738-8B9909F88B35}" type="datetime1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E9735A7-F581-4DF6-B546-1CE2AD7FA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DE3139-A44D-4F95-B215-ADC46BC9E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5601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7371ABC-3C21-448B-9541-B1EC97ADD7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70F40D6-252C-4583-A3AB-03604022ED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1A23DB2-BE5E-4BCC-9264-DFF5F2DFD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730D1F9-634A-465B-B25E-CF53749F388C}" type="datetime1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25DFC3-6AA7-4E83-92EA-58E787B09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20AF95-1CAC-4493-B1A3-8996D7A38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60731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09211206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1050962785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365040855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1629349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12896447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28725798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2421084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2D43468-8071-4A79-9713-FA03F2A56FC7}" type="datetime1">
              <a:rPr lang="ru-RU" smtClean="0"/>
              <a:t>02.06.2026</a:t>
            </a:fld>
            <a:endParaRPr lang="ru-RU"/>
          </a:p>
        </p:txBody>
      </p:sp>
      <p:sp>
        <p:nvSpPr>
          <p:cNvPr id="16045404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0249881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1_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134059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346934239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43553658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46760464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581889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0679286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1652500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AA47A0-2EBA-44E2-BFE5-02832F0BA229}" type="datetime1">
              <a:rPr lang="ru-RU" smtClean="0"/>
              <a:t>02.06.2026</a:t>
            </a:fld>
            <a:endParaRPr lang="ru-RU"/>
          </a:p>
        </p:txBody>
      </p:sp>
      <p:sp>
        <p:nvSpPr>
          <p:cNvPr id="12681080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4022686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1_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529768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1666246801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771321538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6525487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66024620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147325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943075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E3FDA68-1834-4C1F-B2CC-B0A0766ED8A5}" type="datetime1">
              <a:rPr lang="ru-RU" smtClean="0"/>
              <a:t>02.06.2026</a:t>
            </a:fld>
            <a:endParaRPr lang="ru-RU"/>
          </a:p>
        </p:txBody>
      </p:sp>
      <p:sp>
        <p:nvSpPr>
          <p:cNvPr id="141010472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96154127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9548034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920338069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8033058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41279721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644811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5856490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5628943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20749186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303EE3-BBFB-41F4-B1FB-4E4CF27ED9D2}" type="datetime1">
              <a:rPr lang="ru-RU" smtClean="0"/>
              <a:t>02.06.2026</a:t>
            </a:fld>
            <a:endParaRPr lang="ru-RU"/>
          </a:p>
        </p:txBody>
      </p:sp>
      <p:sp>
        <p:nvSpPr>
          <p:cNvPr id="12729829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961552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42211627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58991798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892305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33220948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07038339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2877343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315980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21262744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953118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05525940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6D59AE-5854-4542-9FF1-1EC4E5A530D5}" type="datetime1">
              <a:rPr lang="ru-RU" smtClean="0"/>
              <a:t>02.06.2026</a:t>
            </a:fld>
            <a:endParaRPr lang="ru-RU"/>
          </a:p>
        </p:txBody>
      </p:sp>
      <p:sp>
        <p:nvSpPr>
          <p:cNvPr id="110264390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1278376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1_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2245974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85598967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432628426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85589091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390695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27575949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C785264-56B0-460E-A2C2-C886D7CC0782}" type="datetime1">
              <a:rPr lang="ru-RU" smtClean="0"/>
              <a:t>02.06.2026</a:t>
            </a:fld>
            <a:endParaRPr lang="ru-RU"/>
          </a:p>
        </p:txBody>
      </p:sp>
      <p:sp>
        <p:nvSpPr>
          <p:cNvPr id="146323628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3410347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87658235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2259942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0460049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AAA0283-F641-48C8-BAB7-8AC6BD361923}" type="datetime1">
              <a:rPr lang="ru-RU" smtClean="0"/>
              <a:t>02.06.2026</a:t>
            </a:fld>
            <a:endParaRPr lang="ru-RU"/>
          </a:p>
        </p:txBody>
      </p:sp>
      <p:sp>
        <p:nvSpPr>
          <p:cNvPr id="192867952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6903032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1_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4990275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279894507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043073624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1696836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26398279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8288078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3190883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73156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10133D-16A4-41F1-B8F2-C1B694F00730}" type="datetime1">
              <a:rPr lang="ru-RU" smtClean="0"/>
              <a:t>02.06.2026</a:t>
            </a:fld>
            <a:endParaRPr lang="ru-RU"/>
          </a:p>
        </p:txBody>
      </p:sp>
      <p:sp>
        <p:nvSpPr>
          <p:cNvPr id="213966707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220218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1_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75428653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342011102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842717191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73730678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22164944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51347225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37111769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8347686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5D9257-9E03-404F-95EE-486F8868E3F2}" type="datetime1">
              <a:rPr lang="ru-RU" smtClean="0"/>
              <a:t>02.06.2026</a:t>
            </a:fld>
            <a:endParaRPr lang="ru-RU"/>
          </a:p>
        </p:txBody>
      </p:sp>
      <p:sp>
        <p:nvSpPr>
          <p:cNvPr id="81251195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2899974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1372903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613257239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5781675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39881770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45690459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3932161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45520034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2668745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6571D8-6559-4269-B7BA-EACD5F8873B8}" type="datetime1">
              <a:rPr lang="ru-RU" smtClean="0"/>
              <a:t>02.06.2026</a:t>
            </a:fld>
            <a:endParaRPr lang="ru-RU"/>
          </a:p>
        </p:txBody>
      </p:sp>
      <p:sp>
        <p:nvSpPr>
          <p:cNvPr id="191477591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591859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64341191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395590212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295152757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78457107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04919064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33698719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7867371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52607F1-4CB0-4741-B752-77795AAFB6CE}" type="datetime1">
              <a:rPr lang="ru-RU" smtClean="0"/>
              <a:t>02.06.2026</a:t>
            </a:fld>
            <a:endParaRPr lang="ru-RU"/>
          </a:p>
        </p:txBody>
      </p:sp>
      <p:sp>
        <p:nvSpPr>
          <p:cNvPr id="11406779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7775505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98309954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566185227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720301802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78297690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62823921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509123735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2789416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31816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D0F2E69-AF6B-4D0C-824F-3DADD254BF95}" type="datetime1">
              <a:rPr lang="ru-RU" smtClean="0"/>
              <a:t>02.06.2026</a:t>
            </a:fld>
            <a:endParaRPr lang="ru-RU"/>
          </a:p>
        </p:txBody>
      </p:sp>
      <p:sp>
        <p:nvSpPr>
          <p:cNvPr id="212327382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22435892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964732029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583924282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1943642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988248187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545825747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55113912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96869761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5578098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994498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61B190-EA0F-465A-8B4C-40AE0FF8CD42}" type="datetime1">
              <a:rPr lang="ru-RU" smtClean="0"/>
              <a:t>02.06.2026</a:t>
            </a:fld>
            <a:endParaRPr lang="ru-RU"/>
          </a:p>
        </p:txBody>
      </p:sp>
      <p:sp>
        <p:nvSpPr>
          <p:cNvPr id="19575125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71711154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797715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265163642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56387955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0101535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5775338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7753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1948938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14535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838856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838342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8975096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831138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BFF2AA-51FD-495E-9B6C-53E0CCE8720E}" type="datetime1">
              <a:rPr lang="ru-RU" smtClean="0"/>
              <a:t>02.06.2026</a:t>
            </a:fld>
            <a:endParaRPr lang="ru-RU"/>
          </a:p>
        </p:txBody>
      </p:sp>
      <p:sp>
        <p:nvSpPr>
          <p:cNvPr id="34125432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8851813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5116697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41189257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54090862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43203097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17889252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5598728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70286965" name="Picture Placeholder 2"/>
          <p:cNvSpPr>
            <a:spLocks noGrp="1" noChangeAspect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268466834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247630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55148989" name="Picture Placeholder 2"/>
          <p:cNvSpPr>
            <a:spLocks noGrp="1" noChangeAspect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8943585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0377680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29398258" name="Picture Placeholder 2"/>
          <p:cNvSpPr>
            <a:spLocks noGrp="1" noChangeAspect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2076614127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7900549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32452-DB40-464D-817C-83D7743D6F57}" type="datetime1">
              <a:rPr lang="ru-RU" smtClean="0"/>
              <a:t>02.06.2026</a:t>
            </a:fld>
            <a:endParaRPr lang="ru-RU"/>
          </a:p>
        </p:txBody>
      </p:sp>
      <p:sp>
        <p:nvSpPr>
          <p:cNvPr id="14027264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3644941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1_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418109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5723357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32203253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82143054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876124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44965961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1724112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7BE9EF-9137-4EC0-A2FE-700F392F3BEF}" type="datetime1">
              <a:rPr lang="ru-RU" smtClean="0"/>
              <a:t>02.06.2026</a:t>
            </a:fld>
            <a:endParaRPr lang="ru-RU"/>
          </a:p>
        </p:txBody>
      </p:sp>
      <p:sp>
        <p:nvSpPr>
          <p:cNvPr id="16285395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419536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1_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4517991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657084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0070518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9077264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82094764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2BF7793B-D180-44C4-B91E-57912C70F4D0}" type="datetime1">
              <a:rPr lang="ru-RU" smtClean="0"/>
              <a:t>02.06.2026</a:t>
            </a:fld>
            <a:endParaRPr lang="ru-RU"/>
          </a:p>
        </p:txBody>
      </p:sp>
      <p:sp>
        <p:nvSpPr>
          <p:cNvPr id="1354453286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2046452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46A9ED-C244-4927-8573-BCCF64C9D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00C069E-F34F-4BCD-9889-4EEF37B716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6131901-6EF3-4602-B1C1-2574A0CFE5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01D4F3A-ABC6-43DF-ACA3-965C94B45EAB}" type="datetime1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D73A9F3-021A-4C93-B66E-08C4D7EFBD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9F4A90-660A-441E-9A3C-E8A68E51B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027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649" r:id="rId12"/>
    <p:sldLayoutId id="2147483650" r:id="rId13"/>
    <p:sldLayoutId id="2147483651" r:id="rId14"/>
    <p:sldLayoutId id="2147483652" r:id="rId15"/>
    <p:sldLayoutId id="2147483653" r:id="rId16"/>
    <p:sldLayoutId id="2147483654" r:id="rId17"/>
    <p:sldLayoutId id="2147483655" r:id="rId18"/>
    <p:sldLayoutId id="2147483656" r:id="rId19"/>
    <p:sldLayoutId id="2147483657" r:id="rId20"/>
    <p:sldLayoutId id="2147483658" r:id="rId21"/>
    <p:sldLayoutId id="2147483659" r:id="rId22"/>
    <p:sldLayoutId id="2147483660" r:id="rId23"/>
    <p:sldLayoutId id="2147483661" r:id="rId24"/>
    <p:sldLayoutId id="2147483662" r:id="rId25"/>
    <p:sldLayoutId id="2147483663" r:id="rId26"/>
    <p:sldLayoutId id="2147483664" r:id="rId27"/>
    <p:sldLayoutId id="2147483665" r:id="rId2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17B6696-6B3A-467D-9BC5-32641F922725}"/>
              </a:ext>
            </a:extLst>
          </p:cNvPr>
          <p:cNvSpPr/>
          <p:nvPr/>
        </p:nvSpPr>
        <p:spPr bwMode="auto">
          <a:xfrm>
            <a:off x="0" y="1381233"/>
            <a:ext cx="12192000" cy="1810533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45E0026-62F7-4558-96ED-25955F1A7E09}"/>
              </a:ext>
            </a:extLst>
          </p:cNvPr>
          <p:cNvSpPr/>
          <p:nvPr/>
        </p:nvSpPr>
        <p:spPr bwMode="auto">
          <a:xfrm>
            <a:off x="0" y="5021126"/>
            <a:ext cx="12192000" cy="1385894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4431685" name="Заголовок 1"/>
          <p:cNvSpPr>
            <a:spLocks noGrp="1"/>
          </p:cNvSpPr>
          <p:nvPr>
            <p:ph type="ctrTitle"/>
          </p:nvPr>
        </p:nvSpPr>
        <p:spPr bwMode="auto">
          <a:xfrm>
            <a:off x="422988" y="1604865"/>
            <a:ext cx="8345668" cy="1400288"/>
          </a:xfrm>
        </p:spPr>
        <p:txBody>
          <a:bodyPr>
            <a:noAutofit/>
          </a:bodyPr>
          <a:lstStyle/>
          <a:p>
            <a:pPr algn="l">
              <a:defRPr/>
            </a:pPr>
            <a:r>
              <a:rPr lang="ru-RU" sz="3200" dirty="0">
                <a:solidFill>
                  <a:schemeClr val="bg1"/>
                </a:solidFill>
              </a:rPr>
              <a:t>Разработка упрощенного графического ускорителя. Разработка модели упрощенного графического ядра.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82112916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502754" y="5083330"/>
            <a:ext cx="6051236" cy="1241828"/>
          </a:xfrm>
        </p:spPr>
        <p:txBody>
          <a:bodyPr>
            <a:normAutofit fontScale="85000" lnSpcReduction="20000"/>
          </a:bodyPr>
          <a:lstStyle/>
          <a:p>
            <a:pPr algn="r">
              <a:defRPr/>
            </a:pPr>
            <a:r>
              <a:rPr lang="ru-RU" dirty="0">
                <a:solidFill>
                  <a:schemeClr val="bg1"/>
                </a:solidFill>
              </a:rPr>
              <a:t>Воронежский Государственный Университет</a:t>
            </a:r>
            <a:endParaRPr dirty="0"/>
          </a:p>
          <a:p>
            <a:pPr algn="r">
              <a:defRPr/>
            </a:pPr>
            <a:r>
              <a:rPr lang="ru-RU" dirty="0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 dirty="0"/>
          </a:p>
          <a:p>
            <a:pPr algn="r">
              <a:defRPr/>
            </a:pPr>
            <a:r>
              <a:rPr lang="ru-RU" dirty="0">
                <a:solidFill>
                  <a:schemeClr val="bg1"/>
                </a:solidFill>
              </a:rPr>
              <a:t>Руководитель: Авсеева О.В.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AAD5E1-55BB-4BE7-99E3-49E658CE347D}"/>
              </a:ext>
            </a:extLst>
          </p:cNvPr>
          <p:cNvSpPr/>
          <p:nvPr/>
        </p:nvSpPr>
        <p:spPr bwMode="auto">
          <a:xfrm>
            <a:off x="0" y="-1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4165814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7848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Введение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57565831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3586383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 panose="020B0603020202020204" pitchFamily="34" charset="0"/>
              </a:rPr>
              <a:t>2</a:t>
            </a:fld>
            <a:endParaRPr lang="ru-RU" sz="18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D084826-66AE-4949-BF8B-CB3367D36333}"/>
              </a:ext>
            </a:extLst>
          </p:cNvPr>
          <p:cNvSpPr/>
          <p:nvPr/>
        </p:nvSpPr>
        <p:spPr bwMode="auto">
          <a:xfrm>
            <a:off x="0" y="1220090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220934" name="Объект 2"/>
          <p:cNvSpPr>
            <a:spLocks noGrp="1"/>
          </p:cNvSpPr>
          <p:nvPr>
            <p:ph idx="1"/>
          </p:nvPr>
        </p:nvSpPr>
        <p:spPr bwMode="auto">
          <a:xfrm>
            <a:off x="4649" y="1635966"/>
            <a:ext cx="12201298" cy="3600467"/>
          </a:xfrm>
          <a:noFill/>
        </p:spPr>
        <p:txBody>
          <a:bodyPr>
            <a:normAutofit/>
          </a:bodyPr>
          <a:lstStyle/>
          <a:p>
            <a:pPr>
              <a:defRPr/>
            </a:pPr>
            <a:r>
              <a:rPr lang="ru-RU" sz="2400" dirty="0"/>
              <a:t>Цели</a:t>
            </a:r>
            <a:endParaRPr sz="2400" dirty="0"/>
          </a:p>
          <a:p>
            <a:pPr lvl="1">
              <a:defRPr/>
            </a:pPr>
            <a:r>
              <a:rPr lang="ru-RU" sz="2000" dirty="0"/>
              <a:t>Разработать упрощенную модель графического ядра на языке описания аппаратуры </a:t>
            </a:r>
            <a:r>
              <a:rPr lang="en-US" sz="2000" dirty="0" err="1"/>
              <a:t>SystemVerilog</a:t>
            </a:r>
            <a:r>
              <a:rPr lang="ru-RU" sz="2000" dirty="0"/>
              <a:t>.</a:t>
            </a:r>
            <a:endParaRPr sz="2000" dirty="0"/>
          </a:p>
          <a:p>
            <a:pPr>
              <a:defRPr/>
            </a:pPr>
            <a:r>
              <a:rPr lang="ru-RU" sz="2400" dirty="0"/>
              <a:t>Задачи</a:t>
            </a:r>
            <a:endParaRPr sz="2400" dirty="0"/>
          </a:p>
          <a:p>
            <a:pPr lvl="1">
              <a:defRPr/>
            </a:pPr>
            <a:r>
              <a:rPr lang="ru-RU" sz="2000" dirty="0"/>
              <a:t>Провести анализ существующих архитектур графических процессоров и ядер;</a:t>
            </a:r>
            <a:endParaRPr sz="2000" dirty="0"/>
          </a:p>
          <a:p>
            <a:pPr lvl="1">
              <a:defRPr/>
            </a:pPr>
            <a:r>
              <a:rPr lang="ru-RU" sz="2000" dirty="0"/>
              <a:t>Спроектировать минимальную необходимую архитектуру набора инструкций (</a:t>
            </a:r>
            <a:r>
              <a:rPr lang="en-US" sz="2000" dirty="0"/>
              <a:t>ISA)</a:t>
            </a:r>
            <a:r>
              <a:rPr lang="ru-RU" sz="2000" dirty="0"/>
              <a:t>;</a:t>
            </a:r>
            <a:endParaRPr sz="2000" dirty="0"/>
          </a:p>
          <a:p>
            <a:pPr lvl="1">
              <a:defRPr/>
            </a:pPr>
            <a:r>
              <a:rPr lang="ru-RU" sz="2000" dirty="0"/>
              <a:t>Разработать архитектуру упрощенного графического ядра;</a:t>
            </a:r>
            <a:endParaRPr sz="2000" dirty="0"/>
          </a:p>
          <a:p>
            <a:pPr lvl="1">
              <a:defRPr/>
            </a:pPr>
            <a:r>
              <a:rPr lang="ru-RU" sz="2000" dirty="0"/>
              <a:t>Разработать модель упрощенного графического ядра, используя метод поблочной декомпозиции.</a:t>
            </a:r>
            <a:endParaRPr sz="2000" dirty="0"/>
          </a:p>
        </p:txBody>
      </p:sp>
      <p:sp>
        <p:nvSpPr>
          <p:cNvPr id="142459921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 panose="020B0603020202020204" pitchFamily="34" charset="0"/>
              </a:rPr>
              <a:t>3</a:t>
            </a:fld>
            <a:endParaRPr lang="ru-RU" sz="18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76C224B-8E1E-40B8-9623-F7A98F223FE8}"/>
              </a:ext>
            </a:extLst>
          </p:cNvPr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2146868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8" y="5651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Постановка задачи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76A325-DE8A-4449-80A9-A6E1A6E8D04F}"/>
              </a:ext>
            </a:extLst>
          </p:cNvPr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306072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753006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 smtClean="0">
                <a:solidFill>
                  <a:schemeClr val="tx1"/>
                </a:solidFill>
                <a:latin typeface="Trebuchet MS" panose="020B0603020202020204" pitchFamily="34" charset="0"/>
              </a:rPr>
              <a:t>4</a:t>
            </a:fld>
            <a:endParaRPr lang="ru-RU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D34F02D-ED51-4681-8E54-C4DD17C72819}"/>
              </a:ext>
            </a:extLst>
          </p:cNvPr>
          <p:cNvSpPr/>
          <p:nvPr/>
        </p:nvSpPr>
        <p:spPr bwMode="auto">
          <a:xfrm>
            <a:off x="0" y="-72479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6617658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7247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Актуальность работы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D8F3B1C-2272-460C-9681-B2824B74C3EE}"/>
              </a:ext>
            </a:extLst>
          </p:cNvPr>
          <p:cNvSpPr/>
          <p:nvPr/>
        </p:nvSpPr>
        <p:spPr bwMode="auto">
          <a:xfrm>
            <a:off x="0" y="1121016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5096F3F-A17C-48BC-9F25-FD531BC179FF}"/>
              </a:ext>
            </a:extLst>
          </p:cNvPr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9573303-DBD4-445F-9787-152B7C74F473}"/>
              </a:ext>
            </a:extLst>
          </p:cNvPr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68485794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3" y="44221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Обзор существующих архитектур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44536380" name="Объект 2"/>
          <p:cNvSpPr>
            <a:spLocks noGrp="1"/>
          </p:cNvSpPr>
          <p:nvPr>
            <p:ph idx="1"/>
          </p:nvPr>
        </p:nvSpPr>
        <p:spPr bwMode="auto">
          <a:xfrm>
            <a:off x="642375" y="1835768"/>
            <a:ext cx="4414193" cy="131258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- </a:t>
            </a:r>
            <a:r>
              <a:rPr lang="ru-RU" dirty="0"/>
              <a:t>Все архитектуры имеют унифицированные вычислительные элементы</a:t>
            </a:r>
          </a:p>
          <a:p>
            <a:pPr>
              <a:buFontTx/>
              <a:buChar char="-"/>
              <a:defRPr/>
            </a:pPr>
            <a:endParaRPr lang="ru-RU" dirty="0"/>
          </a:p>
        </p:txBody>
      </p:sp>
      <p:sp>
        <p:nvSpPr>
          <p:cNvPr id="206512932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9493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 smtClean="0">
                <a:solidFill>
                  <a:schemeClr val="tx1"/>
                </a:solidFill>
                <a:latin typeface="Trebuchet MS" panose="020B0603020202020204" pitchFamily="34" charset="0"/>
              </a:rPr>
              <a:t>5</a:t>
            </a:fld>
            <a:endParaRPr lang="ru-RU" sz="18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pic>
        <p:nvPicPr>
          <p:cNvPr id="363219215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840255" y="3230308"/>
            <a:ext cx="4035286" cy="3050099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23635919" name="Рисунок 7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29773" y="3230343"/>
            <a:ext cx="5609139" cy="3050099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909941608" name="Объект 2"/>
          <p:cNvSpPr>
            <a:spLocks noGrp="1"/>
          </p:cNvSpPr>
          <p:nvPr/>
        </p:nvSpPr>
        <p:spPr bwMode="auto">
          <a:xfrm>
            <a:off x="5753879" y="1907410"/>
            <a:ext cx="5223704" cy="1169299"/>
          </a:xfr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FontTx/>
              <a:buChar char="-"/>
              <a:defRPr/>
            </a:pPr>
            <a:r>
              <a:rPr lang="ru-RU" sz="2800" b="0" i="0" u="none" strike="noStrike" cap="none" spc="0" dirty="0">
                <a:latin typeface="+mn-lt"/>
                <a:ea typeface="+mn-ea"/>
                <a:cs typeface="+mn-cs"/>
              </a:rPr>
              <a:t>Применяются отдельные вычислители вещественных и целых данных</a:t>
            </a:r>
            <a:endParaRPr sz="2800" dirty="0"/>
          </a:p>
          <a:p>
            <a:pPr>
              <a:defRPr/>
            </a:pPr>
            <a:endParaRPr sz="2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9258709" name="Объект 2"/>
          <p:cNvSpPr>
            <a:spLocks noGrp="1"/>
          </p:cNvSpPr>
          <p:nvPr>
            <p:ph idx="1"/>
          </p:nvPr>
        </p:nvSpPr>
        <p:spPr bwMode="auto">
          <a:xfrm>
            <a:off x="33403" y="1847461"/>
            <a:ext cx="3765608" cy="3599316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ru-RU" dirty="0"/>
              <a:t>Минимально необходимый набор инструкций взят с дампа промежуточного представления</a:t>
            </a:r>
            <a:r>
              <a:rPr lang="en-US" dirty="0"/>
              <a:t> VKCUBE</a:t>
            </a:r>
            <a:endParaRPr dirty="0"/>
          </a:p>
          <a:p>
            <a:pPr>
              <a:defRPr/>
            </a:pPr>
            <a:r>
              <a:rPr lang="ru-RU" dirty="0"/>
              <a:t>В качестве основы взята архитектура набора инструкций </a:t>
            </a:r>
            <a:r>
              <a:rPr lang="en-US" dirty="0"/>
              <a:t>RISC-V</a:t>
            </a:r>
            <a:endParaRPr lang="ru-RU" dirty="0"/>
          </a:p>
        </p:txBody>
      </p:sp>
      <p:sp>
        <p:nvSpPr>
          <p:cNvPr id="129668377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65512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 panose="020B0603020202020204" pitchFamily="34" charset="0"/>
              </a:rPr>
              <a:t>6</a:t>
            </a:fld>
            <a:endParaRPr lang="ru-RU" sz="18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pic>
        <p:nvPicPr>
          <p:cNvPr id="165655821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365118" y="1967030"/>
            <a:ext cx="4522692" cy="1901649"/>
          </a:xfrm>
          <a:prstGeom prst="rect">
            <a:avLst/>
          </a:prstGeom>
          <a:ln w="28575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421075016" name="Рисунок 1421075015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</p:blipFill>
        <p:spPr bwMode="auto">
          <a:xfrm>
            <a:off x="4232745" y="1967030"/>
            <a:ext cx="2915269" cy="2101525"/>
          </a:xfrm>
          <a:prstGeom prst="rect">
            <a:avLst/>
          </a:prstGeom>
          <a:ln w="28575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824725A-6950-4292-816A-87C366CB9B6C}"/>
              </a:ext>
            </a:extLst>
          </p:cNvPr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E6FFACD-16DA-4785-9E2B-D1F481F5B9F9}"/>
              </a:ext>
            </a:extLst>
          </p:cNvPr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00461559" name="Заголовок 1"/>
          <p:cNvSpPr>
            <a:spLocks noGrp="1"/>
          </p:cNvSpPr>
          <p:nvPr>
            <p:ph type="title"/>
          </p:nvPr>
        </p:nvSpPr>
        <p:spPr bwMode="auto">
          <a:xfrm>
            <a:off x="387637" y="-116036"/>
            <a:ext cx="11223171" cy="1325563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Разработка модели графического ядра: разработка архитектуры набора инструкций </a:t>
            </a:r>
            <a:r>
              <a:rPr lang="en-US" dirty="0">
                <a:solidFill>
                  <a:schemeClr val="bg1"/>
                </a:solidFill>
              </a:rPr>
              <a:t>(ISA)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2684D03-42D8-4C36-8266-A6BB778C05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78376" y="4392369"/>
            <a:ext cx="4475429" cy="14604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0479278" name="Объект 2"/>
          <p:cNvSpPr>
            <a:spLocks noGrp="1"/>
          </p:cNvSpPr>
          <p:nvPr>
            <p:ph idx="1"/>
          </p:nvPr>
        </p:nvSpPr>
        <p:spPr bwMode="auto">
          <a:xfrm>
            <a:off x="568954" y="2054142"/>
            <a:ext cx="417651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0000" lnSpcReduction="20000"/>
          </a:bodyPr>
          <a:lstStyle/>
          <a:p>
            <a:pPr>
              <a:defRPr/>
            </a:pPr>
            <a:r>
              <a:rPr lang="en-US" dirty="0"/>
              <a:t>Fetcher</a:t>
            </a:r>
            <a:r>
              <a:rPr lang="ru-RU" dirty="0"/>
              <a:t> захватывает инструкцию из памяти;</a:t>
            </a:r>
          </a:p>
          <a:p>
            <a:pPr>
              <a:defRPr/>
            </a:pPr>
            <a:r>
              <a:rPr lang="en-US" dirty="0"/>
              <a:t>Decoder</a:t>
            </a:r>
            <a:r>
              <a:rPr lang="ru-RU" dirty="0"/>
              <a:t> декодирует инструкцию для передачи </a:t>
            </a:r>
            <a:r>
              <a:rPr lang="en-US" dirty="0"/>
              <a:t>LSU</a:t>
            </a:r>
            <a:r>
              <a:rPr lang="ru-RU" dirty="0"/>
              <a:t> и </a:t>
            </a:r>
            <a:r>
              <a:rPr lang="en-US" dirty="0"/>
              <a:t>TU</a:t>
            </a:r>
            <a:r>
              <a:rPr lang="ru-RU" dirty="0"/>
              <a:t>;</a:t>
            </a:r>
          </a:p>
          <a:p>
            <a:pPr>
              <a:defRPr/>
            </a:pPr>
            <a:r>
              <a:rPr lang="en-US" dirty="0"/>
              <a:t>TU</a:t>
            </a:r>
            <a:r>
              <a:rPr lang="ru-RU" dirty="0"/>
              <a:t> и</a:t>
            </a:r>
            <a:r>
              <a:rPr lang="en-US" dirty="0"/>
              <a:t>/</a:t>
            </a:r>
            <a:r>
              <a:rPr lang="ru-RU" dirty="0"/>
              <a:t>или </a:t>
            </a:r>
            <a:r>
              <a:rPr lang="en-US" dirty="0"/>
              <a:t>LSU</a:t>
            </a:r>
            <a:r>
              <a:rPr lang="ru-RU" dirty="0"/>
              <a:t> выполняют инструкцию;</a:t>
            </a:r>
          </a:p>
          <a:p>
            <a:pPr>
              <a:defRPr/>
            </a:pPr>
            <a:r>
              <a:rPr lang="ru-RU" dirty="0"/>
              <a:t>Результаты работы сохраняются во внешней памяти или памяти ядра;</a:t>
            </a:r>
          </a:p>
          <a:p>
            <a:pPr>
              <a:defRPr/>
            </a:pPr>
            <a:r>
              <a:rPr lang="en-US" dirty="0" err="1"/>
              <a:t>Regmap</a:t>
            </a:r>
            <a:r>
              <a:rPr lang="ru-RU" dirty="0"/>
              <a:t> содержит статусные и управляющие сигналы.</a:t>
            </a:r>
            <a:endParaRPr lang="en-US" dirty="0"/>
          </a:p>
        </p:txBody>
      </p:sp>
      <p:sp>
        <p:nvSpPr>
          <p:cNvPr id="6473564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8335"/>
            <a:ext cx="1052508" cy="365125"/>
          </a:xfrm>
        </p:spPr>
        <p:txBody>
          <a:bodyPr/>
          <a:lstStyle/>
          <a:p>
            <a:pPr>
              <a:defRPr/>
            </a:pPr>
            <a:fld id="{ED02CFB1-EEA1-CD3C-8AAA-9D8034B9CDE8}" type="slidenum">
              <a:rPr lang="ru-RU" sz="1800">
                <a:solidFill>
                  <a:schemeClr val="tx1"/>
                </a:solidFill>
                <a:latin typeface="Trebuchet MS" panose="020B0603020202020204" pitchFamily="34" charset="0"/>
              </a:rPr>
              <a:t>7</a:t>
            </a:fld>
            <a:endParaRPr lang="ru-RU" sz="18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pic>
        <p:nvPicPr>
          <p:cNvPr id="1877794094" name="Рисунок 1877794093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4911350" y="1720965"/>
            <a:ext cx="6699458" cy="426567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320030D-B402-4D5C-8686-56B7F2F29BB2}"/>
              </a:ext>
            </a:extLst>
          </p:cNvPr>
          <p:cNvSpPr/>
          <p:nvPr/>
        </p:nvSpPr>
        <p:spPr bwMode="auto">
          <a:xfrm>
            <a:off x="0" y="0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F50BE3D-2478-4026-8EA7-BD6259793350}"/>
              </a:ext>
            </a:extLst>
          </p:cNvPr>
          <p:cNvSpPr/>
          <p:nvPr/>
        </p:nvSpPr>
        <p:spPr bwMode="auto">
          <a:xfrm>
            <a:off x="9298" y="1192006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59380248" name="Заголовок 1"/>
          <p:cNvSpPr>
            <a:spLocks noGrp="1"/>
          </p:cNvSpPr>
          <p:nvPr>
            <p:ph type="title"/>
          </p:nvPr>
        </p:nvSpPr>
        <p:spPr bwMode="auto">
          <a:xfrm>
            <a:off x="568954" y="0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 dirty="0">
                <a:solidFill>
                  <a:schemeClr val="bg1"/>
                </a:solidFill>
              </a:rPr>
              <a:t>: Общая структура ядра</a:t>
            </a:r>
            <a:endParaRPr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3765629" name="Объект 2"/>
          <p:cNvSpPr>
            <a:spLocks noGrp="1"/>
          </p:cNvSpPr>
          <p:nvPr>
            <p:ph idx="1"/>
          </p:nvPr>
        </p:nvSpPr>
        <p:spPr bwMode="auto">
          <a:xfrm>
            <a:off x="615398" y="1944098"/>
            <a:ext cx="3500037" cy="3599316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ru-RU" dirty="0"/>
              <a:t>Поток обрабатывает вещественные и целочисленные данные и хранит в промежуточной памяти </a:t>
            </a:r>
            <a:r>
              <a:rPr lang="en-US" dirty="0"/>
              <a:t>- </a:t>
            </a:r>
            <a:r>
              <a:rPr lang="en-US" dirty="0" err="1"/>
              <a:t>Regfile</a:t>
            </a:r>
            <a:r>
              <a:rPr lang="ru-RU" dirty="0"/>
              <a:t>.</a:t>
            </a:r>
          </a:p>
          <a:p>
            <a:pPr>
              <a:defRPr/>
            </a:pPr>
            <a:r>
              <a:rPr lang="ru-RU" dirty="0"/>
              <a:t>Основные компоненты: </a:t>
            </a:r>
            <a:r>
              <a:rPr lang="en-US" dirty="0"/>
              <a:t>FPU, ALU, </a:t>
            </a:r>
            <a:r>
              <a:rPr lang="en-US" dirty="0" err="1"/>
              <a:t>Regfile</a:t>
            </a:r>
            <a:endParaRPr lang="ru-RU" dirty="0"/>
          </a:p>
        </p:txBody>
      </p:sp>
      <p:sp>
        <p:nvSpPr>
          <p:cNvPr id="10173544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8C44681A-2184-8FE6-7CA2-B2F449D07AD3}" type="slidenum">
              <a:rPr lang="ru-RU" sz="1800">
                <a:solidFill>
                  <a:schemeClr val="tx1"/>
                </a:solidFill>
                <a:latin typeface="Trebuchet MS" panose="020B0603020202020204" pitchFamily="34" charset="0"/>
              </a:rPr>
              <a:t>8</a:t>
            </a:fld>
            <a:endParaRPr lang="ru-RU" sz="18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228149A-C363-4954-AE59-1EE6524EBFAB}"/>
              </a:ext>
            </a:extLst>
          </p:cNvPr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B44E8DC-ABA8-49AF-98D2-B23B85A3B675}"/>
              </a:ext>
            </a:extLst>
          </p:cNvPr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3853922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20" y="-3787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dirty="0">
                <a:solidFill>
                  <a:schemeClr val="bg1"/>
                </a:solidFill>
              </a:rPr>
              <a:t>Разработка потока модели упрощенного графического ядра: общая структура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8623875-4D13-4567-B9B1-599CD5E13E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75376" y="2205355"/>
            <a:ext cx="7064009" cy="35423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652302" name="Объект 2"/>
          <p:cNvSpPr>
            <a:spLocks noGrp="1"/>
          </p:cNvSpPr>
          <p:nvPr>
            <p:ph idx="1"/>
          </p:nvPr>
        </p:nvSpPr>
        <p:spPr bwMode="auto">
          <a:xfrm>
            <a:off x="456385" y="2059377"/>
            <a:ext cx="4736811" cy="3599316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 dirty="0"/>
              <a:t>Предназначен для передачи данных между внешней памятью и потоками;</a:t>
            </a:r>
          </a:p>
          <a:p>
            <a:pPr>
              <a:defRPr/>
            </a:pPr>
            <a:r>
              <a:rPr lang="ru-RU" dirty="0"/>
              <a:t>Может только загружать</a:t>
            </a:r>
            <a:r>
              <a:rPr lang="en-US" dirty="0"/>
              <a:t> (LOAD)</a:t>
            </a:r>
            <a:r>
              <a:rPr lang="ru-RU" dirty="0"/>
              <a:t> или сохранять</a:t>
            </a:r>
            <a:r>
              <a:rPr lang="en-US" dirty="0"/>
              <a:t> (STORE)</a:t>
            </a:r>
            <a:r>
              <a:rPr lang="ru-RU" dirty="0"/>
              <a:t>;</a:t>
            </a:r>
          </a:p>
          <a:p>
            <a:pPr>
              <a:defRPr/>
            </a:pPr>
            <a:r>
              <a:rPr lang="ru-RU" dirty="0"/>
              <a:t>Работает по приходящей инструкции.</a:t>
            </a:r>
          </a:p>
          <a:p>
            <a:pPr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950704629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3268CEBC-6C76-D4A5-843E-7A9602BB4FE0}" type="slidenum">
              <a:rPr lang="ru-RU" sz="1800">
                <a:solidFill>
                  <a:schemeClr val="tx1"/>
                </a:solidFill>
                <a:latin typeface="Trebuchet MS" panose="020B0603020202020204" pitchFamily="34" charset="0"/>
              </a:rPr>
              <a:t>9</a:t>
            </a:fld>
            <a:endParaRPr lang="ru-RU" sz="18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pic>
        <p:nvPicPr>
          <p:cNvPr id="1472644960" name="Рисунок 1472644959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5334770" y="2300231"/>
            <a:ext cx="6324098" cy="2257538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87C6522-A1C0-44D4-B664-342BAB3BCBC9}"/>
              </a:ext>
            </a:extLst>
          </p:cNvPr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6A59A66-1A3E-4DBC-BC11-2D9598F21227}"/>
              </a:ext>
            </a:extLst>
          </p:cNvPr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8181351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20" y="-4598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 dirty="0">
                <a:solidFill>
                  <a:schemeClr val="bg1"/>
                </a:solidFill>
              </a:rPr>
              <a:t>Разработка модели упрощенного графического ядра: Блок загрузки и сохранения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02279" name="Объект 2"/>
          <p:cNvSpPr>
            <a:spLocks noGrp="1"/>
          </p:cNvSpPr>
          <p:nvPr>
            <p:ph idx="1"/>
          </p:nvPr>
        </p:nvSpPr>
        <p:spPr bwMode="auto">
          <a:xfrm>
            <a:off x="680320" y="2336872"/>
            <a:ext cx="4409973" cy="3599316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 dirty="0"/>
              <a:t>Арбитр собирает с потоков данные и</a:t>
            </a:r>
            <a:r>
              <a:rPr lang="en-US" dirty="0"/>
              <a:t>/</a:t>
            </a:r>
            <a:r>
              <a:rPr lang="ru-RU" dirty="0"/>
              <a:t>или адреса;</a:t>
            </a:r>
          </a:p>
          <a:p>
            <a:pPr>
              <a:defRPr/>
            </a:pPr>
            <a:r>
              <a:rPr lang="en-US" dirty="0"/>
              <a:t>LSU</a:t>
            </a:r>
            <a:r>
              <a:rPr lang="ru-RU" dirty="0"/>
              <a:t> выполняет запросы  с данными и адресами поочередно;</a:t>
            </a:r>
          </a:p>
          <a:p>
            <a:pPr>
              <a:defRPr/>
            </a:pPr>
            <a:r>
              <a:rPr lang="ru-RU" dirty="0"/>
              <a:t>Арбитр выдаёт результаты потокам и</a:t>
            </a:r>
            <a:r>
              <a:rPr lang="en-US" dirty="0"/>
              <a:t>/</a:t>
            </a:r>
            <a:r>
              <a:rPr lang="ru-RU" dirty="0"/>
              <a:t>или статус готовности.</a:t>
            </a:r>
          </a:p>
        </p:txBody>
      </p:sp>
      <p:sp>
        <p:nvSpPr>
          <p:cNvPr id="129255564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9687AD8-1A48-903E-417E-81FF292386D7}" type="slidenum">
              <a:rPr lang="ru-RU" sz="1800">
                <a:solidFill>
                  <a:schemeClr val="tx1"/>
                </a:solidFill>
                <a:latin typeface="Trebuchet MS" panose="020B0603020202020204" pitchFamily="34" charset="0"/>
              </a:rPr>
              <a:t>10</a:t>
            </a:fld>
            <a:endParaRPr lang="ru-RU" sz="180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pic>
        <p:nvPicPr>
          <p:cNvPr id="779499102" name="Рисунок 779499101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5669989" y="2101289"/>
            <a:ext cx="5303392" cy="4412746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0C98FD5-29DC-4D52-A9B2-6E427EA18834}"/>
              </a:ext>
            </a:extLst>
          </p:cNvPr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1DD341-F7E6-49DB-BC06-E2DF62738A37}"/>
              </a:ext>
            </a:extLst>
          </p:cNvPr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128127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 b="0" i="0" u="none" strike="noStrike" cap="none" spc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 dirty="0">
                <a:solidFill>
                  <a:schemeClr val="bg1"/>
                </a:solidFill>
              </a:rPr>
              <a:t>: </a:t>
            </a:r>
            <a:r>
              <a:rPr lang="ru-RU" sz="3600" dirty="0" err="1">
                <a:solidFill>
                  <a:schemeClr val="bg1"/>
                </a:solidFill>
              </a:rPr>
              <a:t>Интерконнект</a:t>
            </a:r>
            <a:r>
              <a:rPr lang="ru-RU" sz="3600" dirty="0">
                <a:solidFill>
                  <a:schemeClr val="bg1"/>
                </a:solidFill>
              </a:rPr>
              <a:t> между </a:t>
            </a:r>
            <a:r>
              <a:rPr lang="en-US" sz="3600" dirty="0">
                <a:solidFill>
                  <a:schemeClr val="bg1"/>
                </a:solidFill>
              </a:rPr>
              <a:t>LSU </a:t>
            </a:r>
            <a:r>
              <a:rPr lang="ru-RU" sz="3600" dirty="0">
                <a:solidFill>
                  <a:schemeClr val="bg1"/>
                </a:solidFill>
              </a:rPr>
              <a:t>и потоками</a:t>
            </a:r>
            <a:endParaRPr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7729536" name="Объект 2"/>
          <p:cNvSpPr>
            <a:spLocks noGrp="1"/>
          </p:cNvSpPr>
          <p:nvPr>
            <p:ph idx="1"/>
          </p:nvPr>
        </p:nvSpPr>
        <p:spPr bwMode="auto">
          <a:xfrm>
            <a:off x="680320" y="2336872"/>
            <a:ext cx="5044973" cy="3599316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Fetcher – </a:t>
            </a:r>
            <a:r>
              <a:rPr lang="ru-RU" dirty="0"/>
              <a:t>блок захвата инструкций из памяти;</a:t>
            </a:r>
          </a:p>
          <a:p>
            <a:pPr>
              <a:defRPr/>
            </a:pPr>
            <a:r>
              <a:rPr lang="en-US" dirty="0"/>
              <a:t>Decoder</a:t>
            </a:r>
            <a:r>
              <a:rPr lang="ru-RU" dirty="0"/>
              <a:t> – дешифрование инструкций в структуры для передачи исполняемым блокам;</a:t>
            </a:r>
          </a:p>
          <a:p>
            <a:pPr>
              <a:defRPr/>
            </a:pPr>
            <a:r>
              <a:rPr lang="ru-RU" dirty="0"/>
              <a:t>По программному счётчику </a:t>
            </a:r>
            <a:r>
              <a:rPr lang="en-US" dirty="0"/>
              <a:t>(PC)</a:t>
            </a:r>
            <a:r>
              <a:rPr lang="ru-RU" dirty="0"/>
              <a:t> </a:t>
            </a:r>
            <a:r>
              <a:rPr lang="en-US" dirty="0"/>
              <a:t>Fetcher</a:t>
            </a:r>
            <a:r>
              <a:rPr lang="ru-RU" dirty="0"/>
              <a:t> делает смещение по адресу и получает адрес.</a:t>
            </a:r>
          </a:p>
        </p:txBody>
      </p:sp>
      <p:sp>
        <p:nvSpPr>
          <p:cNvPr id="113657991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6E0C4E4E-F03C-EE6B-08CF-E8796A069A1F}" type="slidenum">
              <a:rPr lang="ru-RU" sz="1800">
                <a:solidFill>
                  <a:schemeClr val="tx1"/>
                </a:solidFill>
                <a:latin typeface="Trebuchet MS" panose="020B0603020202020204" pitchFamily="34" charset="0"/>
              </a:rPr>
              <a:t>11</a:t>
            </a:fld>
            <a:endParaRPr lang="ru-RU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977A798-32A9-46CF-848E-E711D8EC7E12}"/>
              </a:ext>
            </a:extLst>
          </p:cNvPr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8FDCEBF-31F7-42F4-B5B9-D1B7A99970EC}"/>
              </a:ext>
            </a:extLst>
          </p:cNvPr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9820904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 dirty="0">
                <a:solidFill>
                  <a:schemeClr val="bg1"/>
                </a:solidFill>
              </a:rPr>
              <a:t>: </a:t>
            </a:r>
            <a:r>
              <a:rPr lang="en-US" sz="3600" dirty="0">
                <a:solidFill>
                  <a:schemeClr val="bg1"/>
                </a:solidFill>
              </a:rPr>
              <a:t>Fetcher &amp; Decoder</a:t>
            </a:r>
            <a:endParaRPr sz="3600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A60B604-F356-4785-BAA1-00EA5AB820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15187" y="1786236"/>
            <a:ext cx="3248025" cy="4200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0229441" name="Объект 2"/>
          <p:cNvSpPr>
            <a:spLocks noGrp="1"/>
          </p:cNvSpPr>
          <p:nvPr>
            <p:ph idx="1"/>
          </p:nvPr>
        </p:nvSpPr>
        <p:spPr bwMode="auto">
          <a:xfrm>
            <a:off x="680320" y="2336872"/>
            <a:ext cx="5269090" cy="3599316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 dirty="0"/>
              <a:t>Необходимы высокоскоростные интерфейсы;</a:t>
            </a:r>
          </a:p>
          <a:p>
            <a:pPr>
              <a:defRPr/>
            </a:pPr>
            <a:r>
              <a:rPr lang="ru-RU" dirty="0"/>
              <a:t>В качестве интерфейсов взяты</a:t>
            </a:r>
            <a:r>
              <a:rPr lang="en-US" dirty="0"/>
              <a:t>: AMBA APB,  AMBA AHB</a:t>
            </a:r>
            <a:r>
              <a:rPr lang="ru-RU" dirty="0"/>
              <a:t>;</a:t>
            </a:r>
          </a:p>
          <a:p>
            <a:pPr>
              <a:defRPr/>
            </a:pPr>
            <a:r>
              <a:rPr lang="ru-RU" dirty="0"/>
              <a:t>Для </a:t>
            </a:r>
            <a:r>
              <a:rPr lang="en-US" dirty="0" err="1"/>
              <a:t>Regmap</a:t>
            </a:r>
            <a:r>
              <a:rPr lang="ru-RU" dirty="0"/>
              <a:t> интерфейс </a:t>
            </a:r>
            <a:r>
              <a:rPr lang="en-US" dirty="0"/>
              <a:t>APB</a:t>
            </a:r>
            <a:r>
              <a:rPr lang="ru-RU" dirty="0"/>
              <a:t>, где </a:t>
            </a:r>
            <a:r>
              <a:rPr lang="en-US" dirty="0" err="1"/>
              <a:t>Regmap</a:t>
            </a:r>
            <a:r>
              <a:rPr lang="en-US" dirty="0"/>
              <a:t> - </a:t>
            </a:r>
            <a:r>
              <a:rPr lang="ru-RU" dirty="0"/>
              <a:t>ведомый;</a:t>
            </a:r>
          </a:p>
          <a:p>
            <a:pPr>
              <a:defRPr/>
            </a:pPr>
            <a:r>
              <a:rPr lang="ru-RU" dirty="0"/>
              <a:t>Для </a:t>
            </a:r>
            <a:r>
              <a:rPr lang="en-US" dirty="0"/>
              <a:t>Fetcher </a:t>
            </a:r>
            <a:r>
              <a:rPr lang="ru-RU" dirty="0"/>
              <a:t>и </a:t>
            </a:r>
            <a:r>
              <a:rPr lang="en-US" dirty="0"/>
              <a:t>LSU</a:t>
            </a:r>
            <a:r>
              <a:rPr lang="ru-RU" dirty="0"/>
              <a:t> интерфейс </a:t>
            </a:r>
            <a:r>
              <a:rPr lang="en-US" dirty="0"/>
              <a:t>AHB</a:t>
            </a:r>
            <a:r>
              <a:rPr lang="ru-RU" dirty="0"/>
              <a:t>, где они - ведущие.</a:t>
            </a:r>
            <a:endParaRPr lang="en-US" dirty="0"/>
          </a:p>
        </p:txBody>
      </p:sp>
      <p:sp>
        <p:nvSpPr>
          <p:cNvPr id="54504926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BE2ADD01-EDAB-891B-508A-6962AD7A2457}" type="slidenum">
              <a:rPr lang="ru-RU" sz="1800" smtClean="0">
                <a:solidFill>
                  <a:schemeClr val="tx1"/>
                </a:solidFill>
                <a:latin typeface="Trebuchet MS" panose="020B0603020202020204" pitchFamily="34" charset="0"/>
              </a:rPr>
              <a:t>12</a:t>
            </a:fld>
            <a:endParaRPr lang="ru-RU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pic>
        <p:nvPicPr>
          <p:cNvPr id="2139026081" name="Рисунок 2139026080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5698034" y="2178122"/>
            <a:ext cx="5523816" cy="4227906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2F7420B-7C91-4F90-92A0-9892F0D28F2D}"/>
              </a:ext>
            </a:extLst>
          </p:cNvPr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FF753D6-B3B5-400C-8F64-AC796589A699}"/>
              </a:ext>
            </a:extLst>
          </p:cNvPr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99538833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59681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 dirty="0">
                <a:solidFill>
                  <a:schemeClr val="bg1"/>
                </a:solidFill>
              </a:rPr>
              <a:t>: Интерфейсы</a:t>
            </a:r>
            <a:endParaRPr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220340" name="Объект 2"/>
          <p:cNvSpPr>
            <a:spLocks noGrp="1"/>
          </p:cNvSpPr>
          <p:nvPr>
            <p:ph idx="1"/>
          </p:nvPr>
        </p:nvSpPr>
        <p:spPr bwMode="auto">
          <a:xfrm>
            <a:off x="680321" y="2336873"/>
            <a:ext cx="11753144" cy="3599316"/>
          </a:xfrm>
        </p:spPr>
        <p:txBody>
          <a:bodyPr/>
          <a:lstStyle/>
          <a:p>
            <a:pPr>
              <a:defRPr/>
            </a:pPr>
            <a:r>
              <a:rPr lang="ru-RU" dirty="0"/>
              <a:t>В результате работы:</a:t>
            </a:r>
            <a:endParaRPr dirty="0"/>
          </a:p>
          <a:p>
            <a:pPr lvl="1">
              <a:defRPr/>
            </a:pPr>
            <a:r>
              <a:rPr lang="ru-RU" dirty="0"/>
              <a:t>Проведен анализ существующих архитектур графических процессоров и ядер</a:t>
            </a:r>
            <a:r>
              <a:rPr lang="en-US" dirty="0"/>
              <a:t>;</a:t>
            </a:r>
            <a:endParaRPr lang="ru-RU" dirty="0"/>
          </a:p>
          <a:p>
            <a:pPr lvl="1">
              <a:defRPr/>
            </a:pPr>
            <a:r>
              <a:rPr lang="ru-RU" dirty="0"/>
              <a:t>Спроектирована минимально необходимая архитектура набора инструкций </a:t>
            </a:r>
            <a:r>
              <a:rPr lang="en-US" dirty="0"/>
              <a:t>(ISA);</a:t>
            </a:r>
            <a:endParaRPr dirty="0"/>
          </a:p>
          <a:p>
            <a:pPr lvl="1">
              <a:defRPr/>
            </a:pPr>
            <a:r>
              <a:rPr lang="ru-RU" dirty="0"/>
              <a:t>Разработана архитектура упрощенного графического ядра с использованием метода поблочной декомпозиции;</a:t>
            </a:r>
            <a:endParaRPr dirty="0"/>
          </a:p>
          <a:p>
            <a:pPr lvl="1">
              <a:defRPr/>
            </a:pPr>
            <a:r>
              <a:rPr lang="ru-RU" dirty="0"/>
              <a:t>Разработана упрощенная модель графического ядра</a:t>
            </a:r>
            <a:r>
              <a:rPr lang="en-US" dirty="0"/>
              <a:t> </a:t>
            </a:r>
            <a:r>
              <a:rPr lang="ru-RU" dirty="0"/>
              <a:t>на языке описания аппаратуры </a:t>
            </a:r>
            <a:r>
              <a:rPr lang="en-US" dirty="0" err="1"/>
              <a:t>SystemVerilog</a:t>
            </a:r>
            <a:r>
              <a:rPr lang="ru-RU" dirty="0"/>
              <a:t>.</a:t>
            </a:r>
            <a:endParaRPr dirty="0"/>
          </a:p>
        </p:txBody>
      </p:sp>
      <p:sp>
        <p:nvSpPr>
          <p:cNvPr id="192023844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 panose="020B0603020202020204" pitchFamily="34" charset="0"/>
              </a:rPr>
              <a:t>13</a:t>
            </a:fld>
            <a:endParaRPr lang="ru-RU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F0A865E-78E2-4DB1-A0B1-2F981EDED463}"/>
              </a:ext>
            </a:extLst>
          </p:cNvPr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42EDC06-E9A4-49CB-84D5-F3C913B96DF5}"/>
              </a:ext>
            </a:extLst>
          </p:cNvPr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35797218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Заключение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898723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213878613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 panose="020B0603020202020204" pitchFamily="34" charset="0"/>
              </a:rPr>
              <a:t>14</a:t>
            </a:fld>
            <a:endParaRPr lang="ru-RU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5D22E92-529D-449C-9AC1-41718604B584}"/>
              </a:ext>
            </a:extLst>
          </p:cNvPr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D36081E-E235-4CC1-9502-6AF5AB041C06}"/>
              </a:ext>
            </a:extLst>
          </p:cNvPr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7809051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825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Публикация статьи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19612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69493347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 panose="020B0603020202020204" pitchFamily="34" charset="0"/>
              </a:rPr>
              <a:t>15</a:t>
            </a:fld>
            <a:endParaRPr lang="ru-RU" sz="18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6D1AF05-0443-43C6-8125-9EB3F4310F9B}"/>
              </a:ext>
            </a:extLst>
          </p:cNvPr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721B451-D131-4964-A30C-06C5C2059DB0}"/>
              </a:ext>
            </a:extLst>
          </p:cNvPr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8226370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78986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 dirty="0">
                <a:solidFill>
                  <a:schemeClr val="bg1"/>
                </a:solidFill>
              </a:rPr>
              <a:t>Спасибо за внимание!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Words>611</Words>
  <Application>Microsoft Office PowerPoint</Application>
  <PresentationFormat>Широкоэкранный</PresentationFormat>
  <Paragraphs>85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Trebuchet MS</vt:lpstr>
      <vt:lpstr>Тема Office</vt:lpstr>
      <vt:lpstr>Разработка упрощенного графического ускорителя. Разработка модели упрощенного графического ядра.</vt:lpstr>
      <vt:lpstr>Введение</vt:lpstr>
      <vt:lpstr>Постановка задачи</vt:lpstr>
      <vt:lpstr>Актуальность работы</vt:lpstr>
      <vt:lpstr>Обзор существующих архитектур</vt:lpstr>
      <vt:lpstr>Разработка модели графического ядра: разработка архитектуры набора инструкций (ISA)</vt:lpstr>
      <vt:lpstr>Разработка модели упрощенного графического ядра: Общая структура ядра</vt:lpstr>
      <vt:lpstr>Разработка потока модели упрощенного графического ядра: общая структура</vt:lpstr>
      <vt:lpstr>Разработка модели упрощенного графического ядра: Блок загрузки и сохранения</vt:lpstr>
      <vt:lpstr>Разработка модели упрощенного графического ядра: Интерконнект между LSU и потоками</vt:lpstr>
      <vt:lpstr>Разработка модели упрощенного графического ядра: Fetcher &amp; Decoder</vt:lpstr>
      <vt:lpstr>Разработка модели упрощенного графического ядра: Интерфейсы</vt:lpstr>
      <vt:lpstr>Заключение</vt:lpstr>
      <vt:lpstr>Публикация статьи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>Ewencen Sicl</cp:lastModifiedBy>
  <cp:revision>35</cp:revision>
  <dcterms:created xsi:type="dcterms:W3CDTF">2026-06-01T16:03:18Z</dcterms:created>
  <dcterms:modified xsi:type="dcterms:W3CDTF">2026-06-02T16:56:53Z</dcterms:modified>
</cp:coreProperties>
</file>