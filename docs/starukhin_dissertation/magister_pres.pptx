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62139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985965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F8B4CA-290A-45FF-AF47-6D7BC9CA84C9}" type="datetimeFigureOut">
              <a:rPr lang="ru-RU"/>
              <a:t>23.06.2026</a:t>
            </a:fld>
            <a:endParaRPr lang="ru-RU"/>
          </a:p>
        </p:txBody>
      </p:sp>
      <p:sp>
        <p:nvSpPr>
          <p:cNvPr id="1006772333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110414089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72631752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5072025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A4505C3-1B66-4F80-910D-E8795C33F31E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8552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8332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29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993D39-5D40-723A-B7F6-46DBB08A9A6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4174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66291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973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F5C7D0-D7BE-2C63-050F-1DAFA286B6D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88716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0040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21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55F3D9-BDFF-EDB5-6FC0-3B806BA109F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6100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613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698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0EB7B1-6B7D-5CE5-D95F-5ED0A723250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68848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146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036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C2A48-3D77-7BE2-EE5A-0222396F1E07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45294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08951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38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768EC4-D344-67C3-1C24-CF724D34C290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5387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59926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2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FCB82-4ABC-C1C4-5E79-18F3785DD755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7730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58214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361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0886C-666E-9836-41C4-83E600BD9668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96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54274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1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902816-76A5-4AF4-1E9E-ABAE37AB74E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9863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16427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768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9DD143-F230-8BE5-DF47-2F712C202B3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5851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3844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617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8E094-64B7-2766-BCC3-6C48145F116B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98742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50309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2079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85B0B4-A097-EC80-6511-5CB349CFD099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5049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69708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645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FE7883-973B-878E-357F-41AA8BFE4543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140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47430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04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3C25AB-F75B-ED55-9B43-2E895322D2B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4836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23883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598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3B1206-5BC8-D1E1-57C3-7D177AE62E1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9752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7447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268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611C26-A18A-CE56-9368-8EAD053C4851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1034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98839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8C1104-84A8-CC17-258A-A96B99F9A95E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59817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6705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778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00006-DE8E-E061-C9AE-0E64162B086A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9779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189854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66854374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64E949B-752F-4A71-A243-047E6613A32E}" type="datetime1">
              <a:rPr lang="ru-RU"/>
              <a:t>23.06.2026</a:t>
            </a:fld>
            <a:endParaRPr lang="ru-RU"/>
          </a:p>
        </p:txBody>
      </p:sp>
      <p:sp>
        <p:nvSpPr>
          <p:cNvPr id="134338282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2468568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4987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4999658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3941692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B2D18A6-5519-416E-A160-669FC8C75E20}" type="datetime1">
              <a:rPr lang="ru-RU"/>
              <a:t>23.06.2026</a:t>
            </a:fld>
            <a:endParaRPr lang="ru-RU"/>
          </a:p>
        </p:txBody>
      </p:sp>
      <p:sp>
        <p:nvSpPr>
          <p:cNvPr id="37350827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771035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230937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60664230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862871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FDFF63E-A7E5-4C7D-A2C9-DA69D5675040}" type="datetime1">
              <a:rPr lang="ru-RU"/>
              <a:t>23.06.2026</a:t>
            </a:fld>
            <a:endParaRPr lang="ru-RU"/>
          </a:p>
        </p:txBody>
      </p:sp>
      <p:sp>
        <p:nvSpPr>
          <p:cNvPr id="207394270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472914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5935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8842667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3085158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8864186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464CDE6-6F92-4C74-BFB3-7167DEA2EA4E}" type="datetime1">
              <a:rPr lang="ru-RU"/>
              <a:t>23.06.2026</a:t>
            </a:fld>
            <a:endParaRPr lang="ru-RU"/>
          </a:p>
        </p:txBody>
      </p:sp>
      <p:sp>
        <p:nvSpPr>
          <p:cNvPr id="214239895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189550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90229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99720604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3359533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9956686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511797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14388893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9B7B28A-94DD-44EC-83BF-F9E9490C49B9}" type="datetime1">
              <a:rPr lang="ru-RU"/>
              <a:t>23.06.2026</a:t>
            </a:fld>
            <a:endParaRPr lang="ru-RU"/>
          </a:p>
        </p:txBody>
      </p:sp>
      <p:sp>
        <p:nvSpPr>
          <p:cNvPr id="860970306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05035003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8373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28152656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9CBEF87-A1CE-4AD3-B312-24E4060B669E}" type="datetime1">
              <a:rPr lang="ru-RU"/>
              <a:t>23.06.2026</a:t>
            </a:fld>
            <a:endParaRPr lang="ru-RU"/>
          </a:p>
        </p:txBody>
      </p:sp>
      <p:sp>
        <p:nvSpPr>
          <p:cNvPr id="154406331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63579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26247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A3597E-B3B5-450E-90FE-FB59F904A164}" type="datetime1">
              <a:rPr lang="ru-RU"/>
              <a:t>23.06.2026</a:t>
            </a:fld>
            <a:endParaRPr lang="ru-RU"/>
          </a:p>
        </p:txBody>
      </p:sp>
      <p:sp>
        <p:nvSpPr>
          <p:cNvPr id="568008551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3981903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02712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2950140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4990522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570260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C926F4-5876-4D6C-B300-7031A7F64CBB}" type="datetime1">
              <a:rPr lang="ru-RU"/>
              <a:t>23.06.2026</a:t>
            </a:fld>
            <a:endParaRPr lang="ru-RU"/>
          </a:p>
        </p:txBody>
      </p:sp>
      <p:sp>
        <p:nvSpPr>
          <p:cNvPr id="50464835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89795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90238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34502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49563740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8165056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C357E52-6772-44D2-9B1A-046730665B12}" type="datetime1">
              <a:rPr lang="ru-RU"/>
              <a:t>23.06.2026</a:t>
            </a:fld>
            <a:endParaRPr lang="ru-RU"/>
          </a:p>
        </p:txBody>
      </p:sp>
      <p:sp>
        <p:nvSpPr>
          <p:cNvPr id="167518302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189034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5569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45082521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7077616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5CB82E-191B-43B0-A738-8B9909F88B35}" type="datetime1">
              <a:rPr lang="ru-RU"/>
              <a:t>23.06.2026</a:t>
            </a:fld>
            <a:endParaRPr lang="ru-RU"/>
          </a:p>
        </p:txBody>
      </p:sp>
      <p:sp>
        <p:nvSpPr>
          <p:cNvPr id="84666664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8652710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547509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46883292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405671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30D1F9-634A-465B-B25E-CF53749F388C}" type="datetime1">
              <a:rPr lang="ru-RU"/>
              <a:t>23.06.2026</a:t>
            </a:fld>
            <a:endParaRPr lang="ru-RU"/>
          </a:p>
        </p:txBody>
      </p:sp>
      <p:sp>
        <p:nvSpPr>
          <p:cNvPr id="195018164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6990858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643432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768246924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79425767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465969" name="Rectangle 9"/>
          <p:cNvSpPr/>
          <p:nvPr/>
        </p:nvSpPr>
        <p:spPr bwMode="auto"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2059635" name="Title 1"/>
          <p:cNvSpPr>
            <a:spLocks noGrp="1"/>
          </p:cNvSpPr>
          <p:nvPr>
            <p:ph type="ctrTitle"/>
          </p:nvPr>
        </p:nvSpPr>
        <p:spPr bwMode="auto"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455690020" name="Subtitle 2"/>
          <p:cNvSpPr>
            <a:spLocks noGrp="1"/>
          </p:cNvSpPr>
          <p:nvPr>
            <p:ph type="subTitle" idx="1"/>
          </p:nvPr>
        </p:nvSpPr>
        <p:spPr bwMode="auto"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2148687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2D43468-8071-4A79-9713-FA03F2A56FC7}" type="datetime1">
              <a:rPr lang="ru-RU"/>
              <a:t>23.06.2026</a:t>
            </a:fld>
            <a:endParaRPr lang="ru-RU"/>
          </a:p>
        </p:txBody>
      </p:sp>
      <p:sp>
        <p:nvSpPr>
          <p:cNvPr id="18288082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146400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255346" y="2750337"/>
            <a:ext cx="1171888" cy="1356442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6764738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73452132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2333308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3915880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475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0916753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842469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AAA47A0-2EBA-44E2-BFE5-02832F0BA229}" type="datetime1">
              <a:rPr lang="ru-RU"/>
              <a:t>23.06.2026</a:t>
            </a:fld>
            <a:endParaRPr lang="ru-RU"/>
          </a:p>
        </p:txBody>
      </p:sp>
      <p:sp>
        <p:nvSpPr>
          <p:cNvPr id="16489525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77862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017644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1" y="4086906"/>
            <a:ext cx="10437812" cy="321164"/>
          </a:xfrm>
          <a:prstGeom prst="rect">
            <a:avLst/>
          </a:prstGeom>
        </p:spPr>
      </p:pic>
      <p:pic>
        <p:nvPicPr>
          <p:cNvPr id="1073199399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1901606843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389118" name="Rectangle 9"/>
          <p:cNvSpPr/>
          <p:nvPr/>
        </p:nvSpPr>
        <p:spPr bwMode="auto"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544624" name="Title 1"/>
          <p:cNvSpPr>
            <a:spLocks noGrp="1"/>
          </p:cNvSpPr>
          <p:nvPr>
            <p:ph type="title"/>
          </p:nvPr>
        </p:nvSpPr>
        <p:spPr bwMode="auto"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0143756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23863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E3FDA68-1834-4C1F-B2CC-B0A0766ED8A5}" type="datetime1">
              <a:rPr lang="ru-RU"/>
              <a:t>23.06.2026</a:t>
            </a:fld>
            <a:endParaRPr lang="ru-RU"/>
          </a:p>
        </p:txBody>
      </p:sp>
      <p:sp>
        <p:nvSpPr>
          <p:cNvPr id="7816269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4345701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2869895"/>
            <a:ext cx="1154151" cy="1090789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5013635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75764393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70794006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5018658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8411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5320301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0319" y="2336873"/>
            <a:ext cx="4698358" cy="359931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4454692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594123" y="2336873"/>
            <a:ext cx="4700058" cy="359931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0807414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303EE3-BBFB-41F4-B1FB-4E4CF27ED9D2}" type="datetime1">
              <a:rPr lang="ru-RU"/>
              <a:t>23.06.2026</a:t>
            </a:fld>
            <a:endParaRPr lang="ru-RU"/>
          </a:p>
        </p:txBody>
      </p:sp>
      <p:sp>
        <p:nvSpPr>
          <p:cNvPr id="11737099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987607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6666029" name="Picture 9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540406872" name="Picture 10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7991906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3701510" name="Rectangle 12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389481" name="Title 1"/>
          <p:cNvSpPr>
            <a:spLocks noGrp="1"/>
          </p:cNvSpPr>
          <p:nvPr>
            <p:ph type="title"/>
          </p:nvPr>
        </p:nvSpPr>
        <p:spPr bwMode="auto">
          <a:xfrm>
            <a:off x="680319" y="753229"/>
            <a:ext cx="9613863" cy="1080937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5062399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06349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436674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0322" y="3030008"/>
            <a:ext cx="4698355" cy="2906179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53603406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179478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594123" y="3030008"/>
            <a:ext cx="4700059" cy="2906179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003040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96D59AE-5854-4542-9FF1-1EC4E5A530D5}" type="datetime1">
              <a:rPr lang="ru-RU"/>
              <a:t>23.06.2026</a:t>
            </a:fld>
            <a:endParaRPr lang="ru-RU"/>
          </a:p>
        </p:txBody>
      </p:sp>
      <p:sp>
        <p:nvSpPr>
          <p:cNvPr id="18542370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466680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2267524" name="Picture 5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8270752" name="Picture 6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78352640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296704" name="Rectangle 8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603572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972220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785264-56B0-460E-A2C2-C886D7CC0782}" type="datetime1">
              <a:rPr lang="ru-RU"/>
              <a:t>23.06.2026</a:t>
            </a:fld>
            <a:endParaRPr lang="ru-RU"/>
          </a:p>
        </p:txBody>
      </p:sp>
      <p:sp>
        <p:nvSpPr>
          <p:cNvPr id="16418912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6495222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528735" name="Picture 4" descr="HD-ShadowShort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7733676" name="Rectangle 5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5769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AAA0283-F641-48C8-BAB7-8AC6BD361923}" type="datetime1">
              <a:rPr lang="ru-RU"/>
              <a:t>23.06.2026</a:t>
            </a:fld>
            <a:endParaRPr lang="ru-RU"/>
          </a:p>
        </p:txBody>
      </p:sp>
      <p:sp>
        <p:nvSpPr>
          <p:cNvPr id="174561369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072919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214736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371526800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0075046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166379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2484877" name="Title 1"/>
          <p:cNvSpPr>
            <a:spLocks noGrp="1"/>
          </p:cNvSpPr>
          <p:nvPr>
            <p:ph type="title"/>
          </p:nvPr>
        </p:nvSpPr>
        <p:spPr bwMode="auto"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48542299" name="Content Placeholder 2"/>
          <p:cNvSpPr>
            <a:spLocks noGrp="1"/>
          </p:cNvSpPr>
          <p:nvPr>
            <p:ph idx="1"/>
          </p:nvPr>
        </p:nvSpPr>
        <p:spPr bwMode="auto">
          <a:xfrm>
            <a:off x="4685846" y="2336873"/>
            <a:ext cx="5608336" cy="359931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3534565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780702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C10133D-16A4-41F1-B8F2-C1B694F00730}" type="datetime1">
              <a:rPr lang="ru-RU"/>
              <a:t>23.06.2026</a:t>
            </a:fld>
            <a:endParaRPr lang="ru-RU"/>
          </a:p>
        </p:txBody>
      </p:sp>
      <p:sp>
        <p:nvSpPr>
          <p:cNvPr id="20420561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416924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6555126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53817117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87632515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1825935" name="Rectangle 10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1077936" name="Title 1"/>
          <p:cNvSpPr>
            <a:spLocks noGrp="1"/>
          </p:cNvSpPr>
          <p:nvPr>
            <p:ph type="title"/>
          </p:nvPr>
        </p:nvSpPr>
        <p:spPr bwMode="auto">
          <a:xfrm>
            <a:off x="680323" y="753227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94512508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4868332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0126897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26601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65D9257-9E03-404F-95EE-486F8868E3F2}" type="datetime1">
              <a:rPr lang="ru-RU"/>
              <a:t>23.06.2026</a:t>
            </a:fld>
            <a:endParaRPr lang="ru-RU"/>
          </a:p>
        </p:txBody>
      </p:sp>
      <p:sp>
        <p:nvSpPr>
          <p:cNvPr id="15572560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443660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0062332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347545903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2130835739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230994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266043" name="Title 1"/>
          <p:cNvSpPr>
            <a:spLocks noGrp="1"/>
          </p:cNvSpPr>
          <p:nvPr>
            <p:ph type="title"/>
          </p:nvPr>
        </p:nvSpPr>
        <p:spPr bwMode="auto"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62049135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680322" y="609597"/>
            <a:ext cx="9613859" cy="3589574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6866718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7949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C6571D8-6559-4269-B7BA-EACD5F8873B8}" type="datetime1">
              <a:rPr lang="ru-RU"/>
              <a:t>23.06.2026</a:t>
            </a:fld>
            <a:endParaRPr lang="ru-RU"/>
          </a:p>
        </p:txBody>
      </p:sp>
      <p:sp>
        <p:nvSpPr>
          <p:cNvPr id="15142509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182941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309"/>
            <a:ext cx="1154151" cy="1090789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6913952" name="Picture 7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249288123" name="Picture 8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77942715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6204209" name="Rectangle 10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143720" name="Title 1"/>
          <p:cNvSpPr>
            <a:spLocks noGrp="1"/>
          </p:cNvSpPr>
          <p:nvPr>
            <p:ph type="title"/>
          </p:nvPr>
        </p:nvSpPr>
        <p:spPr bwMode="auto"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598020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9325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607F1-4CB0-4741-B752-77795AAFB6CE}" type="datetime1">
              <a:rPr lang="ru-RU"/>
              <a:t>23.06.2026</a:t>
            </a:fld>
            <a:endParaRPr lang="ru-RU"/>
          </a:p>
        </p:txBody>
      </p:sp>
      <p:sp>
        <p:nvSpPr>
          <p:cNvPr id="1069597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6528466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11615"/>
            <a:ext cx="1154151" cy="1090789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971362" name="Picture 10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30138758" name="Picture 12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217562408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0357184" name="Rectangle 14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2462105" name="Title 1"/>
          <p:cNvSpPr>
            <a:spLocks noGrp="1"/>
          </p:cNvSpPr>
          <p:nvPr>
            <p:ph type="title"/>
          </p:nvPr>
        </p:nvSpPr>
        <p:spPr bwMode="auto"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45844534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139709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01818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0F2E69-AF6B-4D0C-824F-3DADD254BF95}" type="datetime1">
              <a:rPr lang="ru-RU"/>
              <a:t>23.06.2026</a:t>
            </a:fld>
            <a:endParaRPr lang="ru-RU"/>
          </a:p>
        </p:txBody>
      </p:sp>
      <p:sp>
        <p:nvSpPr>
          <p:cNvPr id="21365620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710007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  <p:sp>
        <p:nvSpPr>
          <p:cNvPr id="166039225" name="TextBox 15"/>
          <p:cNvSpPr txBox="1"/>
          <p:nvPr/>
        </p:nvSpPr>
        <p:spPr bwMode="auto">
          <a:xfrm>
            <a:off x="583572" y="74811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72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693514685" name="TextBox 16"/>
          <p:cNvSpPr txBox="1"/>
          <p:nvPr/>
        </p:nvSpPr>
        <p:spPr bwMode="auto">
          <a:xfrm>
            <a:off x="9662809" y="3033524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72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5523145" name="Picture 8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694119683" name="Picture 9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861207402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285336" name="Rectangle 11"/>
          <p:cNvSpPr/>
          <p:nvPr/>
        </p:nvSpPr>
        <p:spPr bwMode="auto"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122765" name="Title 1"/>
          <p:cNvSpPr>
            <a:spLocks noGrp="1"/>
          </p:cNvSpPr>
          <p:nvPr>
            <p:ph type="title"/>
          </p:nvPr>
        </p:nvSpPr>
        <p:spPr bwMode="auto"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656219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0319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18171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61B190-EA0F-465A-8B4C-40AE0FF8CD42}" type="datetime1">
              <a:rPr lang="ru-RU"/>
              <a:t>23.06.2026</a:t>
            </a:fld>
            <a:endParaRPr lang="ru-RU"/>
          </a:p>
        </p:txBody>
      </p:sp>
      <p:sp>
        <p:nvSpPr>
          <p:cNvPr id="8218305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353763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2745737" name="Picture 12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556837063" name="Picture 13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499233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5071012" name="Rectangle 16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232608" name="Title 1"/>
          <p:cNvSpPr>
            <a:spLocks noGrp="1"/>
          </p:cNvSpPr>
          <p:nvPr>
            <p:ph type="title"/>
          </p:nvPr>
        </p:nvSpPr>
        <p:spPr bwMode="auto">
          <a:xfrm>
            <a:off x="669222" y="753227"/>
            <a:ext cx="9624960" cy="1080938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146235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9404180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559665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3102833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2909073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621266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004661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BFF2AA-51FD-495E-9B6C-53E0CCE8720E}" type="datetime1">
              <a:rPr lang="ru-RU"/>
              <a:t>23.06.2026</a:t>
            </a:fld>
            <a:endParaRPr lang="ru-RU"/>
          </a:p>
        </p:txBody>
      </p:sp>
      <p:sp>
        <p:nvSpPr>
          <p:cNvPr id="15633163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3959316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9626116" name="Picture 14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233124268" name="Picture 15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135396588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3840310" name="Rectangle 17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735678" name="Title 1"/>
          <p:cNvSpPr>
            <a:spLocks noGrp="1"/>
          </p:cNvSpPr>
          <p:nvPr>
            <p:ph type="title"/>
          </p:nvPr>
        </p:nvSpPr>
        <p:spPr bwMode="auto">
          <a:xfrm>
            <a:off x="680322" y="753227"/>
            <a:ext cx="9613860" cy="1080938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4913183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9936537" name="Picture Placeholder 2"/>
          <p:cNvSpPr>
            <a:spLocks noGrp="1" noChangeAspect="1"/>
          </p:cNvSpPr>
          <p:nvPr>
            <p:ph type="pic" idx="15"/>
          </p:nvPr>
        </p:nvSpPr>
        <p:spPr bwMode="auto"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1068997560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874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4020366" name="Picture Placeholder 2"/>
          <p:cNvSpPr>
            <a:spLocks noGrp="1" noChangeAspect="1"/>
          </p:cNvSpPr>
          <p:nvPr>
            <p:ph type="pic" idx="21"/>
          </p:nvPr>
        </p:nvSpPr>
        <p:spPr bwMode="auto"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722994144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06511120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92102309" name="Picture Placeholder 2"/>
          <p:cNvSpPr>
            <a:spLocks noGrp="1" noChangeAspect="1"/>
          </p:cNvSpPr>
          <p:nvPr>
            <p:ph type="pic" idx="22"/>
          </p:nvPr>
        </p:nvSpPr>
        <p:spPr bwMode="auto"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1757669270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733830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532452-DB40-464D-817C-83D7743D6F57}" type="datetime1">
              <a:rPr lang="ru-RU"/>
              <a:t>23.06.2026</a:t>
            </a:fld>
            <a:endParaRPr lang="ru-RU"/>
          </a:p>
        </p:txBody>
      </p:sp>
      <p:sp>
        <p:nvSpPr>
          <p:cNvPr id="111707757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040052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9191336" name="Picture 6" descr="HD-ShadowLong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25691708" name="Picture 7" descr="HD-ShadowShor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01113253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179467" name="Rectangle 9"/>
          <p:cNvSpPr/>
          <p:nvPr/>
        </p:nvSpPr>
        <p:spPr bwMode="auto"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56567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1532953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7905814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87BE9EF-9137-4EC0-A2FE-700F392F3BEF}" type="datetime1">
              <a:rPr lang="ru-RU"/>
              <a:t>23.06.2026</a:t>
            </a:fld>
            <a:endParaRPr lang="ru-RU"/>
          </a:p>
        </p:txBody>
      </p:sp>
      <p:sp>
        <p:nvSpPr>
          <p:cNvPr id="2725599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39035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456003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2219503" name="Rectangle 7"/>
          <p:cNvSpPr/>
          <p:nvPr/>
        </p:nvSpPr>
        <p:spPr bwMode="auto"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89023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129231" y="609597"/>
            <a:ext cx="1073802" cy="4353760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1302534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0322" y="609597"/>
            <a:ext cx="8870004" cy="5326589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28394558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807126" y="5936187"/>
            <a:ext cx="2743200" cy="365125"/>
          </a:xfrm>
        </p:spPr>
        <p:txBody>
          <a:bodyPr/>
          <a:lstStyle/>
          <a:p>
            <a:pPr>
              <a:defRPr/>
            </a:pPr>
            <a:fld id="{2BF7793B-D180-44C4-B91E-57912C70F4D0}" type="datetime1">
              <a:rPr lang="ru-RU"/>
              <a:t>23.06.2026</a:t>
            </a:fld>
            <a:endParaRPr lang="ru-RU"/>
          </a:p>
        </p:txBody>
      </p:sp>
      <p:sp>
        <p:nvSpPr>
          <p:cNvPr id="38945728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0321" y="5936188"/>
            <a:ext cx="6126805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3214746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96188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11351292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6895628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1D4F3A-ABC6-43DF-ACA3-965C94B45EAB}" type="datetime1">
              <a:rPr lang="ru-RU"/>
              <a:t>23.06.2026</a:t>
            </a:fld>
            <a:endParaRPr lang="ru-RU"/>
          </a:p>
        </p:txBody>
      </p:sp>
      <p:sp>
        <p:nvSpPr>
          <p:cNvPr id="89909716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588096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CF8DEEF-AAF2-493E-906B-C0B6A8D6E6A2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86598" name="Прямоугольник 3"/>
          <p:cNvSpPr/>
          <p:nvPr/>
        </p:nvSpPr>
        <p:spPr bwMode="auto">
          <a:xfrm>
            <a:off x="0" y="246891"/>
            <a:ext cx="12191999" cy="4221198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50836964" name="Прямоугольник 4"/>
          <p:cNvSpPr/>
          <p:nvPr/>
        </p:nvSpPr>
        <p:spPr bwMode="auto">
          <a:xfrm>
            <a:off x="0" y="5021125"/>
            <a:ext cx="12191999" cy="164637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5297201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644243" y="2028711"/>
            <a:ext cx="8345668" cy="1400288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 b="1">
                <a:solidFill>
                  <a:schemeClr val="bg1"/>
                </a:solidFill>
              </a:rPr>
              <a:t>Разработка ядра упрощенного графического ускорителя: </a:t>
            </a:r>
            <a:r>
              <a:rPr lang="en-US" sz="3200" b="1">
                <a:solidFill>
                  <a:schemeClr val="bg1"/>
                </a:solidFill>
              </a:rPr>
              <a:t>HDL </a:t>
            </a:r>
            <a:r>
              <a:rPr lang="ru-RU" sz="3200" b="1">
                <a:solidFill>
                  <a:schemeClr val="bg1"/>
                </a:solidFill>
              </a:rPr>
              <a:t>модель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2037473090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5817078" y="5093158"/>
            <a:ext cx="6051236" cy="12418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62500" lnSpcReduction="19000"/>
          </a:bodyPr>
          <a:lstStyle/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Воронежский Государственный Университет</a:t>
            </a:r>
            <a:endParaRPr/>
          </a:p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Сделал: студент 2 курса магистратуры 11 группы Старухин Данила Михайлович</a:t>
            </a:r>
            <a:endParaRPr/>
          </a:p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Руководитель: Авсеева О.В.</a:t>
            </a:r>
            <a:endParaRPr/>
          </a:p>
          <a:p>
            <a:pPr algn="r">
              <a:defRPr/>
            </a:pPr>
            <a:r>
              <a:rPr lang="en-US">
                <a:solidFill>
                  <a:schemeClr val="bg1"/>
                </a:solidFill>
              </a:rPr>
              <a:t>e-mail: staruhind@yandex.ru</a:t>
            </a:r>
            <a:endParaRPr/>
          </a:p>
        </p:txBody>
      </p:sp>
      <p:sp>
        <p:nvSpPr>
          <p:cNvPr id="1660120845" name="Заголовок 1"/>
          <p:cNvSpPr>
            <a:spLocks noGrp="1"/>
          </p:cNvSpPr>
          <p:nvPr/>
        </p:nvSpPr>
        <p:spPr bwMode="auto">
          <a:xfrm>
            <a:off x="1644243" y="383435"/>
            <a:ext cx="8345667" cy="766221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636386105" name="Заголовок 1"/>
          <p:cNvSpPr>
            <a:spLocks noGrp="1"/>
          </p:cNvSpPr>
          <p:nvPr/>
        </p:nvSpPr>
        <p:spPr bwMode="auto">
          <a:xfrm>
            <a:off x="1644243" y="1149656"/>
            <a:ext cx="8345667" cy="76622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Факультет прикладной математики, информатики и механики Кафедра вычислительной математики и прикладных информационных технологий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877877864" name="Заголовок 1"/>
          <p:cNvSpPr>
            <a:spLocks noGrp="1"/>
          </p:cNvSpPr>
          <p:nvPr/>
        </p:nvSpPr>
        <p:spPr bwMode="auto">
          <a:xfrm>
            <a:off x="1644243" y="3544760"/>
            <a:ext cx="8345667" cy="76622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Магистерская диссертация</a:t>
            </a:r>
          </a:p>
          <a:p>
            <a:pPr>
              <a:defRPr/>
            </a:pPr>
            <a:r>
              <a:rPr lang="ru-RU"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Направление 01.04.02 Прикладная математика и информатика</a:t>
            </a:r>
          </a:p>
        </p:txBody>
      </p:sp>
      <p:sp>
        <p:nvSpPr>
          <p:cNvPr id="1274511686" name="Заголовок 1"/>
          <p:cNvSpPr>
            <a:spLocks noGrp="1"/>
          </p:cNvSpPr>
          <p:nvPr/>
        </p:nvSpPr>
        <p:spPr bwMode="auto">
          <a:xfrm>
            <a:off x="5170877" y="5951875"/>
            <a:ext cx="1850245" cy="630957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Воронеж 2026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38761" name="Прямоугольник 4"/>
          <p:cNvSpPr/>
          <p:nvPr/>
        </p:nvSpPr>
        <p:spPr bwMode="auto">
          <a:xfrm>
            <a:off x="0" y="-1"/>
            <a:ext cx="12192000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5569566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198" y="-21181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Введение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8104864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Графический ускоритель </a:t>
            </a:r>
            <a:r>
              <a:rPr lang="en-US">
                <a:solidFill>
                  <a:schemeClr val="tx1"/>
                </a:solidFill>
              </a:rPr>
              <a:t>(GPU)</a:t>
            </a:r>
            <a:r>
              <a:rPr lang="ru-RU">
                <a:solidFill>
                  <a:schemeClr val="tx1"/>
                </a:solidFill>
              </a:rPr>
              <a:t> – это специализированный процессор, оптимизированный для параллельной обработки данных;</a:t>
            </a: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Графическое ядро – это специализированный микропроцессор, созданный для математических вычислений, обработки изображений и рендеринга;</a:t>
            </a:r>
          </a:p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Основные компании-разработчики дискретных графических ускорителей: </a:t>
            </a:r>
            <a:r>
              <a:rPr lang="en-US">
                <a:solidFill>
                  <a:schemeClr val="tx1"/>
                </a:solidFill>
              </a:rPr>
              <a:t>AMD,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NVIDIA, Intel (c </a:t>
            </a:r>
            <a:r>
              <a:rPr lang="ru-RU">
                <a:solidFill>
                  <a:schemeClr val="tx1"/>
                </a:solidFill>
              </a:rPr>
              <a:t>недавних пор</a:t>
            </a:r>
            <a:r>
              <a:rPr lang="en-US">
                <a:solidFill>
                  <a:schemeClr val="tx1"/>
                </a:solidFill>
              </a:rPr>
              <a:t>)</a:t>
            </a:r>
            <a:r>
              <a:rPr lang="ru-RU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56046758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2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554808838" name="Прямоугольник 5"/>
          <p:cNvSpPr/>
          <p:nvPr/>
        </p:nvSpPr>
        <p:spPr bwMode="auto">
          <a:xfrm>
            <a:off x="0" y="1220090"/>
            <a:ext cx="12192000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02218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ru-RU">
                <a:solidFill>
                  <a:schemeClr val="tx1"/>
                </a:solidFill>
              </a:rPr>
              <a:t>Реализация модели упрощенного графического ядра </a:t>
            </a:r>
            <a:r>
              <a:rPr>
                <a:solidFill>
                  <a:schemeClr val="tx1"/>
                </a:solidFill>
              </a:rPr>
              <a:t>позволит:</a:t>
            </a: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 Определить требования для построения минимального графического ядра и минимальный набор инструкций;</a:t>
            </a: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 Разработать модель упрощенного графического ядра, которую можно модернизировать и изучать;</a:t>
            </a: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 На базе разработанной модели можно экспериментировать с различными техниками и способами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построения архитектур процессорных систем</a:t>
            </a:r>
            <a:r>
              <a:rPr>
                <a:solidFill>
                  <a:schemeClr val="tx1"/>
                </a:solidFill>
              </a:rPr>
              <a:t>;</a:t>
            </a:r>
          </a:p>
          <a:p>
            <a:pPr>
              <a:buFont typeface="Arial"/>
              <a:buChar char="–"/>
              <a:defRPr/>
            </a:pPr>
            <a:r>
              <a:rPr>
                <a:solidFill>
                  <a:schemeClr val="tx1"/>
                </a:solidFill>
              </a:rPr>
              <a:t> Приблизиться к реализации полноценного графического ядра, а в перспективе и полноценного графического ускорителя.</a:t>
            </a:r>
          </a:p>
        </p:txBody>
      </p:sp>
      <p:sp>
        <p:nvSpPr>
          <p:cNvPr id="162578355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3</a:t>
            </a:fld>
            <a:endParaRPr lang="ru-RU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25781537" name="Прямоугольник 4"/>
          <p:cNvSpPr/>
          <p:nvPr/>
        </p:nvSpPr>
        <p:spPr bwMode="auto">
          <a:xfrm>
            <a:off x="0" y="-72479"/>
            <a:ext cx="12192000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35631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-7247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Актуальность работы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66379215" name="Прямоугольник 5"/>
          <p:cNvSpPr/>
          <p:nvPr/>
        </p:nvSpPr>
        <p:spPr bwMode="auto">
          <a:xfrm>
            <a:off x="0" y="1121016"/>
            <a:ext cx="12192000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122079" name="Объект 2"/>
          <p:cNvSpPr>
            <a:spLocks noGrp="1"/>
          </p:cNvSpPr>
          <p:nvPr>
            <p:ph idx="1"/>
          </p:nvPr>
        </p:nvSpPr>
        <p:spPr bwMode="auto">
          <a:xfrm>
            <a:off x="4649" y="1635966"/>
            <a:ext cx="12201298" cy="3600467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Цели</a:t>
            </a:r>
            <a:endParaRPr sz="2400"/>
          </a:p>
          <a:p>
            <a:pPr lvl="1">
              <a:defRPr/>
            </a:pPr>
            <a:r>
              <a:rPr lang="ru-RU" sz="2000"/>
              <a:t>Разработать модель упрощённого графического ядра на языке описания аппаратуры </a:t>
            </a:r>
            <a:r>
              <a:rPr lang="en-US" sz="2000"/>
              <a:t>SystemVerilog</a:t>
            </a:r>
            <a:r>
              <a:rPr lang="ru-RU" sz="2000"/>
              <a:t>.</a:t>
            </a:r>
            <a:endParaRPr sz="2000"/>
          </a:p>
          <a:p>
            <a:pPr>
              <a:defRPr/>
            </a:pPr>
            <a:r>
              <a:rPr lang="ru-RU" sz="2400"/>
              <a:t>Задачи</a:t>
            </a:r>
            <a:endParaRPr sz="2400"/>
          </a:p>
          <a:p>
            <a:pPr lvl="1">
              <a:defRPr/>
            </a:pPr>
            <a:r>
              <a:rPr lang="ru-RU" sz="2000"/>
              <a:t>Провести анализ существующих архитектур графических процессоров и ядер;</a:t>
            </a:r>
            <a:endParaRPr sz="2000"/>
          </a:p>
          <a:p>
            <a:pPr lvl="1">
              <a:defRPr/>
            </a:pPr>
            <a:r>
              <a:rPr lang="ru-RU" sz="2000"/>
              <a:t>Спроектировать минимально необходимую архитектуру набора инструкций (</a:t>
            </a:r>
            <a:r>
              <a:rPr lang="en-US" sz="2000"/>
              <a:t>ISA)</a:t>
            </a:r>
            <a:r>
              <a:rPr lang="ru-RU" sz="2000"/>
              <a:t>;</a:t>
            </a:r>
            <a:endParaRPr sz="2000"/>
          </a:p>
          <a:p>
            <a:pPr lvl="1">
              <a:defRPr/>
            </a:pPr>
            <a:r>
              <a:rPr lang="ru-RU" sz="2000"/>
              <a:t>Разработать архитектуру упрощенного графического ядра;</a:t>
            </a:r>
            <a:endParaRPr sz="2000"/>
          </a:p>
          <a:p>
            <a:pPr lvl="1">
              <a:defRPr/>
            </a:pPr>
            <a:r>
              <a:rPr lang="ru-RU" sz="2000"/>
              <a:t>Разработать модель упрощенного графического ядра, используя метод поблочной декомпозиции.</a:t>
            </a:r>
            <a:endParaRPr sz="2000"/>
          </a:p>
        </p:txBody>
      </p:sp>
      <p:sp>
        <p:nvSpPr>
          <p:cNvPr id="65836599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4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634131261" name="Прямоугольник 5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8459728" name="Заголовок 1"/>
          <p:cNvSpPr>
            <a:spLocks noGrp="1"/>
          </p:cNvSpPr>
          <p:nvPr>
            <p:ph type="title"/>
          </p:nvPr>
        </p:nvSpPr>
        <p:spPr bwMode="auto">
          <a:xfrm>
            <a:off x="847498" y="5651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Постановка задачи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2407284" name="Прямоугольник 6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283796" name="Объект 2"/>
          <p:cNvSpPr>
            <a:spLocks noGrp="1"/>
          </p:cNvSpPr>
          <p:nvPr>
            <p:ph idx="1"/>
          </p:nvPr>
        </p:nvSpPr>
        <p:spPr bwMode="auto">
          <a:xfrm>
            <a:off x="320620" y="1628766"/>
            <a:ext cx="2592336" cy="486410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20000"/>
          </a:bodyPr>
          <a:lstStyle/>
          <a:p>
            <a:pPr>
              <a:defRPr/>
            </a:pPr>
            <a:r>
              <a:t>Работа является общим проектом по теме: разработка ядра упрощенного графического ускорителя;</a:t>
            </a:r>
          </a:p>
          <a:p>
            <a:pPr>
              <a:defRPr/>
            </a:pPr>
            <a:r>
              <a:t>В данной работе выполнена конкретная часть проекта: </a:t>
            </a:r>
            <a:r>
              <a:rPr lang="en-US"/>
              <a:t>RTL-</a:t>
            </a:r>
            <a:r>
              <a:rPr lang="ru-RU"/>
              <a:t>описание ядра упрощенного графического ускорителя.</a:t>
            </a:r>
            <a:endParaRPr/>
          </a:p>
        </p:txBody>
      </p:sp>
      <p:sp>
        <p:nvSpPr>
          <p:cNvPr id="715756810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4"/>
            <a:ext cx="1052507" cy="365124"/>
          </a:xfrm>
        </p:spPr>
        <p:txBody>
          <a:bodyPr/>
          <a:lstStyle/>
          <a:p>
            <a:pPr>
              <a:defRPr/>
            </a:pPr>
            <a:fld id="{2C3BA63A-6FFD-E575-38C0-7BEA8FDEC7FB}" type="slidenum">
              <a:rPr lang="ru-RU" sz="1800">
                <a:solidFill>
                  <a:schemeClr val="tx1"/>
                </a:solidFill>
                <a:latin typeface="Trebuchet MS"/>
              </a:rPr>
              <a:t>5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260798391" name="Прямоугольник 5"/>
          <p:cNvSpPr/>
          <p:nvPr/>
        </p:nvSpPr>
        <p:spPr bwMode="auto">
          <a:xfrm>
            <a:off x="-9297" y="-10414"/>
            <a:ext cx="12210595" cy="1160098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315016" name="Заголовок 1"/>
          <p:cNvSpPr>
            <a:spLocks noGrp="1"/>
          </p:cNvSpPr>
          <p:nvPr>
            <p:ph type="title"/>
          </p:nvPr>
        </p:nvSpPr>
        <p:spPr bwMode="auto">
          <a:xfrm>
            <a:off x="847497" y="5651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Комплексная структура проекта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65472291" name="Прямоугольник 6"/>
          <p:cNvSpPr/>
          <p:nvPr/>
        </p:nvSpPr>
        <p:spPr bwMode="auto">
          <a:xfrm>
            <a:off x="0" y="1181590"/>
            <a:ext cx="12201297" cy="168582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543394343" name="Рисунок 543394342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3328593" y="2135569"/>
            <a:ext cx="8156721" cy="3575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756197" name="Прямоугольник 9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99459330" name="Прямоугольник 10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97341898" name="Заголовок 1"/>
          <p:cNvSpPr>
            <a:spLocks noGrp="1"/>
          </p:cNvSpPr>
          <p:nvPr>
            <p:ph type="title"/>
          </p:nvPr>
        </p:nvSpPr>
        <p:spPr bwMode="auto">
          <a:xfrm>
            <a:off x="383823" y="-1041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Обзор существующих архитектур</a:t>
            </a:r>
            <a:r>
              <a:rPr lang="en-US">
                <a:solidFill>
                  <a:schemeClr val="bg1"/>
                </a:solidFill>
              </a:rPr>
              <a:t>: AMD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Souther Islands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36873006" name="Объект 2"/>
          <p:cNvSpPr>
            <a:spLocks noGrp="1"/>
          </p:cNvSpPr>
          <p:nvPr>
            <p:ph idx="1"/>
          </p:nvPr>
        </p:nvSpPr>
        <p:spPr bwMode="auto">
          <a:xfrm>
            <a:off x="383823" y="1350173"/>
            <a:ext cx="3684326" cy="280272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2500" lnSpcReduction="20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Ядро (</a:t>
            </a:r>
            <a:r>
              <a:rPr lang="en-US" sz="2000"/>
              <a:t>CU</a:t>
            </a:r>
            <a:r>
              <a:rPr lang="ru-RU" sz="2000"/>
              <a:t>) содержит</a:t>
            </a:r>
            <a:r>
              <a:rPr lang="en-US" sz="2000"/>
              <a:t>:</a:t>
            </a:r>
            <a:endParaRPr sz="2000"/>
          </a:p>
          <a:p>
            <a:pPr>
              <a:buFont typeface="Arial"/>
              <a:buChar char="–"/>
              <a:defRPr/>
            </a:pPr>
            <a:r>
              <a:rPr lang="en-US" sz="2000"/>
              <a:t>v/sGPR - </a:t>
            </a:r>
            <a:r>
              <a:rPr lang="ru-RU" sz="2000"/>
              <a:t>векторный/скалярный регистровый файл</a:t>
            </a:r>
            <a:r>
              <a:rPr lang="en-US" sz="2000"/>
              <a:t>;</a:t>
            </a:r>
            <a:endParaRPr sz="2000"/>
          </a:p>
          <a:p>
            <a:pPr>
              <a:buFont typeface="Arial"/>
              <a:buChar char="–"/>
              <a:defRPr/>
            </a:pPr>
            <a:r>
              <a:rPr lang="en-US" sz="2000"/>
              <a:t>LSU – </a:t>
            </a:r>
            <a:r>
              <a:rPr lang="ru-RU" sz="2000"/>
              <a:t>блок загузки/сохранения</a:t>
            </a:r>
            <a:r>
              <a:rPr lang="en-US" sz="2000"/>
              <a:t>;</a:t>
            </a:r>
            <a:endParaRPr sz="2000"/>
          </a:p>
          <a:p>
            <a:pPr>
              <a:buFont typeface="Arial"/>
              <a:buChar char="–"/>
              <a:defRPr/>
            </a:pPr>
            <a:r>
              <a:rPr lang="en-US" sz="2000"/>
              <a:t>vALU – </a:t>
            </a:r>
            <a:r>
              <a:rPr lang="ru-RU" sz="2000"/>
              <a:t>векторное арифметико-логическое устройство</a:t>
            </a:r>
            <a:r>
              <a:rPr lang="en-US" sz="2000"/>
              <a:t> (INT </a:t>
            </a:r>
            <a:r>
              <a:rPr lang="ru-RU" sz="2000"/>
              <a:t>и </a:t>
            </a:r>
            <a:r>
              <a:rPr lang="en-US" sz="2000"/>
              <a:t>FP);</a:t>
            </a:r>
            <a:endParaRPr sz="2000"/>
          </a:p>
          <a:p>
            <a:pPr>
              <a:buFont typeface="Arial"/>
              <a:buChar char="–"/>
              <a:defRPr/>
            </a:pPr>
            <a:r>
              <a:rPr lang="ru-RU" sz="2000"/>
              <a:t>Блок получения, декодирования и планирования инструкций;</a:t>
            </a:r>
            <a:endParaRPr sz="2000"/>
          </a:p>
          <a:p>
            <a:pPr>
              <a:buFont typeface="Arial"/>
              <a:buChar char="–"/>
              <a:defRPr/>
            </a:pPr>
            <a:r>
              <a:rPr lang="ru-RU" sz="2000"/>
              <a:t>Локальная общая память.</a:t>
            </a:r>
            <a:endParaRPr sz="2000"/>
          </a:p>
        </p:txBody>
      </p:sp>
      <p:sp>
        <p:nvSpPr>
          <p:cNvPr id="479881067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79493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6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pic>
        <p:nvPicPr>
          <p:cNvPr id="584781242" name="Рисунок 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52516" y="2208315"/>
            <a:ext cx="7854704" cy="4271176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9648412" name="Рисунок 296484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83823" y="4250145"/>
            <a:ext cx="3576543" cy="2229347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614552" name="Прямоугольник 9"/>
          <p:cNvSpPr/>
          <p:nvPr/>
        </p:nvSpPr>
        <p:spPr bwMode="auto">
          <a:xfrm>
            <a:off x="-9297" y="-10414"/>
            <a:ext cx="12210595" cy="1160098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2050281" name="Прямоугольник 10"/>
          <p:cNvSpPr/>
          <p:nvPr/>
        </p:nvSpPr>
        <p:spPr bwMode="auto">
          <a:xfrm>
            <a:off x="0" y="1181590"/>
            <a:ext cx="12201297" cy="168582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72284683" name="Заголовок 1"/>
          <p:cNvSpPr>
            <a:spLocks noGrp="1"/>
          </p:cNvSpPr>
          <p:nvPr>
            <p:ph type="title"/>
          </p:nvPr>
        </p:nvSpPr>
        <p:spPr bwMode="auto">
          <a:xfrm>
            <a:off x="461982" y="-1041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Обзор существующих архитектур</a:t>
            </a:r>
            <a:r>
              <a:rPr lang="en-US">
                <a:solidFill>
                  <a:schemeClr val="bg1"/>
                </a:solidFill>
              </a:rPr>
              <a:t>: NVIDIA</a:t>
            </a:r>
            <a:br>
              <a:rPr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Fermi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44392733" name="Объект 2"/>
          <p:cNvSpPr>
            <a:spLocks noGrp="1"/>
          </p:cNvSpPr>
          <p:nvPr>
            <p:ph idx="1"/>
          </p:nvPr>
        </p:nvSpPr>
        <p:spPr bwMode="auto">
          <a:xfrm>
            <a:off x="285750" y="1444489"/>
            <a:ext cx="6925649" cy="50350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/>
              <a:t>Общий регистровый файл большого размера для множества ядер;</a:t>
            </a:r>
          </a:p>
          <a:p>
            <a:pPr>
              <a:defRPr/>
            </a:pPr>
            <a:r>
              <a:rPr lang="ru-RU"/>
              <a:t>Каждому ядру в регистровом файле выделена своя область;</a:t>
            </a:r>
          </a:p>
          <a:p>
            <a:pPr>
              <a:defRPr/>
            </a:pPr>
            <a:r>
              <a:rPr lang="ru-RU"/>
              <a:t>Каждое ядро </a:t>
            </a:r>
            <a:r>
              <a:rPr lang="en-US"/>
              <a:t>CUDA </a:t>
            </a:r>
            <a:r>
              <a:rPr lang="ru-RU"/>
              <a:t>является однопоточным;</a:t>
            </a:r>
          </a:p>
          <a:p>
            <a:pPr>
              <a:defRPr/>
            </a:pPr>
            <a:r>
              <a:rPr lang="ru-RU"/>
              <a:t>Каждое ядро содержит вычислительные блоки для </a:t>
            </a:r>
            <a:r>
              <a:rPr lang="en-US"/>
              <a:t>INT </a:t>
            </a:r>
            <a:r>
              <a:rPr lang="ru-RU"/>
              <a:t>и </a:t>
            </a:r>
            <a:r>
              <a:rPr lang="en-US"/>
              <a:t>FP</a:t>
            </a:r>
            <a:r>
              <a:rPr lang="ru-RU"/>
              <a:t>;</a:t>
            </a:r>
            <a:endParaRPr lang="en-US"/>
          </a:p>
          <a:p>
            <a:pPr>
              <a:defRPr/>
            </a:pPr>
            <a:r>
              <a:rPr lang="en-US"/>
              <a:t>SFU – </a:t>
            </a:r>
            <a:r>
              <a:rPr lang="ru-RU"/>
              <a:t>специализированный ускоритель, в частности для тригонометрических функций.</a:t>
            </a:r>
            <a:endParaRPr/>
          </a:p>
        </p:txBody>
      </p:sp>
      <p:sp>
        <p:nvSpPr>
          <p:cNvPr id="2004110169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79492"/>
            <a:ext cx="1052507" cy="365124"/>
          </a:xfrm>
        </p:spPr>
        <p:txBody>
          <a:bodyPr/>
          <a:lstStyle/>
          <a:p>
            <a:pPr>
              <a:defRPr/>
            </a:pPr>
            <a:fld id="{4E8A3A8F-0B9D-0C84-2979-0C48658383B8}" type="slidenum">
              <a:rPr lang="ru-RU" sz="1800">
                <a:solidFill>
                  <a:schemeClr val="tx1"/>
                </a:solidFill>
                <a:latin typeface="Trebuchet MS"/>
              </a:rPr>
              <a:t>7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pic>
        <p:nvPicPr>
          <p:cNvPr id="258219235" name="Рисунок 5"/>
          <p:cNvPicPr>
            <a:picLocks noChangeAspect="1"/>
          </p:cNvPicPr>
          <p:nvPr/>
        </p:nvPicPr>
        <p:blipFill rotWithShape="1">
          <a:blip r:embed="rId3"/>
          <a:srcRect r="33408"/>
          <a:stretch/>
        </p:blipFill>
        <p:spPr bwMode="auto">
          <a:xfrm>
            <a:off x="7284603" y="1568869"/>
            <a:ext cx="4326204" cy="4910622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1535" name="Объект 2"/>
          <p:cNvSpPr>
            <a:spLocks noGrp="1"/>
          </p:cNvSpPr>
          <p:nvPr>
            <p:ph idx="1"/>
          </p:nvPr>
        </p:nvSpPr>
        <p:spPr bwMode="auto">
          <a:xfrm>
            <a:off x="-9297" y="1350173"/>
            <a:ext cx="3310846" cy="35993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2000"/>
          </a:bodyPr>
          <a:lstStyle/>
          <a:p>
            <a:pPr>
              <a:defRPr/>
            </a:pPr>
            <a:r>
              <a:rPr lang="ru-RU"/>
              <a:t>Набор инструкций взят с дампа промежуточного представления</a:t>
            </a:r>
            <a:r>
              <a:rPr lang="en-US"/>
              <a:t> </a:t>
            </a:r>
            <a:r>
              <a:rPr lang="ru-RU"/>
              <a:t>шейдера из </a:t>
            </a:r>
            <a:r>
              <a:rPr lang="en-US"/>
              <a:t>VKCUBE</a:t>
            </a:r>
            <a:r>
              <a:t>;</a:t>
            </a:r>
          </a:p>
          <a:p>
            <a:pPr>
              <a:defRPr/>
            </a:pPr>
            <a:r>
              <a:rPr lang="ru-RU"/>
              <a:t>В качестве основы взята архитектура набора инструкций </a:t>
            </a:r>
            <a:r>
              <a:rPr lang="en-US"/>
              <a:t>RISC-V</a:t>
            </a:r>
            <a:r>
              <a:rPr lang="ru-RU"/>
              <a:t>.</a:t>
            </a:r>
          </a:p>
        </p:txBody>
      </p:sp>
      <p:sp>
        <p:nvSpPr>
          <p:cNvPr id="280238473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65512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8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pic>
        <p:nvPicPr>
          <p:cNvPr id="142624812" name="Рисунок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56290" y="4580893"/>
            <a:ext cx="4981510" cy="2094567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937440151" name="Рисунок 14210750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9272601" y="1593351"/>
            <a:ext cx="2688029" cy="2035947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87870065" name="Прямоугольник 10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6421527" name="Прямоугольник 11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89660852" name="Заголовок 1"/>
          <p:cNvSpPr>
            <a:spLocks noGrp="1"/>
          </p:cNvSpPr>
          <p:nvPr>
            <p:ph type="title"/>
          </p:nvPr>
        </p:nvSpPr>
        <p:spPr bwMode="auto">
          <a:xfrm>
            <a:off x="387637" y="-116036"/>
            <a:ext cx="11223171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Разработка модели графического ядра: разработка архитектуры набора инструкций </a:t>
            </a:r>
            <a:r>
              <a:rPr lang="en-US">
                <a:solidFill>
                  <a:schemeClr val="bg1"/>
                </a:solidFill>
              </a:rPr>
              <a:t>(ISA)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1528119454" name="Рисунок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672115" y="5206830"/>
            <a:ext cx="3164607" cy="1376882"/>
          </a:xfrm>
          <a:prstGeom prst="rect">
            <a:avLst/>
          </a:prstGeom>
        </p:spPr>
      </p:pic>
      <p:pic>
        <p:nvPicPr>
          <p:cNvPr id="1736709910" name="Рисунок 1736709909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122609" y="1415540"/>
            <a:ext cx="5529106" cy="3009811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  <p:cxnSp>
        <p:nvCxnSpPr>
          <p:cNvPr id="1511808802" name="Прямая соединительная линия 1511808801"/>
          <p:cNvCxnSpPr>
            <a:stCxn id="142624812" idx="3"/>
            <a:endCxn id="1528119454" idx="1"/>
          </p:cNvCxnSpPr>
          <p:nvPr/>
        </p:nvCxnSpPr>
        <p:spPr bwMode="auto">
          <a:xfrm>
            <a:off x="7837799" y="5628176"/>
            <a:ext cx="642272" cy="26709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958203" name="Прямая соединительная линия 873958202"/>
          <p:cNvCxnSpPr>
            <a:stCxn id="142624812" idx="3"/>
            <a:endCxn id="1937440151" idx="2"/>
          </p:cNvCxnSpPr>
          <p:nvPr/>
        </p:nvCxnSpPr>
        <p:spPr bwMode="auto">
          <a:xfrm flipV="1">
            <a:off x="7837801" y="3629299"/>
            <a:ext cx="2778814" cy="1998876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911929" name="Прямая соединительная линия 1473911928"/>
          <p:cNvCxnSpPr>
            <a:stCxn id="1736709910" idx="3"/>
            <a:endCxn id="1937440151" idx="1"/>
          </p:cNvCxnSpPr>
          <p:nvPr/>
        </p:nvCxnSpPr>
        <p:spPr bwMode="auto">
          <a:xfrm flipV="1">
            <a:off x="8651715" y="2611325"/>
            <a:ext cx="552751" cy="309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75869" name="Прямая соединительная линия 120675868"/>
          <p:cNvCxnSpPr>
            <a:stCxn id="1736709910" idx="3"/>
            <a:endCxn id="1528119454" idx="0"/>
          </p:cNvCxnSpPr>
          <p:nvPr/>
        </p:nvCxnSpPr>
        <p:spPr bwMode="auto">
          <a:xfrm>
            <a:off x="8651714" y="2920445"/>
            <a:ext cx="1602704" cy="228638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370212" name="Объект 2"/>
          <p:cNvSpPr>
            <a:spLocks noGrp="1"/>
          </p:cNvSpPr>
          <p:nvPr>
            <p:ph idx="1"/>
          </p:nvPr>
        </p:nvSpPr>
        <p:spPr bwMode="auto">
          <a:xfrm>
            <a:off x="153374" y="1523999"/>
            <a:ext cx="5067299" cy="47624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12000"/>
          </a:bodyPr>
          <a:lstStyle/>
          <a:p>
            <a:pPr>
              <a:defRPr/>
            </a:pPr>
            <a:r>
              <a:rPr lang="en-US"/>
              <a:t>Fetcher</a:t>
            </a:r>
            <a:r>
              <a:rPr lang="ru-RU"/>
              <a:t> - захватывает инструкцию из памяти;</a:t>
            </a:r>
            <a:endParaRPr/>
          </a:p>
          <a:p>
            <a:pPr>
              <a:defRPr/>
            </a:pPr>
            <a:r>
              <a:rPr lang="en-US"/>
              <a:t>Decoder</a:t>
            </a:r>
            <a:r>
              <a:rPr lang="ru-RU"/>
              <a:t> - декодирует инструкцию, управляет </a:t>
            </a:r>
            <a:r>
              <a:rPr lang="en-US"/>
              <a:t>LSU</a:t>
            </a:r>
            <a:r>
              <a:rPr lang="ru-RU"/>
              <a:t> и </a:t>
            </a:r>
            <a:r>
              <a:rPr lang="en-US"/>
              <a:t>TU</a:t>
            </a:r>
            <a:r>
              <a:rPr lang="ru-RU"/>
              <a:t>;</a:t>
            </a:r>
            <a:endParaRPr/>
          </a:p>
          <a:p>
            <a:pPr>
              <a:defRPr/>
            </a:pPr>
            <a:r>
              <a:rPr lang="en-US"/>
              <a:t>TU</a:t>
            </a:r>
            <a:r>
              <a:rPr lang="ru-RU"/>
              <a:t> – вычислительный блок;</a:t>
            </a:r>
            <a:endParaRPr/>
          </a:p>
          <a:p>
            <a:pPr>
              <a:defRPr/>
            </a:pPr>
            <a:r>
              <a:rPr lang="en-US"/>
              <a:t>LSU -  </a:t>
            </a:r>
            <a:r>
              <a:rPr lang="ru-RU"/>
              <a:t>блок загрузки/сохранения данных;</a:t>
            </a:r>
            <a:endParaRPr/>
          </a:p>
          <a:p>
            <a:pPr>
              <a:defRPr/>
            </a:pPr>
            <a:r>
              <a:rPr lang="en-US"/>
              <a:t>CSR </a:t>
            </a:r>
            <a:r>
              <a:rPr lang="ru-RU"/>
              <a:t>- контрольно-статусные регистры. Содержат статусные и управляющие сигналы связанные с самим графическим ядром;</a:t>
            </a:r>
          </a:p>
          <a:p>
            <a:pPr>
              <a:defRPr/>
            </a:pPr>
            <a:r>
              <a:rPr lang="en-US"/>
              <a:t>PC – </a:t>
            </a:r>
            <a:r>
              <a:rPr lang="ru-RU"/>
              <a:t>счётчик инструкций.</a:t>
            </a:r>
            <a:endParaRPr lang="en-US"/>
          </a:p>
        </p:txBody>
      </p:sp>
      <p:sp>
        <p:nvSpPr>
          <p:cNvPr id="54494102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78335"/>
            <a:ext cx="1052508" cy="365125"/>
          </a:xfrm>
        </p:spPr>
        <p:txBody>
          <a:bodyPr/>
          <a:lstStyle/>
          <a:p>
            <a:pPr>
              <a:defRPr/>
            </a:pPr>
            <a:fld id="{ED02CFB1-EEA1-CD3C-8AAA-9D8034B9CDE8}" type="slidenum">
              <a:rPr lang="ru-RU" sz="1800">
                <a:solidFill>
                  <a:schemeClr val="tx1"/>
                </a:solidFill>
                <a:latin typeface="Trebuchet MS"/>
              </a:rPr>
              <a:t>9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301988378" name="Прямоугольник 5"/>
          <p:cNvSpPr/>
          <p:nvPr/>
        </p:nvSpPr>
        <p:spPr bwMode="auto">
          <a:xfrm>
            <a:off x="0" y="0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12940575" name="Прямоугольник 6"/>
          <p:cNvSpPr/>
          <p:nvPr/>
        </p:nvSpPr>
        <p:spPr bwMode="auto">
          <a:xfrm>
            <a:off x="9298" y="1192006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27627799" name="Заголовок 1"/>
          <p:cNvSpPr>
            <a:spLocks noGrp="1"/>
          </p:cNvSpPr>
          <p:nvPr>
            <p:ph type="title"/>
          </p:nvPr>
        </p:nvSpPr>
        <p:spPr bwMode="auto">
          <a:xfrm>
            <a:off x="568954" y="0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Разработка модели упрощенного графического ядра</a:t>
            </a:r>
            <a:r>
              <a:rPr lang="ru-RU" sz="3600">
                <a:solidFill>
                  <a:schemeClr val="bg1"/>
                </a:solidFill>
              </a:rPr>
              <a:t>: Общая структура ядра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1840874631" name="Рисунок 18408746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5603317" y="1477684"/>
            <a:ext cx="5766954" cy="5240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120669" name="Объект 2"/>
          <p:cNvSpPr>
            <a:spLocks noGrp="1"/>
          </p:cNvSpPr>
          <p:nvPr>
            <p:ph idx="1"/>
          </p:nvPr>
        </p:nvSpPr>
        <p:spPr bwMode="auto">
          <a:xfrm>
            <a:off x="66674" y="1350173"/>
            <a:ext cx="4134825" cy="51427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1600"/>
              <a:t>Вычислительный блок </a:t>
            </a:r>
            <a:r>
              <a:rPr lang="en-US" sz="1600"/>
              <a:t>(Tread Unit) </a:t>
            </a:r>
            <a:r>
              <a:rPr lang="ru-RU" sz="1600"/>
              <a:t>обрабатывает вещественные и целочисленные данные из регистрового файла (</a:t>
            </a:r>
            <a:r>
              <a:rPr lang="en-US" sz="1600"/>
              <a:t>Regfile</a:t>
            </a:r>
            <a:r>
              <a:rPr lang="ru-RU" sz="1600"/>
              <a:t>) и сохраняет их обратно;</a:t>
            </a:r>
            <a:endParaRPr sz="1600"/>
          </a:p>
          <a:p>
            <a:pPr>
              <a:defRPr/>
            </a:pPr>
            <a:r>
              <a:rPr lang="ru-RU" sz="1600"/>
              <a:t>Основные компоненты: </a:t>
            </a:r>
            <a:endParaRPr sz="1600"/>
          </a:p>
          <a:p>
            <a:pPr lvl="1">
              <a:defRPr/>
            </a:pPr>
            <a:r>
              <a:rPr lang="en-US" sz="1600"/>
              <a:t>FPU – </a:t>
            </a:r>
            <a:r>
              <a:rPr lang="ru-RU" sz="1600"/>
              <a:t>блок операций с плавающей запятой</a:t>
            </a:r>
            <a:r>
              <a:rPr lang="en-US" sz="1600"/>
              <a:t>;</a:t>
            </a:r>
            <a:endParaRPr sz="1600"/>
          </a:p>
          <a:p>
            <a:pPr lvl="1">
              <a:defRPr/>
            </a:pPr>
            <a:r>
              <a:rPr lang="en-US" sz="1600"/>
              <a:t>ALU – </a:t>
            </a:r>
            <a:r>
              <a:rPr lang="ru-RU" sz="1600"/>
              <a:t>целочисленное арифметико-логическое устройство (в основном используется для расчёта адресов и смещений)</a:t>
            </a:r>
            <a:r>
              <a:rPr lang="en-US" sz="1600"/>
              <a:t>;</a:t>
            </a:r>
            <a:endParaRPr sz="1600"/>
          </a:p>
          <a:p>
            <a:pPr lvl="1">
              <a:defRPr/>
            </a:pPr>
            <a:r>
              <a:rPr lang="en-US" sz="1600"/>
              <a:t>Regfile – </a:t>
            </a:r>
            <a:r>
              <a:rPr lang="ru-RU" sz="1600"/>
              <a:t>регистровый файл, хранит операнды и результаты операций. 30 регистров общего назначения, 2 специализированных регистра (индекс вычислительного блока и константный нуль).</a:t>
            </a:r>
            <a:endParaRPr sz="1600"/>
          </a:p>
        </p:txBody>
      </p:sp>
      <p:sp>
        <p:nvSpPr>
          <p:cNvPr id="2032625062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8C44681A-2184-8FE6-7CA2-B2F449D07AD3}" type="slidenum">
              <a:rPr lang="ru-RU" sz="1800">
                <a:solidFill>
                  <a:schemeClr val="tx1"/>
                </a:solidFill>
                <a:latin typeface="Trebuchet MS"/>
              </a:rPr>
              <a:t>10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2147309450" name="Прямоугольник 6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6091720" name="Прямоугольник 7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48347044" name="Заголовок 1"/>
          <p:cNvSpPr>
            <a:spLocks noGrp="1"/>
          </p:cNvSpPr>
          <p:nvPr>
            <p:ph type="title"/>
          </p:nvPr>
        </p:nvSpPr>
        <p:spPr bwMode="auto">
          <a:xfrm>
            <a:off x="680319" y="-37878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Разработка вычислительного блока:</a:t>
            </a:r>
            <a:br>
              <a:rPr lang="ru-RU" sz="3600">
                <a:solidFill>
                  <a:schemeClr val="bg1"/>
                </a:solidFill>
              </a:rPr>
            </a:br>
            <a:r>
              <a:rPr lang="ru-RU" sz="3600">
                <a:solidFill>
                  <a:schemeClr val="bg1"/>
                </a:solidFill>
              </a:rPr>
              <a:t>общая структура</a:t>
            </a:r>
            <a:endParaRPr/>
          </a:p>
        </p:txBody>
      </p:sp>
      <p:pic>
        <p:nvPicPr>
          <p:cNvPr id="672231900" name="Рисунок 672231899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207840" y="1443556"/>
            <a:ext cx="5541424" cy="5157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648561" name="Объект 2"/>
          <p:cNvSpPr>
            <a:spLocks noGrp="1"/>
          </p:cNvSpPr>
          <p:nvPr>
            <p:ph idx="1"/>
          </p:nvPr>
        </p:nvSpPr>
        <p:spPr bwMode="auto">
          <a:xfrm>
            <a:off x="208734" y="1552574"/>
            <a:ext cx="4736810" cy="49402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/>
              <a:t>Предназначен для передачи данных между внешней памятью и вычислительными блоками;</a:t>
            </a:r>
            <a:endParaRPr/>
          </a:p>
          <a:p>
            <a:pPr>
              <a:defRPr/>
            </a:pPr>
            <a:r>
              <a:rPr lang="ru-RU"/>
              <a:t>Может только загружать</a:t>
            </a:r>
            <a:r>
              <a:rPr lang="en-US"/>
              <a:t> (LOAD)</a:t>
            </a:r>
            <a:r>
              <a:rPr lang="ru-RU"/>
              <a:t> или сохранять</a:t>
            </a:r>
            <a:r>
              <a:rPr lang="en-US"/>
              <a:t> (STORE)</a:t>
            </a:r>
            <a:r>
              <a:rPr lang="ru-RU"/>
              <a:t> данные;</a:t>
            </a:r>
            <a:endParaRPr/>
          </a:p>
          <a:p>
            <a:pPr>
              <a:defRPr/>
            </a:pPr>
            <a:r>
              <a:rPr lang="ru-RU"/>
              <a:t>Работает только при получении </a:t>
            </a:r>
            <a:r>
              <a:rPr lang="en-US"/>
              <a:t>LD/ST </a:t>
            </a:r>
            <a:r>
              <a:rPr lang="ru-RU"/>
              <a:t>инструкции.</a:t>
            </a:r>
            <a:endParaRPr/>
          </a:p>
          <a:p>
            <a:pPr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835783607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3268CEBC-6C76-D4A5-843E-7A9602BB4FE0}" type="slidenum">
              <a:rPr lang="ru-RU" sz="1800">
                <a:solidFill>
                  <a:schemeClr val="tx1"/>
                </a:solidFill>
                <a:latin typeface="Trebuchet MS"/>
              </a:rPr>
              <a:t>11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2057672954" name="Прямоугольник 5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5929783" name="Прямоугольник 6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79635589" name="Заголовок 1"/>
          <p:cNvSpPr>
            <a:spLocks noGrp="1"/>
          </p:cNvSpPr>
          <p:nvPr>
            <p:ph type="title"/>
          </p:nvPr>
        </p:nvSpPr>
        <p:spPr bwMode="auto">
          <a:xfrm>
            <a:off x="680319" y="-45985"/>
            <a:ext cx="10515600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Блок загрузки и сохранения</a:t>
            </a:r>
            <a:endParaRPr/>
          </a:p>
        </p:txBody>
      </p:sp>
      <p:pic>
        <p:nvPicPr>
          <p:cNvPr id="1840929737" name="Рисунок 1840929736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5025437" y="1481884"/>
            <a:ext cx="7175859" cy="5010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503186" name="Объект 2"/>
          <p:cNvSpPr>
            <a:spLocks noGrp="1"/>
          </p:cNvSpPr>
          <p:nvPr>
            <p:ph idx="1"/>
          </p:nvPr>
        </p:nvSpPr>
        <p:spPr bwMode="auto">
          <a:xfrm>
            <a:off x="0" y="1350173"/>
            <a:ext cx="5668349" cy="55078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/>
              <a:t>Арбитр отслеживает запросы к памяти данных от вычислительных блоков;</a:t>
            </a:r>
            <a:endParaRPr/>
          </a:p>
          <a:p>
            <a:pPr>
              <a:defRPr/>
            </a:pPr>
            <a:r>
              <a:rPr lang="en-US"/>
              <a:t>LSU</a:t>
            </a:r>
            <a:r>
              <a:rPr lang="ru-RU"/>
              <a:t> выполняет запросы в порядке очереди (</a:t>
            </a:r>
            <a:r>
              <a:rPr lang="en-US"/>
              <a:t>round-robin</a:t>
            </a:r>
            <a:r>
              <a:rPr lang="ru-RU"/>
              <a:t>);</a:t>
            </a: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Арбитр управляет демультиплексором считанных данных и мультиплексором записываемых данных.</a:t>
            </a:r>
            <a:endParaRPr/>
          </a:p>
        </p:txBody>
      </p:sp>
      <p:sp>
        <p:nvSpPr>
          <p:cNvPr id="362099798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19687AD8-1A48-903E-417E-81FF292386D7}" type="slidenum">
              <a:rPr lang="ru-RU" sz="1800">
                <a:solidFill>
                  <a:schemeClr val="tx1"/>
                </a:solidFill>
                <a:latin typeface="Trebuchet MS"/>
              </a:rPr>
              <a:t>12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814142450" name="Прямоугольник 5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18277487" name="Прямоугольник 6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5905666" name="Заголовок 1"/>
          <p:cNvSpPr>
            <a:spLocks noGrp="1"/>
          </p:cNvSpPr>
          <p:nvPr>
            <p:ph type="title"/>
          </p:nvPr>
        </p:nvSpPr>
        <p:spPr bwMode="auto">
          <a:xfrm>
            <a:off x="842848" y="-10414"/>
            <a:ext cx="10515600" cy="13255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3600">
                <a:solidFill>
                  <a:schemeClr val="bg1"/>
                </a:solidFill>
              </a:rPr>
              <a:t>Интерконнект между </a:t>
            </a:r>
            <a:r>
              <a:rPr lang="en-US" sz="3600">
                <a:solidFill>
                  <a:schemeClr val="bg1"/>
                </a:solidFill>
              </a:rPr>
              <a:t>LSU </a:t>
            </a:r>
            <a:r>
              <a:rPr lang="ru-RU" sz="3600">
                <a:solidFill>
                  <a:schemeClr val="bg1"/>
                </a:solidFill>
              </a:rPr>
              <a:t>и потоками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1014880010" name="Рисунок 1014880009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68500" y="1437959"/>
            <a:ext cx="5268560" cy="5237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17167" name="Объект 2"/>
          <p:cNvSpPr>
            <a:spLocks noGrp="1"/>
          </p:cNvSpPr>
          <p:nvPr>
            <p:ph idx="1"/>
          </p:nvPr>
        </p:nvSpPr>
        <p:spPr bwMode="auto">
          <a:xfrm>
            <a:off x="77173" y="1350172"/>
            <a:ext cx="4826355" cy="550782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en-US"/>
              <a:t>Fetcher – </a:t>
            </a:r>
            <a:r>
              <a:rPr lang="ru-RU"/>
              <a:t>блок загрузки инструкций из памяти программ. Вычитывает инструкцию на которую указывает счётчик инструкций (</a:t>
            </a:r>
            <a:r>
              <a:rPr lang="en-US"/>
              <a:t>PC – program counter</a:t>
            </a:r>
            <a:r>
              <a:rPr lang="ru-RU"/>
              <a:t>);</a:t>
            </a:r>
            <a:endParaRPr/>
          </a:p>
          <a:p>
            <a:pPr>
              <a:defRPr/>
            </a:pPr>
            <a:r>
              <a:rPr lang="en-US"/>
              <a:t>Decoder</a:t>
            </a:r>
            <a:r>
              <a:rPr lang="ru-RU"/>
              <a:t> – преобразование инструкций в управляющие сигналы для исполнительных блоков (</a:t>
            </a:r>
            <a:r>
              <a:rPr lang="en-US"/>
              <a:t>TU, LSU</a:t>
            </a:r>
            <a:r>
              <a:rPr lang="ru-RU"/>
              <a:t>)</a:t>
            </a:r>
            <a:r>
              <a:rPr lang="en-US"/>
              <a:t>.</a:t>
            </a:r>
            <a:endParaRPr/>
          </a:p>
        </p:txBody>
      </p:sp>
      <p:sp>
        <p:nvSpPr>
          <p:cNvPr id="194345483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6E0C4E4E-F03C-EE6B-08CF-E8796A069A1F}" type="slidenum">
              <a:rPr lang="ru-RU" sz="1800">
                <a:solidFill>
                  <a:schemeClr val="tx1"/>
                </a:solidFill>
                <a:latin typeface="Trebuchet MS"/>
              </a:rPr>
              <a:t>13</a:t>
            </a:fld>
            <a:endParaRPr lang="ru-RU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960363529" name="Прямоугольник 5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089817248" name="Прямоугольник 6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0163547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-1041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>
                <a:solidFill>
                  <a:schemeClr val="bg1"/>
                </a:solidFill>
              </a:rPr>
              <a:t>Fetcher &amp; Decoder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1786174538" name="Рисунок 1786174537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996910" y="1396865"/>
            <a:ext cx="6875366" cy="5133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54651" name="Объект 2"/>
          <p:cNvSpPr>
            <a:spLocks noGrp="1"/>
          </p:cNvSpPr>
          <p:nvPr>
            <p:ph idx="1"/>
          </p:nvPr>
        </p:nvSpPr>
        <p:spPr bwMode="auto">
          <a:xfrm>
            <a:off x="156445" y="1959773"/>
            <a:ext cx="4816578" cy="35993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1600"/>
              <a:t>В результате работы:</a:t>
            </a:r>
            <a:endParaRPr sz="1600"/>
          </a:p>
          <a:p>
            <a:pPr lvl="1">
              <a:defRPr/>
            </a:pPr>
            <a:r>
              <a:rPr lang="ru-RU" sz="1600"/>
              <a:t>Проведен анализ существующих архитектур графических процессоров и ядер</a:t>
            </a:r>
            <a:r>
              <a:rPr lang="en-US" sz="1600"/>
              <a:t>;</a:t>
            </a:r>
            <a:endParaRPr sz="1600"/>
          </a:p>
          <a:p>
            <a:pPr lvl="1">
              <a:defRPr/>
            </a:pPr>
            <a:r>
              <a:rPr lang="ru-RU" sz="1600"/>
              <a:t>Спроектирована минимально необходимая архитектура набора инструкций </a:t>
            </a:r>
            <a:r>
              <a:rPr lang="en-US" sz="1600"/>
              <a:t>(ISA);</a:t>
            </a:r>
            <a:endParaRPr sz="1600"/>
          </a:p>
          <a:p>
            <a:pPr lvl="1">
              <a:defRPr/>
            </a:pPr>
            <a:r>
              <a:rPr lang="ru-RU" sz="1600"/>
              <a:t>Разработана архитектура упрощенного графического ядра с использованием метода поблочной декомпозиции;</a:t>
            </a:r>
            <a:endParaRPr sz="1600"/>
          </a:p>
          <a:p>
            <a:pPr lvl="1">
              <a:defRPr/>
            </a:pPr>
            <a:r>
              <a:rPr lang="ru-RU" sz="1600"/>
              <a:t>Разработана упрощенная модель графического ядра</a:t>
            </a:r>
            <a:r>
              <a:rPr lang="en-US" sz="1600"/>
              <a:t> </a:t>
            </a:r>
            <a:r>
              <a:rPr lang="ru-RU" sz="1600"/>
              <a:t>на языке описания аппаратуры </a:t>
            </a:r>
            <a:r>
              <a:rPr lang="en-US" sz="1600"/>
              <a:t>SystemVerilog</a:t>
            </a:r>
            <a:r>
              <a:rPr lang="ru-RU" sz="1600"/>
              <a:t>.</a:t>
            </a:r>
            <a:endParaRPr sz="1600"/>
          </a:p>
        </p:txBody>
      </p:sp>
      <p:sp>
        <p:nvSpPr>
          <p:cNvPr id="56472088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4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14</a:t>
            </a:fld>
            <a:endParaRPr lang="ru-RU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581631391" name="Прямоугольник 4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23140641" name="Прямоугольник 5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035117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Заключение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113674391" name="Рисунок 111367439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52470" y="1438274"/>
            <a:ext cx="7184591" cy="4905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03483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Старухин Д</a:t>
            </a:r>
            <a:r>
              <a:rPr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.</a:t>
            </a:r>
            <a:r>
              <a:rPr lang="ru-RU"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М</a:t>
            </a:r>
            <a:r>
              <a:rPr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. Обзор аналогов 2D графических ускорителей во встроенных системах / И.А. Дудкин, Д.М. Старухин, В.В. Черкасов \/\/ Математика, информационные технологии, приложения : сборник материалов Межвузовской научной конференции «Математика, информационные технологии, приложения» (Воронеж, 24-25 апреля 2025 г.). -- Воронеж : Издательско-полиграфический центр «Научная книга», 2025. -- С.209-216</a:t>
            </a:r>
            <a:endParaRPr sz="4800">
              <a:solidFill>
                <a:schemeClr val="bg1"/>
              </a:solidFill>
              <a:latin typeface="Trebuchet MS"/>
              <a:cs typeface="Trebuchet MS"/>
            </a:endParaRPr>
          </a:p>
          <a:p>
            <a:pPr>
              <a:defRPr/>
            </a:pPr>
            <a:r>
              <a:rPr lang="ru-RU"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Старухин Д</a:t>
            </a:r>
            <a:r>
              <a:rPr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.</a:t>
            </a:r>
            <a:r>
              <a:rPr lang="ru-RU"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М</a:t>
            </a:r>
            <a:r>
              <a:rPr sz="20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. </a:t>
            </a:r>
            <a:r>
              <a:rPr sz="22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Разработка архитектуры аппаратной реализации 2D графического ускорителя / И.А. Дудкин, Д.М. Старухин, В.В. Черкасов \/\/ Актуальные проблемы прикладной математики, информатики и механики : сборник материалов Международной научной конференции «Актуальные проблемы прикладной математики, информатики и механики» (Воронеж, 1-3 декабря 2025 г.). -- Воронеж : ООО «Издательство Прометей», 2026. -- С.1584-1588.</a:t>
            </a:r>
            <a:br>
              <a:rPr sz="22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</a:br>
            <a:endParaRPr lang="ru-RU">
              <a:solidFill>
                <a:schemeClr val="bg1"/>
              </a:solidFill>
            </a:endParaRPr>
          </a:p>
        </p:txBody>
      </p:sp>
      <p:sp>
        <p:nvSpPr>
          <p:cNvPr id="181066449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15</a:t>
            </a:fld>
            <a:endParaRPr lang="ru-RU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444704025" name="Прямоугольник 4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70909226" name="Прямоугольник 5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2683169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1825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Публикация статьи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356744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По результатам текущей работы получен акт о внедрении разработки в деятельность АО «ПКК Миландр» №04-3 от 04.06.2026</a:t>
            </a:r>
            <a:endParaRPr sz="10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616057970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4"/>
            <a:ext cx="1052507" cy="365124"/>
          </a:xfrm>
        </p:spPr>
        <p:txBody>
          <a:bodyPr/>
          <a:lstStyle/>
          <a:p>
            <a:pPr>
              <a:defRPr/>
            </a:pPr>
            <a:fld id="{6737BC9E-E183-A7EE-0C01-BA6DD5EB0490}" type="slidenum">
              <a:rPr lang="ru-RU" sz="1800">
                <a:solidFill>
                  <a:schemeClr val="tx1"/>
                </a:solidFill>
                <a:latin typeface="Trebuchet MS"/>
              </a:rPr>
              <a:t>16</a:t>
            </a:fld>
            <a:endParaRPr lang="ru-RU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850575339" name="Прямоугольник 4"/>
          <p:cNvSpPr/>
          <p:nvPr/>
        </p:nvSpPr>
        <p:spPr bwMode="auto">
          <a:xfrm>
            <a:off x="-9297" y="-10414"/>
            <a:ext cx="12210595" cy="1160098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47076292" name="Прямоугольник 5"/>
          <p:cNvSpPr/>
          <p:nvPr/>
        </p:nvSpPr>
        <p:spPr bwMode="auto">
          <a:xfrm>
            <a:off x="0" y="1181590"/>
            <a:ext cx="12201298" cy="168582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022561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198" y="1825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Внедрение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91815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368254803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11084553" y="6492875"/>
            <a:ext cx="1052508" cy="365125"/>
          </a:xfrm>
        </p:spPr>
        <p:txBody>
          <a:bodyPr/>
          <a:lstStyle/>
          <a:p>
            <a:pPr>
              <a:defRPr/>
            </a:pPr>
            <a:fld id="{1CF8DEEF-AAF2-493E-906B-C0B6A8D6E6A2}" type="slidenum">
              <a:rPr lang="ru-RU" sz="1800">
                <a:solidFill>
                  <a:schemeClr val="tx1"/>
                </a:solidFill>
                <a:latin typeface="Trebuchet MS"/>
              </a:rPr>
              <a:t>17</a:t>
            </a:fld>
            <a:endParaRPr lang="ru-RU" sz="180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683107362" name="Прямоугольник 4"/>
          <p:cNvSpPr/>
          <p:nvPr/>
        </p:nvSpPr>
        <p:spPr bwMode="auto">
          <a:xfrm>
            <a:off x="-9298" y="-10415"/>
            <a:ext cx="12210596" cy="1160099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37606377" name="Прямоугольник 5"/>
          <p:cNvSpPr/>
          <p:nvPr/>
        </p:nvSpPr>
        <p:spPr bwMode="auto">
          <a:xfrm>
            <a:off x="0" y="1181591"/>
            <a:ext cx="12201298" cy="16858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99791167" name="Заголовок 1"/>
          <p:cNvSpPr>
            <a:spLocks noGrp="1"/>
          </p:cNvSpPr>
          <p:nvPr>
            <p:ph type="title"/>
          </p:nvPr>
        </p:nvSpPr>
        <p:spPr bwMode="auto">
          <a:xfrm>
            <a:off x="916446" y="17498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Спасибо за внимание!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169919" name="Прямоугольник 3"/>
          <p:cNvSpPr/>
          <p:nvPr/>
        </p:nvSpPr>
        <p:spPr bwMode="auto">
          <a:xfrm>
            <a:off x="0" y="246891"/>
            <a:ext cx="12191999" cy="4221198"/>
          </a:xfrm>
          <a:prstGeom prst="rect">
            <a:avLst/>
          </a:prstGeom>
          <a:solidFill>
            <a:srgbClr val="1A326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14470452" name="Прямоугольник 4"/>
          <p:cNvSpPr/>
          <p:nvPr/>
        </p:nvSpPr>
        <p:spPr bwMode="auto">
          <a:xfrm>
            <a:off x="0" y="5021125"/>
            <a:ext cx="12191999" cy="1646373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2617831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644243" y="2028711"/>
            <a:ext cx="8345667" cy="1400287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200" b="1">
                <a:solidFill>
                  <a:schemeClr val="bg1"/>
                </a:solidFill>
              </a:rPr>
              <a:t>Разработка ядра упрощенного графического ускорителя. Разработка </a:t>
            </a:r>
            <a:r>
              <a:rPr lang="en-US" sz="3200" b="1">
                <a:solidFill>
                  <a:schemeClr val="bg1"/>
                </a:solidFill>
              </a:rPr>
              <a:t>HDL </a:t>
            </a:r>
            <a:r>
              <a:rPr lang="ru-RU" sz="3200" b="1">
                <a:solidFill>
                  <a:schemeClr val="bg1"/>
                </a:solidFill>
              </a:rPr>
              <a:t>модели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202635747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5817078" y="5093157"/>
            <a:ext cx="6051235" cy="12418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62500" lnSpcReduction="19000"/>
          </a:bodyPr>
          <a:lstStyle/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Воронежский Государственный Университет</a:t>
            </a:r>
            <a:endParaRPr/>
          </a:p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Сделал: студент 2 курса магистратуры 11 группы Старухин Данила Михайлович</a:t>
            </a:r>
            <a:endParaRPr/>
          </a:p>
          <a:p>
            <a:pPr algn="r">
              <a:defRPr/>
            </a:pPr>
            <a:r>
              <a:rPr lang="ru-RU">
                <a:solidFill>
                  <a:schemeClr val="bg1"/>
                </a:solidFill>
              </a:rPr>
              <a:t>Руководитель: Авсеева О.В.</a:t>
            </a:r>
            <a:endParaRPr/>
          </a:p>
          <a:p>
            <a:pPr algn="r">
              <a:defRPr/>
            </a:pPr>
            <a:r>
              <a:rPr lang="en-US">
                <a:solidFill>
                  <a:schemeClr val="bg1"/>
                </a:solidFill>
              </a:rPr>
              <a:t>e-mail: staruhind@yandex.ru</a:t>
            </a:r>
            <a:endParaRPr/>
          </a:p>
        </p:txBody>
      </p:sp>
      <p:sp>
        <p:nvSpPr>
          <p:cNvPr id="663392197" name="Заголовок 1"/>
          <p:cNvSpPr>
            <a:spLocks noGrp="1"/>
          </p:cNvSpPr>
          <p:nvPr/>
        </p:nvSpPr>
        <p:spPr bwMode="auto">
          <a:xfrm>
            <a:off x="1644243" y="383435"/>
            <a:ext cx="8345667" cy="766221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845622317" name="Заголовок 1"/>
          <p:cNvSpPr>
            <a:spLocks noGrp="1"/>
          </p:cNvSpPr>
          <p:nvPr/>
        </p:nvSpPr>
        <p:spPr bwMode="auto">
          <a:xfrm>
            <a:off x="1644243" y="1149656"/>
            <a:ext cx="8345667" cy="76622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Факультет прикладной математики, информатики и механики Кафедра вычислительной математики и прикладных информационных технологий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1865693039" name="Заголовок 1"/>
          <p:cNvSpPr>
            <a:spLocks noGrp="1"/>
          </p:cNvSpPr>
          <p:nvPr/>
        </p:nvSpPr>
        <p:spPr bwMode="auto">
          <a:xfrm>
            <a:off x="1644243" y="3544760"/>
            <a:ext cx="8345667" cy="76622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Магистерская диссертация</a:t>
            </a:r>
          </a:p>
          <a:p>
            <a:pPr>
              <a:defRPr/>
            </a:pPr>
            <a:r>
              <a:rPr lang="ru-RU"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Направление 01.04.02 Прикладная математика и информатика</a:t>
            </a:r>
          </a:p>
        </p:txBody>
      </p:sp>
      <p:sp>
        <p:nvSpPr>
          <p:cNvPr id="224178088" name="Заголовок 1"/>
          <p:cNvSpPr>
            <a:spLocks noGrp="1"/>
          </p:cNvSpPr>
          <p:nvPr/>
        </p:nvSpPr>
        <p:spPr bwMode="auto">
          <a:xfrm>
            <a:off x="5170877" y="5951875"/>
            <a:ext cx="1850245" cy="630957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sz="1600" b="0" i="0" u="none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Воронеж 2026</a:t>
            </a:r>
            <a:endParaRPr sz="80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1014</Words>
  <Application>Microsoft Office PowerPoint</Application>
  <PresentationFormat>Широкоэкранный</PresentationFormat>
  <Paragraphs>127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Тема Office</vt:lpstr>
      <vt:lpstr>Разработка ядра упрощенного графического ускорителя: HDL модель</vt:lpstr>
      <vt:lpstr>Введение</vt:lpstr>
      <vt:lpstr>Актуальность работы</vt:lpstr>
      <vt:lpstr>Постановка задачи</vt:lpstr>
      <vt:lpstr>Комплексная структура проекта</vt:lpstr>
      <vt:lpstr>Обзор существующих архитектур: AMD Souther Islands</vt:lpstr>
      <vt:lpstr>Обзор существующих архитектур: NVIDIA Fermi</vt:lpstr>
      <vt:lpstr>Разработка модели графического ядра: разработка архитектуры набора инструкций (ISA)</vt:lpstr>
      <vt:lpstr>Разработка модели упрощенного графического ядра: Общая структура ядра</vt:lpstr>
      <vt:lpstr>Разработка вычислительного блока: общая структура</vt:lpstr>
      <vt:lpstr>Блок загрузки и сохранения</vt:lpstr>
      <vt:lpstr>Интерконнект между LSU и потоками</vt:lpstr>
      <vt:lpstr>Fetcher &amp; Decoder</vt:lpstr>
      <vt:lpstr>Заключение</vt:lpstr>
      <vt:lpstr>Публикация статьи</vt:lpstr>
      <vt:lpstr>Внедрение</vt:lpstr>
      <vt:lpstr>Спасибо за внимание!</vt:lpstr>
      <vt:lpstr>Разработка ядра упрощенного графического ускорителя. Разработка HDL модели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упрощенного графического ускорителя. Разработка модели упрощенного графического ядра.</dc:title>
  <dc:creator>Ewencen Sicl</dc:creator>
  <cp:lastModifiedBy>Ewencen Sicl</cp:lastModifiedBy>
  <cp:revision>40</cp:revision>
  <dcterms:created xsi:type="dcterms:W3CDTF">2026-06-01T16:03:18Z</dcterms:created>
  <dcterms:modified xsi:type="dcterms:W3CDTF">2026-06-23T16:13:29Z</dcterms:modified>
</cp:coreProperties>
</file>